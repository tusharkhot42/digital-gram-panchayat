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2.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Complaints</c:v>
                </c:pt>
              </c:strCache>
            </c:strRef>
          </c:tx>
          <c:spPr>
            <a:solidFill>
              <a:srgbClr val="1F7A3D"/>
            </a:solidFill>
            <a:effectLst/>
          </c:spPr>
          <c:invertIfNegative val="0"/>
          <c:dLbls>
            <c:numFmt formatCode="#,##0" sourceLinked="0"/>
            <c:txPr>
              <a:bodyPr/>
              <a:lstStyle/>
              <a:p>
                <a:pPr>
                  <a:defRPr b="0" i="0" strike="noStrike" sz="1000" u="none">
                    <a:solidFill>
                      <a:srgbClr val="1F2937"/>
                    </a:solidFill>
                    <a:latin typeface="Calibri"/>
                  </a:defRPr>
                </a:pPr>
              </a:p>
            </c:txPr>
            <c:showLegendKey val="0"/>
            <c:showVal val="1"/>
            <c:showCatName val="0"/>
            <c:showSerName val="0"/>
            <c:showPercent val="0"/>
            <c:showBubbleSize val="0"/>
            <c:showLeaderLines val="0"/>
          </c:dLbls>
          <c:cat>
            <c:multiLvlStrRef>
              <c:f>Sheet1!$A$2:$A$6</c:f>
              <c:multiLvlStrCache>
                <c:ptCount val="5"/>
                <c:lvl>
                  <c:pt idx="0">
                    <c:v>Road</c:v>
                  </c:pt>
                  <c:pt idx="1">
                    <c:v>Water</c:v>
                  </c:pt>
                  <c:pt idx="2">
                    <c:v>Sanitation</c:v>
                  </c:pt>
                  <c:pt idx="3">
                    <c:v>Electricity</c:v>
                  </c:pt>
                  <c:pt idx="4">
                    <c:v>Other</c:v>
                  </c:pt>
                </c:lvl>
              </c:multiLvlStrCache>
            </c:multiLvlStrRef>
          </c:cat>
          <c:val>
            <c:numRef>
              <c:f>Sheet1!$B$2:$B$6</c:f>
              <c:numCache>
                <c:formatCode>General</c:formatCode>
                <c:ptCount val="5"/>
                <c:pt idx="0">
                  <c:v>42</c:v>
                </c:pt>
                <c:pt idx="1">
                  <c:v>31</c:v>
                </c:pt>
                <c:pt idx="2">
                  <c:v>24</c:v>
                </c:pt>
                <c:pt idx="3">
                  <c:v>18</c:v>
                </c:pt>
                <c:pt idx="4">
                  <c:v>12</c:v>
                </c:pt>
              </c:numCache>
            </c:numRef>
          </c:val>
        </c:ser>
        <c:dLbls>
          <c:numFmt formatCode="#,##0" sourceLinked="0"/>
          <c:txPr>
            <a:bodyPr/>
            <a:lstStyle/>
            <a:p>
              <a:pPr>
                <a:defRPr b="0" i="0" strike="noStrike" sz="1000" u="none">
                  <a:solidFill>
                    <a:srgbClr val="1F2937"/>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1F2937"/>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Tests</c:v>
                </c:pt>
              </c:strCache>
            </c:strRef>
          </c:tx>
          <c:spPr>
            <a:solidFill>
              <a:srgbClr val="2E9E5B"/>
            </a:solidFill>
            <a:effectLst/>
          </c:spPr>
          <c:invertIfNegative val="0"/>
          <c:dLbls>
            <c:numFmt formatCode="#,##0" sourceLinked="0"/>
            <c:txPr>
              <a:bodyPr/>
              <a:lstStyle/>
              <a:p>
                <a:pPr>
                  <a:defRPr b="0" i="0" strike="noStrike" sz="1100" u="none">
                    <a:solidFill>
                      <a:srgbClr val="1F2937"/>
                    </a:solidFill>
                    <a:latin typeface="Calibri"/>
                  </a:defRPr>
                </a:pPr>
              </a:p>
            </c:txPr>
            <c:showLegendKey val="0"/>
            <c:showVal val="1"/>
            <c:showCatName val="0"/>
            <c:showSerName val="0"/>
            <c:showPercent val="0"/>
            <c:showBubbleSize val="0"/>
            <c:showLeaderLines val="0"/>
          </c:dLbls>
          <c:cat>
            <c:multiLvlStrRef>
              <c:f>Sheet1!$A$2:$A$4</c:f>
              <c:multiLvlStrCache>
                <c:ptCount val="3"/>
                <c:lvl>
                  <c:pt idx="0">
                    <c:v>Backend (Jest)</c:v>
                  </c:pt>
                  <c:pt idx="1">
                    <c:v>Frontend (Vitest)</c:v>
                  </c:pt>
                  <c:pt idx="2">
                    <c:v>E2E (Playwright)</c:v>
                  </c:pt>
                </c:lvl>
              </c:multiLvlStrCache>
            </c:multiLvlStrRef>
          </c:cat>
          <c:val>
            <c:numRef>
              <c:f>Sheet1!$B$2:$B$4</c:f>
              <c:numCache>
                <c:formatCode>General</c:formatCode>
                <c:ptCount val="3"/>
                <c:pt idx="0">
                  <c:v>166</c:v>
                </c:pt>
                <c:pt idx="1">
                  <c:v>15</c:v>
                </c:pt>
                <c:pt idx="2">
                  <c:v>10</c:v>
                </c:pt>
              </c:numCache>
            </c:numRef>
          </c:val>
        </c:ser>
        <c:dLbls>
          <c:numFmt formatCode="#,##0" sourceLinked="0"/>
          <c:txPr>
            <a:bodyPr/>
            <a:lstStyle/>
            <a:p>
              <a:pPr>
                <a:defRPr b="0" i="0" strike="noStrike" sz="1100" u="none">
                  <a:solidFill>
                    <a:srgbClr val="1F2937"/>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50" b="0" i="0" u="none" strike="noStrike">
                <a:solidFill>
                  <a:srgbClr val="1F2937"/>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respected faculty and mentors. We present Digital Gram Panchayat, a smart digital platform for village administration, developed as our final-year capstone. It is a complete, production-ready system — version 1.0.0 — comprising a citizen Progressive Web App, an officer admin portal, and a Node/Express REST API. Over the next fifteen minutes we will walk through the problem, our solution, the engineering behind it, and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 Panchayats serve the majority of India, yet most still run on paper. Applications, tax registers, and certificates are manual. Citizens have no visibility into their requests and must physically visit the office repeatedly. Complaints have no tracking and no accountability. These five pain points — paper processes, manual records, no transparency, repeated visits, and no complaint tracking — are exactly what our project targets.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objectives flow directly from those problems. One: digitize the core administrative services end to end. Two: make the system transparent — every request is tracked and audited. Three: cut paperwork through digital forms and auto-generated certificates. Four: deliver genuine online access that works even on weak rural networks. Five: keep it citizen-friendly — bilingual, installable, and usable offline. These five objectives framed every engineering decision that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 high level the system has three parts. Citizens interact through a Progressive Web App. Officers use a separate admin portal. Both talk to a single Node/Express REST API, which is the only component that touches MongoDB. This clean separation means the same trustworthy business logic serves both audiences. Data flows left to right: a citizen submits through the PWA, the API validates and persists to MongoDB, and officers act on it from the portal — with citizens notified in real time. The whole citizen side is offline-first and secure by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is a modern MERN architecture — MongoDB, Express, React, Node — in plain JavaScript throughout, no TypeScript, to keep it approachable and consistent. React with Vite and Tailwind powers both front-ends. Express serves a REST API over MongoDB via Mongoose. Authentication is stateless JWT with bcrypt-hashed passwords and role gates. Media goes to Cloudinary; certificates are generated with PDFKit. We test with Jest, Vitest and Playwright, deploy on Render and Vercel with GitHub Actions CI, and the PWA layer uses Workbox, a service worker, and IndexedDB.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Internally the backend follows a strict layered architecture. A request enters the Express API through security middleware, hits a Route, which calls a thin Controller, which delegates to a Service that holds all the business logic and writes the audit trail, which uses Mongoose Models to read and write MongoDB. We chose this because it gives clean separation of concerns, makes the logic-heavy service layer easy to unit-test, keeps the codebase maintainable through a shared contract package, and lets the stateless API scale horizontally. Every one of the nine modules follows this same shape, so the code is predictable.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is organised into nine modules: Authentication, Complaints, Notices, Government Schemes, Tax, Certificates, Dashboard, Notifications, and the PWA layer. Each was delivered as an independent milestone and as a full vertical slice — we defined the shared data contract, built and tested the backend, then built the citizen and officer interfaces. Because every module follows the same layered pattern, the system is consistent and each piece could be verified before moving on. The next slides go through the most important modules in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Authentication is the foundation every other module depends on. Citizens register and log in with a mobile number and password; officers have a separate email-based login. Sessions are stateless JSON Web Tokens signed with HS256, and passwords are stored only as bcrypt hashes — never in plain text. Authorization is enforced by middleware: a role gate distinguishes citizens from officers, and services additionally check record ownership so a citizen can only ever see their own data. The panel on the right shows the token flow — credentials in, signed token out, verified on every request, resulting in access or a clean 401 or 403.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Complaints are the flagship citizen feature. A citizen files a complaint with a category, optional photos and GPS location — and, crucially, can do this even while offline; the complaint is queued locally and sent automatically when connectivity returns, with no duplicates. They can track its status and receive notifications. On the officer side, staff view, search and filter all complaints, update the status with remarks, and every change is written to the audit log and reflected in the dashboard analytics. The lifecycle is simple and transparent: Pending, then In Progress, then Resolved — and the citizen is notified at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schemes module is a public directory of government welfare programmes. Citizens can search by keyword and filter by category — agriculture, health, education, housing and so on. Each scheme lists its eligibility criteria and required documents, spells out the benefits in plain language, and links out to the official government portal to apply. Officers manage this catalogue from the admin portal — creating, publishing and updating schemes. It turns scattered, hard-to-find scheme information into one accessible, bilingual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 module digitizes property tax — Gharpatti — and water tax — Panipatti. Each record carries the assessed amount and the amount paid, and the system derives the outstanding balance automatically. Every payment is logged with a receipt number and date, giving a full history. Officers create the records and register payments from the portal; citizens simply view what they owe, by year. The status is computed for them: Unpaid, Partial, or Paid — shown on the right — so a citizen always knows exactly where they stand without visiting the office.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Certificates — Dakhala — is the most complete workflow in the system, and it is fully end-to-end. A citizen selects a certificate type — residence, income, birth, death, character — fills a dynamic form, and uploads supporting documents. The officer verifies the application, then approves or rejects it with a reason. On approval, the system automatically generates the certificate as a PDF using PDFKit, stores it, and notifies the citizen, who downloads the signed document. What used to be days of office visits becomes a tracked, six-step digital process — and the officer never has to draft a certificate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dashboards turn all this data into insight. Citizens get a personalized home showing their active complaints, outstanding dues, and the latest notices. Officers get a live administrative dashboard: real-time metrics across every module, charts of complaints by category and status — like the one on the right — and headline statistics such as total citizens, certificates issued, and tax dues outstanding. Officers also manage users here, activating or deactivating accounts. The charts are computed server-side with MongoDB aggregation and cached, so the dashboard stays fast even as data grows.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Communication ties the whole system together. Whenever a complaint, certificate or tax record changes, the citizen is notified in-app immediately. The architecture is provider-agnostic: SMS, voice and email are wired behind a single interface, so real providers like Twilio can be added without touching business code — today it runs on a mock provider. Officers can broadcast announcements to every citizen at once. Citizens read everything from one notification center with unread badges. Importantly, notifications are non-blocking — if a message fails to send, the complaint or approval that triggered it still succeeds, and the failure is logged for retry.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Progressive Web App is what sets this project apart, and it is designed specifically for rural connectivity. It installs to the home screen and behaves like a native app. Core information — notices, schemes, tax, and profile — is readable with no connection at all. If a citizen files a complaint offline, it is stored in an IndexedDB queue on the device and synced automatically in the background when the network returns, using a unique idempotency key so it can never be duplicated. Under the hood, Workbox handles runtime caching and a service worker manages updates and the duplicate-safe replay. This means the platform works for citizens who have only intermittent internet.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was not an afterthought — we dedicated a full milestone to production hardening. Sessions use stateless JWTs. Authorization combines role gates with per-record ownership checks. Helmet sets secure HTTP headers including HSTS. Every route is rate-limited and returns clean 429 responses under abuse. Every data mutation is written to an append-only audit log. File uploads are validated by MIME type and size and streamed straight to cloud storage, never to disk. Inputs are sanitized to strip NoSQL-injection operators. Secrets live only in environment variables, and CORS uses a strict origin allowlist. Together these cover the common OWASP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Quality is measurable. The project ships with 191 automated tests: 166 backend tests with Jest and Supertest running against an in-memory MongoDB, 15 frontend component tests with Vitest and React Testing Library, and 10 end-to-end journeys with Playwright. Backend coverage exceeds 85 percent of statements and 89 percent of lines. Beyond tests, the API is fully documented as an OpenAPI 3.1 specification and a 65-request Postman collection, the design is captured in nine UML diagrams, and there is a complete set of guides, manuals and operational runbooks. This is the level of rigor expected of production software, not a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is genuinely deployment-ready, not just runnable locally. The two front-ends deploy to Vercel as static Progressive Web Apps. The API deploys to Render as a Node service with liveness and readiness health checks. Data lives in MongoDB Atlas and media in Cloudinary. Tying it together, a GitHub Actions pipeline runs on every push to main — install, lint, test, coverage, and build — and only then do Render and Vercel deploy. We authored the Render blueprint, the Vercel configs, and full deployment guides for each, so the project can go live by wiring up accounts and secrets.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what we delivered: thirteen milestones, every one completed, verified and released. The system is one hundred percent production-ready and tagged as version 1.0.0. It carries 191 automated tests. The citizen app is an installable Progressive Web App that works offline with automatic background sync. There is a full CI/CD pipeline, and a complete documentation set — API specifications, UML, deployment guides, and user and administrator manuals. This is a finished, professional engineering deliverable.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is complete, but it is also a strong foundation. Because of the clean, layered architecture and provider abstractions, these Phase 2 enhancements slot in without a redesign. An AI chatbot could guide citizens in both languages. Online payments would let people clear tax dues by UPI. WhatsApp and web push would extend our existing notification abstraction. Real-time chat would enable two-way conversation on complaints. Multi-Panchayat support would let one deployment serve many villages. Richer analytics and QR-code certificate verification round it out. Each of these is an addition, not a rewrite.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Digital Gram Panchayat takes the paperwork, the queues and the opacity out of village administration and replaces them with one transparent, offline-capable digital platform — and it is production-ready, built to genuine engineering standards. For citizens, it means services from any phone, in their own language, with full visibility and no repeated trips. For the Panchayat, it means digital records, faster processing, and a complete audit trail. And for the future, it is a scalable, thoroughly documented foundation ready for payments, AI assistance and multi-village rollout.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and attention. We would be glad to take your questions, and we have a live demo ready to walk through any part of the system you would like to see in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slideLayout" Target="../slideLayouts/slideLayout1.xml"/><Relationship Id="rId1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1.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image" Target="../media/image-6-14.png"/><Relationship Id="rId15" Type="http://schemas.openxmlformats.org/officeDocument/2006/relationships/image" Target="../media/image-6-15.png"/><Relationship Id="rId16" Type="http://schemas.openxmlformats.org/officeDocument/2006/relationships/image" Target="../media/image-6-16.png"/><Relationship Id="rId17" Type="http://schemas.openxmlformats.org/officeDocument/2006/relationships/image" Target="../media/image-6-17.png"/><Relationship Id="rId18" Type="http://schemas.openxmlformats.org/officeDocument/2006/relationships/slideLayout" Target="../slideLayouts/slideLayout1.xml"/><Relationship Id="rId1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slideLayout" Target="../slideLayouts/slideLayout1.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image" Target="../media/image-9-13.png"/><Relationship Id="rId14" Type="http://schemas.openxmlformats.org/officeDocument/2006/relationships/slideLayout" Target="../slideLayouts/slideLayout1.xml"/><Relationship Id="rId1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slideLayout" Target="../slideLayouts/slideLayout1.xml"/><Relationship Id="rId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6" Type="http://schemas.openxmlformats.org/officeDocument/2006/relationships/chart" Target="/ppt/charts/chart1.xml"/><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slideLayout" Target="../slideLayouts/slideLayout1.xml"/><Relationship Id="rId10"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17-1.png"/><Relationship Id="rId3" Type="http://schemas.openxmlformats.org/officeDocument/2006/relationships/image" Target="../media/image-17-2.png"/><Relationship Id="rId4" Type="http://schemas.openxmlformats.org/officeDocument/2006/relationships/image" Target="../media/image-17-3.png"/><Relationship Id="rId5" Type="http://schemas.openxmlformats.org/officeDocument/2006/relationships/image" Target="../media/image-17-4.png"/><Relationship Id="rId6" Type="http://schemas.openxmlformats.org/officeDocument/2006/relationships/image" Target="../media/image-17-5.png"/><Relationship Id="rId7" Type="http://schemas.openxmlformats.org/officeDocument/2006/relationships/image" Target="../media/image-17-6.png"/><Relationship Id="rId8" Type="http://schemas.openxmlformats.org/officeDocument/2006/relationships/slideLayout" Target="../slideLayouts/slideLayout1.xml"/><Relationship Id="rId9"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image" Target="../media/image-18-9.png"/><Relationship Id="rId10" Type="http://schemas.openxmlformats.org/officeDocument/2006/relationships/image" Target="../media/image-18-10.png"/><Relationship Id="rId11" Type="http://schemas.openxmlformats.org/officeDocument/2006/relationships/slideLayout" Target="../slideLayouts/slideLayout1.xml"/><Relationship Id="rId1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slideLayout" Target="../slideLayouts/slideLayout1.xml"/><Relationship Id="rId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slideLayout" Target="../slideLayouts/slideLayout1.xml"/><Relationship Id="rId10"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D22"/>
        </a:solidFill>
      </p:bgPr>
    </p:bg>
    <p:spTree>
      <p:nvGrpSpPr>
        <p:cNvPr id="1" name=""/>
        <p:cNvGrpSpPr/>
        <p:nvPr/>
      </p:nvGrpSpPr>
      <p:grpSpPr>
        <a:xfrm>
          <a:off x="0" y="0"/>
          <a:ext cx="0" cy="0"/>
          <a:chOff x="0" y="0"/>
          <a:chExt cx="0" cy="0"/>
        </a:xfrm>
      </p:grpSpPr>
      <p:sp>
        <p:nvSpPr>
          <p:cNvPr id="2" name="Shape 0"/>
          <p:cNvSpPr/>
          <p:nvPr/>
        </p:nvSpPr>
        <p:spPr>
          <a:xfrm>
            <a:off x="8869680" y="-1463040"/>
            <a:ext cx="5486400" cy="5486400"/>
          </a:xfrm>
          <a:prstGeom prst="ellipse">
            <a:avLst/>
          </a:prstGeom>
          <a:solidFill>
            <a:srgbClr val="2E9E5B">
              <a:alpha val="18000"/>
            </a:srgbClr>
          </a:solidFill>
          <a:ln/>
        </p:spPr>
      </p:sp>
      <p:sp>
        <p:nvSpPr>
          <p:cNvPr id="3" name="Shape 1"/>
          <p:cNvSpPr/>
          <p:nvPr/>
        </p:nvSpPr>
        <p:spPr>
          <a:xfrm>
            <a:off x="10241280" y="3474720"/>
            <a:ext cx="4206240" cy="4206240"/>
          </a:xfrm>
          <a:prstGeom prst="ellipse">
            <a:avLst/>
          </a:prstGeom>
          <a:solidFill>
            <a:srgbClr val="1F7A3D">
              <a:alpha val="20000"/>
            </a:srgbClr>
          </a:solidFill>
          <a:ln/>
        </p:spPr>
      </p:sp>
      <p:sp>
        <p:nvSpPr>
          <p:cNvPr id="4" name="Shape 2"/>
          <p:cNvSpPr/>
          <p:nvPr/>
        </p:nvSpPr>
        <p:spPr>
          <a:xfrm>
            <a:off x="731520" y="731520"/>
            <a:ext cx="1051560" cy="1051560"/>
          </a:xfrm>
          <a:prstGeom prst="ellipse">
            <a:avLst/>
          </a:prstGeom>
          <a:solidFill>
            <a:srgbClr val="2E9E5B"/>
          </a:solidFill>
          <a:ln/>
        </p:spPr>
      </p:sp>
      <p:pic>
        <p:nvPicPr>
          <p:cNvPr id="5" name="Image 0" descr="preencoded.png">    </p:cNvPr>
          <p:cNvPicPr>
            <a:picLocks noChangeAspect="1"/>
          </p:cNvPicPr>
          <p:nvPr/>
        </p:nvPicPr>
        <p:blipFill>
          <a:blip r:embed="rId1"/>
          <a:stretch>
            <a:fillRect/>
          </a:stretch>
        </p:blipFill>
        <p:spPr>
          <a:xfrm>
            <a:off x="1005840" y="1005840"/>
            <a:ext cx="502920" cy="502920"/>
          </a:xfrm>
          <a:prstGeom prst="rect">
            <a:avLst/>
          </a:prstGeom>
        </p:spPr>
      </p:pic>
      <p:sp>
        <p:nvSpPr>
          <p:cNvPr id="6" name="Text 3"/>
          <p:cNvSpPr/>
          <p:nvPr/>
        </p:nvSpPr>
        <p:spPr>
          <a:xfrm>
            <a:off x="1965960" y="914400"/>
            <a:ext cx="7315200" cy="320040"/>
          </a:xfrm>
          <a:prstGeom prst="rect">
            <a:avLst/>
          </a:prstGeom>
          <a:noFill/>
          <a:ln/>
        </p:spPr>
        <p:txBody>
          <a:bodyPr wrap="square" lIns="0" tIns="0" rIns="0" bIns="0" rtlCol="0" anchor="ctr"/>
          <a:lstStyle/>
          <a:p>
            <a:pPr indent="0" marL="0">
              <a:buNone/>
            </a:pPr>
            <a:r>
              <a:rPr lang="en-US" sz="1300" b="1" spc="300" kern="0" dirty="0">
                <a:solidFill>
                  <a:srgbClr val="BFE3CD"/>
                </a:solidFill>
                <a:latin typeface="Calibri" pitchFamily="34" charset="0"/>
                <a:ea typeface="Calibri" pitchFamily="34" charset="-122"/>
                <a:cs typeface="Calibri" pitchFamily="34" charset="-120"/>
              </a:rPr>
              <a:t>CAPSTONE PROJECT  ·  v1.0.0</a:t>
            </a:r>
            <a:endParaRPr lang="en-US" sz="1300" dirty="0"/>
          </a:p>
        </p:txBody>
      </p:sp>
      <p:sp>
        <p:nvSpPr>
          <p:cNvPr id="7" name="Text 4"/>
          <p:cNvSpPr/>
          <p:nvPr/>
        </p:nvSpPr>
        <p:spPr>
          <a:xfrm>
            <a:off x="731520" y="2057400"/>
            <a:ext cx="10607040" cy="109728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Digital Gram Panchayat</a:t>
            </a:r>
            <a:endParaRPr lang="en-US" sz="5400" dirty="0"/>
          </a:p>
        </p:txBody>
      </p:sp>
      <p:sp>
        <p:nvSpPr>
          <p:cNvPr id="8" name="Text 5"/>
          <p:cNvSpPr/>
          <p:nvPr/>
        </p:nvSpPr>
        <p:spPr>
          <a:xfrm>
            <a:off x="749808" y="3200400"/>
            <a:ext cx="10058400" cy="548640"/>
          </a:xfrm>
          <a:prstGeom prst="rect">
            <a:avLst/>
          </a:prstGeom>
          <a:noFill/>
          <a:ln/>
        </p:spPr>
        <p:txBody>
          <a:bodyPr wrap="square" lIns="0" tIns="0" rIns="0" bIns="0" rtlCol="0" anchor="ctr"/>
          <a:lstStyle/>
          <a:p>
            <a:pPr indent="0" marL="0">
              <a:buNone/>
            </a:pPr>
            <a:r>
              <a:rPr lang="en-US" sz="2000" i="1" dirty="0">
                <a:solidFill>
                  <a:srgbClr val="D9EEE1"/>
                </a:solidFill>
                <a:latin typeface="Calibri" pitchFamily="34" charset="0"/>
                <a:ea typeface="Calibri" pitchFamily="34" charset="-122"/>
                <a:cs typeface="Calibri" pitchFamily="34" charset="-120"/>
              </a:rPr>
              <a:t>A Smart Digital Platform for Village Administration</a:t>
            </a:r>
            <a:endParaRPr lang="en-US" sz="2000" dirty="0"/>
          </a:p>
        </p:txBody>
      </p:sp>
      <p:sp>
        <p:nvSpPr>
          <p:cNvPr id="9" name="Shape 6"/>
          <p:cNvSpPr/>
          <p:nvPr/>
        </p:nvSpPr>
        <p:spPr>
          <a:xfrm>
            <a:off x="731520" y="4343400"/>
            <a:ext cx="3401568" cy="1234440"/>
          </a:xfrm>
          <a:prstGeom prst="roundRect">
            <a:avLst>
              <a:gd name="adj" fmla="val 5926"/>
            </a:avLst>
          </a:prstGeom>
          <a:solidFill>
            <a:srgbClr val="0C2E19"/>
          </a:solidFill>
          <a:ln w="12700">
            <a:solidFill>
              <a:srgbClr val="2E9E5B"/>
            </a:solidFill>
            <a:prstDash val="solid"/>
          </a:ln>
        </p:spPr>
      </p:sp>
      <p:sp>
        <p:nvSpPr>
          <p:cNvPr id="10" name="Text 7"/>
          <p:cNvSpPr/>
          <p:nvPr/>
        </p:nvSpPr>
        <p:spPr>
          <a:xfrm>
            <a:off x="932688" y="4498848"/>
            <a:ext cx="3017520" cy="274320"/>
          </a:xfrm>
          <a:prstGeom prst="rect">
            <a:avLst/>
          </a:prstGeom>
          <a:noFill/>
          <a:ln/>
        </p:spPr>
        <p:txBody>
          <a:bodyPr wrap="square" lIns="0" tIns="0" rIns="0" bIns="0" rtlCol="0" anchor="ctr"/>
          <a:lstStyle/>
          <a:p>
            <a:pPr indent="0" marL="0">
              <a:buNone/>
            </a:pPr>
            <a:r>
              <a:rPr lang="en-US" sz="1100" b="1" spc="200" kern="0" dirty="0">
                <a:solidFill>
                  <a:srgbClr val="8FD0A6"/>
                </a:solidFill>
                <a:latin typeface="Calibri" pitchFamily="34" charset="0"/>
                <a:ea typeface="Calibri" pitchFamily="34" charset="-122"/>
                <a:cs typeface="Calibri" pitchFamily="34" charset="-120"/>
              </a:rPr>
              <a:t>TEAM</a:t>
            </a:r>
            <a:endParaRPr lang="en-US" sz="1100" dirty="0"/>
          </a:p>
        </p:txBody>
      </p:sp>
      <p:sp>
        <p:nvSpPr>
          <p:cNvPr id="11" name="Text 8"/>
          <p:cNvSpPr/>
          <p:nvPr/>
        </p:nvSpPr>
        <p:spPr>
          <a:xfrm>
            <a:off x="932688" y="4773168"/>
            <a:ext cx="3063240" cy="77724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Shrivardhan Patil (Lead)</a:t>
            </a: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Team Member 2  ·  Team Member 3</a:t>
            </a:r>
            <a:endParaRPr lang="en-US" sz="1250" dirty="0"/>
          </a:p>
        </p:txBody>
      </p:sp>
      <p:sp>
        <p:nvSpPr>
          <p:cNvPr id="12" name="Shape 9"/>
          <p:cNvSpPr/>
          <p:nvPr/>
        </p:nvSpPr>
        <p:spPr>
          <a:xfrm>
            <a:off x="4315968" y="4343400"/>
            <a:ext cx="3401568" cy="1234440"/>
          </a:xfrm>
          <a:prstGeom prst="roundRect">
            <a:avLst>
              <a:gd name="adj" fmla="val 5926"/>
            </a:avLst>
          </a:prstGeom>
          <a:solidFill>
            <a:srgbClr val="0C2E19"/>
          </a:solidFill>
          <a:ln w="12700">
            <a:solidFill>
              <a:srgbClr val="2E9E5B"/>
            </a:solidFill>
            <a:prstDash val="solid"/>
          </a:ln>
        </p:spPr>
      </p:sp>
      <p:sp>
        <p:nvSpPr>
          <p:cNvPr id="13" name="Text 10"/>
          <p:cNvSpPr/>
          <p:nvPr/>
        </p:nvSpPr>
        <p:spPr>
          <a:xfrm>
            <a:off x="4517136" y="4498848"/>
            <a:ext cx="3017520" cy="274320"/>
          </a:xfrm>
          <a:prstGeom prst="rect">
            <a:avLst/>
          </a:prstGeom>
          <a:noFill/>
          <a:ln/>
        </p:spPr>
        <p:txBody>
          <a:bodyPr wrap="square" lIns="0" tIns="0" rIns="0" bIns="0" rtlCol="0" anchor="ctr"/>
          <a:lstStyle/>
          <a:p>
            <a:pPr indent="0" marL="0">
              <a:buNone/>
            </a:pPr>
            <a:r>
              <a:rPr lang="en-US" sz="1100" b="1" spc="200" kern="0" dirty="0">
                <a:solidFill>
                  <a:srgbClr val="8FD0A6"/>
                </a:solidFill>
                <a:latin typeface="Calibri" pitchFamily="34" charset="0"/>
                <a:ea typeface="Calibri" pitchFamily="34" charset="-122"/>
                <a:cs typeface="Calibri" pitchFamily="34" charset="-120"/>
              </a:rPr>
              <a:t>GUIDE</a:t>
            </a:r>
            <a:endParaRPr lang="en-US" sz="1100" dirty="0"/>
          </a:p>
        </p:txBody>
      </p:sp>
      <p:sp>
        <p:nvSpPr>
          <p:cNvPr id="14" name="Text 11"/>
          <p:cNvSpPr/>
          <p:nvPr/>
        </p:nvSpPr>
        <p:spPr>
          <a:xfrm>
            <a:off x="4517136" y="4773168"/>
            <a:ext cx="3063240" cy="77724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Prof. [Project Guide]</a:t>
            </a:r>
            <a:endParaRPr lang="en-US" sz="1250" dirty="0"/>
          </a:p>
        </p:txBody>
      </p:sp>
      <p:sp>
        <p:nvSpPr>
          <p:cNvPr id="15" name="Shape 12"/>
          <p:cNvSpPr/>
          <p:nvPr/>
        </p:nvSpPr>
        <p:spPr>
          <a:xfrm>
            <a:off x="7900416" y="4343400"/>
            <a:ext cx="3401568" cy="1234440"/>
          </a:xfrm>
          <a:prstGeom prst="roundRect">
            <a:avLst>
              <a:gd name="adj" fmla="val 5926"/>
            </a:avLst>
          </a:prstGeom>
          <a:solidFill>
            <a:srgbClr val="0C2E19"/>
          </a:solidFill>
          <a:ln w="12700">
            <a:solidFill>
              <a:srgbClr val="2E9E5B"/>
            </a:solidFill>
            <a:prstDash val="solid"/>
          </a:ln>
        </p:spPr>
      </p:sp>
      <p:sp>
        <p:nvSpPr>
          <p:cNvPr id="16" name="Text 13"/>
          <p:cNvSpPr/>
          <p:nvPr/>
        </p:nvSpPr>
        <p:spPr>
          <a:xfrm>
            <a:off x="8101584" y="4498848"/>
            <a:ext cx="3017520" cy="274320"/>
          </a:xfrm>
          <a:prstGeom prst="rect">
            <a:avLst/>
          </a:prstGeom>
          <a:noFill/>
          <a:ln/>
        </p:spPr>
        <p:txBody>
          <a:bodyPr wrap="square" lIns="0" tIns="0" rIns="0" bIns="0" rtlCol="0" anchor="ctr"/>
          <a:lstStyle/>
          <a:p>
            <a:pPr indent="0" marL="0">
              <a:buNone/>
            </a:pPr>
            <a:r>
              <a:rPr lang="en-US" sz="1100" b="1" spc="200" kern="0" dirty="0">
                <a:solidFill>
                  <a:srgbClr val="8FD0A6"/>
                </a:solidFill>
                <a:latin typeface="Calibri" pitchFamily="34" charset="0"/>
                <a:ea typeface="Calibri" pitchFamily="34" charset="-122"/>
                <a:cs typeface="Calibri" pitchFamily="34" charset="-120"/>
              </a:rPr>
              <a:t>DEPARTMENT</a:t>
            </a:r>
            <a:endParaRPr lang="en-US" sz="1100" dirty="0"/>
          </a:p>
        </p:txBody>
      </p:sp>
      <p:sp>
        <p:nvSpPr>
          <p:cNvPr id="17" name="Text 14"/>
          <p:cNvSpPr/>
          <p:nvPr/>
        </p:nvSpPr>
        <p:spPr>
          <a:xfrm>
            <a:off x="8101584" y="4773168"/>
            <a:ext cx="3063240" cy="77724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Computer Science &amp; Engineering</a:t>
            </a:r>
            <a:endParaRPr lang="en-US" sz="1250" dirty="0"/>
          </a:p>
        </p:txBody>
      </p:sp>
      <p:sp>
        <p:nvSpPr>
          <p:cNvPr id="18" name="Text 15"/>
          <p:cNvSpPr/>
          <p:nvPr/>
        </p:nvSpPr>
        <p:spPr>
          <a:xfrm>
            <a:off x="731520" y="5897880"/>
            <a:ext cx="10698480" cy="365760"/>
          </a:xfrm>
          <a:prstGeom prst="rect">
            <a:avLst/>
          </a:prstGeom>
          <a:noFill/>
          <a:ln/>
        </p:spPr>
        <p:txBody>
          <a:bodyPr wrap="square" lIns="0" tIns="0" rIns="0" bIns="0" rtlCol="0" anchor="ctr"/>
          <a:lstStyle/>
          <a:p>
            <a:pPr indent="0" marL="0">
              <a:buNone/>
            </a:pPr>
            <a:r>
              <a:rPr lang="en-US" sz="1300" b="1" dirty="0">
                <a:solidFill>
                  <a:srgbClr val="CFE9DA"/>
                </a:solidFill>
                <a:latin typeface="Calibri" pitchFamily="34" charset="0"/>
                <a:ea typeface="Calibri" pitchFamily="34" charset="-122"/>
                <a:cs typeface="Calibri" pitchFamily="34" charset="-120"/>
              </a:rPr>
              <a:t>Rajarambapu Institute of Technology, Rajaramnagar (Sakharale)   |   Academic Year 2025–2026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8229600" cy="274320"/>
          </a:xfrm>
          <a:prstGeom prst="rect">
            <a:avLst/>
          </a:prstGeom>
          <a:noFill/>
          <a:ln/>
        </p:spPr>
        <p:txBody>
          <a:bodyPr wrap="square" lIns="0" tIns="0" rIns="0" bIns="0" rtlCol="0" anchor="ctr"/>
          <a:lstStyle/>
          <a:p>
            <a:pPr algn="l" indent="0" marL="0">
              <a:buNone/>
            </a:pPr>
            <a:r>
              <a:rPr lang="en-US" sz="1200" b="1" spc="300" kern="0" dirty="0">
                <a:solidFill>
                  <a:srgbClr val="1F7A3D"/>
                </a:solidFill>
                <a:latin typeface="Calibri" pitchFamily="34" charset="0"/>
                <a:ea typeface="Calibri" pitchFamily="34" charset="-122"/>
                <a:cs typeface="Calibri" pitchFamily="34" charset="-120"/>
              </a:rPr>
              <a:t>THE CHALLENGE</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algn="l" indent="0" marL="0">
              <a:buNone/>
            </a:pPr>
            <a:r>
              <a:rPr lang="en-US" sz="3000" b="1" dirty="0">
                <a:solidFill>
                  <a:srgbClr val="1F2937"/>
                </a:solidFill>
                <a:latin typeface="Cambria" pitchFamily="34" charset="0"/>
                <a:ea typeface="Cambria" pitchFamily="34" charset="-122"/>
                <a:cs typeface="Cambria" pitchFamily="34" charset="-120"/>
              </a:rPr>
              <a:t>Problem Statement</a:t>
            </a:r>
            <a:endParaRPr lang="en-US" sz="3000" dirty="0"/>
          </a:p>
        </p:txBody>
      </p:sp>
      <p:sp>
        <p:nvSpPr>
          <p:cNvPr id="4" name="Text 2"/>
          <p:cNvSpPr/>
          <p:nvPr/>
        </p:nvSpPr>
        <p:spPr>
          <a:xfrm>
            <a:off x="566928" y="1417320"/>
            <a:ext cx="7498080" cy="64008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Village administration today still runs on manual, paper-first processes — slow for citizens and hard to govern transparently.</a:t>
            </a:r>
            <a:endParaRPr lang="en-US" sz="1500" dirty="0"/>
          </a:p>
        </p:txBody>
      </p:sp>
      <p:sp>
        <p:nvSpPr>
          <p:cNvPr id="5" name="Shape 3"/>
          <p:cNvSpPr/>
          <p:nvPr/>
        </p:nvSpPr>
        <p:spPr>
          <a:xfrm>
            <a:off x="566928" y="2148840"/>
            <a:ext cx="7360920" cy="749808"/>
          </a:xfrm>
          <a:prstGeom prst="roundRect">
            <a:avLst>
              <a:gd name="adj" fmla="val 10976"/>
            </a:avLst>
          </a:prstGeom>
          <a:solidFill>
            <a:srgbClr val="F3F9F5"/>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6" name="Shape 4"/>
          <p:cNvSpPr/>
          <p:nvPr/>
        </p:nvSpPr>
        <p:spPr>
          <a:xfrm>
            <a:off x="749808" y="2295144"/>
            <a:ext cx="457200" cy="457200"/>
          </a:xfrm>
          <a:prstGeom prst="ellipse">
            <a:avLst/>
          </a:prstGeom>
          <a:solidFill>
            <a:srgbClr val="E8F3EC"/>
          </a:solidFill>
          <a:ln/>
        </p:spPr>
      </p:sp>
      <p:pic>
        <p:nvPicPr>
          <p:cNvPr id="7" name="Image 0" descr="preencoded.png">    </p:cNvPr>
          <p:cNvPicPr>
            <a:picLocks noChangeAspect="1"/>
          </p:cNvPicPr>
          <p:nvPr/>
        </p:nvPicPr>
        <p:blipFill>
          <a:blip r:embed="rId1"/>
          <a:stretch>
            <a:fillRect/>
          </a:stretch>
        </p:blipFill>
        <p:spPr>
          <a:xfrm>
            <a:off x="868680" y="2414016"/>
            <a:ext cx="219456" cy="219456"/>
          </a:xfrm>
          <a:prstGeom prst="rect">
            <a:avLst/>
          </a:prstGeom>
        </p:spPr>
      </p:pic>
      <p:sp>
        <p:nvSpPr>
          <p:cNvPr id="8" name="Text 5"/>
          <p:cNvSpPr/>
          <p:nvPr/>
        </p:nvSpPr>
        <p:spPr>
          <a:xfrm>
            <a:off x="1371600" y="2258568"/>
            <a:ext cx="6309360" cy="292608"/>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Paper-based processes</a:t>
            </a:r>
            <a:endParaRPr lang="en-US" sz="1500" dirty="0"/>
          </a:p>
        </p:txBody>
      </p:sp>
      <p:sp>
        <p:nvSpPr>
          <p:cNvPr id="9" name="Text 6"/>
          <p:cNvSpPr/>
          <p:nvPr/>
        </p:nvSpPr>
        <p:spPr>
          <a:xfrm>
            <a:off x="1371600" y="2551176"/>
            <a:ext cx="6355080" cy="292608"/>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Applications and records handled on paper, prone to loss and delay.</a:t>
            </a:r>
            <a:endParaRPr lang="en-US" sz="1150" dirty="0"/>
          </a:p>
        </p:txBody>
      </p:sp>
      <p:sp>
        <p:nvSpPr>
          <p:cNvPr id="10" name="Shape 7"/>
          <p:cNvSpPr/>
          <p:nvPr/>
        </p:nvSpPr>
        <p:spPr>
          <a:xfrm>
            <a:off x="566928" y="2990088"/>
            <a:ext cx="7360920" cy="749808"/>
          </a:xfrm>
          <a:prstGeom prst="roundRect">
            <a:avLst>
              <a:gd name="adj" fmla="val 10976"/>
            </a:avLst>
          </a:prstGeom>
          <a:solidFill>
            <a:srgbClr val="F3F9F5"/>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11" name="Shape 8"/>
          <p:cNvSpPr/>
          <p:nvPr/>
        </p:nvSpPr>
        <p:spPr>
          <a:xfrm>
            <a:off x="749808" y="3136392"/>
            <a:ext cx="457200" cy="457200"/>
          </a:xfrm>
          <a:prstGeom prst="ellipse">
            <a:avLst/>
          </a:prstGeom>
          <a:solidFill>
            <a:srgbClr val="E8F3EC"/>
          </a:solidFill>
          <a:ln/>
        </p:spPr>
      </p:sp>
      <p:pic>
        <p:nvPicPr>
          <p:cNvPr id="12" name="Image 1" descr="preencoded.png">    </p:cNvPr>
          <p:cNvPicPr>
            <a:picLocks noChangeAspect="1"/>
          </p:cNvPicPr>
          <p:nvPr/>
        </p:nvPicPr>
        <p:blipFill>
          <a:blip r:embed="rId2"/>
          <a:stretch>
            <a:fillRect/>
          </a:stretch>
        </p:blipFill>
        <p:spPr>
          <a:xfrm>
            <a:off x="868680" y="3255264"/>
            <a:ext cx="219456" cy="219456"/>
          </a:xfrm>
          <a:prstGeom prst="rect">
            <a:avLst/>
          </a:prstGeom>
        </p:spPr>
      </p:pic>
      <p:sp>
        <p:nvSpPr>
          <p:cNvPr id="13" name="Text 9"/>
          <p:cNvSpPr/>
          <p:nvPr/>
        </p:nvSpPr>
        <p:spPr>
          <a:xfrm>
            <a:off x="1371600" y="3099816"/>
            <a:ext cx="6309360" cy="292608"/>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Manual records</a:t>
            </a:r>
            <a:endParaRPr lang="en-US" sz="1500" dirty="0"/>
          </a:p>
        </p:txBody>
      </p:sp>
      <p:sp>
        <p:nvSpPr>
          <p:cNvPr id="14" name="Text 10"/>
          <p:cNvSpPr/>
          <p:nvPr/>
        </p:nvSpPr>
        <p:spPr>
          <a:xfrm>
            <a:off x="1371600" y="3392424"/>
            <a:ext cx="6355080" cy="292608"/>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Registers maintained by hand — no single source of truth.</a:t>
            </a:r>
            <a:endParaRPr lang="en-US" sz="1150" dirty="0"/>
          </a:p>
        </p:txBody>
      </p:sp>
      <p:sp>
        <p:nvSpPr>
          <p:cNvPr id="15" name="Shape 11"/>
          <p:cNvSpPr/>
          <p:nvPr/>
        </p:nvSpPr>
        <p:spPr>
          <a:xfrm>
            <a:off x="566928" y="3831336"/>
            <a:ext cx="7360920" cy="749808"/>
          </a:xfrm>
          <a:prstGeom prst="roundRect">
            <a:avLst>
              <a:gd name="adj" fmla="val 10976"/>
            </a:avLst>
          </a:prstGeom>
          <a:solidFill>
            <a:srgbClr val="F3F9F5"/>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16" name="Shape 12"/>
          <p:cNvSpPr/>
          <p:nvPr/>
        </p:nvSpPr>
        <p:spPr>
          <a:xfrm>
            <a:off x="749808" y="3977640"/>
            <a:ext cx="457200" cy="457200"/>
          </a:xfrm>
          <a:prstGeom prst="ellipse">
            <a:avLst/>
          </a:prstGeom>
          <a:solidFill>
            <a:srgbClr val="E8F3EC"/>
          </a:solidFill>
          <a:ln/>
        </p:spPr>
      </p:sp>
      <p:pic>
        <p:nvPicPr>
          <p:cNvPr id="17" name="Image 2" descr="preencoded.png">    </p:cNvPr>
          <p:cNvPicPr>
            <a:picLocks noChangeAspect="1"/>
          </p:cNvPicPr>
          <p:nvPr/>
        </p:nvPicPr>
        <p:blipFill>
          <a:blip r:embed="rId3"/>
          <a:stretch>
            <a:fillRect/>
          </a:stretch>
        </p:blipFill>
        <p:spPr>
          <a:xfrm>
            <a:off x="868680" y="4096512"/>
            <a:ext cx="219456" cy="219456"/>
          </a:xfrm>
          <a:prstGeom prst="rect">
            <a:avLst/>
          </a:prstGeom>
        </p:spPr>
      </p:pic>
      <p:sp>
        <p:nvSpPr>
          <p:cNvPr id="18" name="Text 13"/>
          <p:cNvSpPr/>
          <p:nvPr/>
        </p:nvSpPr>
        <p:spPr>
          <a:xfrm>
            <a:off x="1371600" y="3941064"/>
            <a:ext cx="6309360" cy="292608"/>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No transparency</a:t>
            </a:r>
            <a:endParaRPr lang="en-US" sz="1500" dirty="0"/>
          </a:p>
        </p:txBody>
      </p:sp>
      <p:sp>
        <p:nvSpPr>
          <p:cNvPr id="19" name="Text 14"/>
          <p:cNvSpPr/>
          <p:nvPr/>
        </p:nvSpPr>
        <p:spPr>
          <a:xfrm>
            <a:off x="1371600" y="4233672"/>
            <a:ext cx="6355080" cy="292608"/>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Citizens cannot see the status or history of their requests.</a:t>
            </a:r>
            <a:endParaRPr lang="en-US" sz="1150" dirty="0"/>
          </a:p>
        </p:txBody>
      </p:sp>
      <p:sp>
        <p:nvSpPr>
          <p:cNvPr id="20" name="Shape 15"/>
          <p:cNvSpPr/>
          <p:nvPr/>
        </p:nvSpPr>
        <p:spPr>
          <a:xfrm>
            <a:off x="566928" y="4672584"/>
            <a:ext cx="7360920" cy="749808"/>
          </a:xfrm>
          <a:prstGeom prst="roundRect">
            <a:avLst>
              <a:gd name="adj" fmla="val 10976"/>
            </a:avLst>
          </a:prstGeom>
          <a:solidFill>
            <a:srgbClr val="F3F9F5"/>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21" name="Shape 16"/>
          <p:cNvSpPr/>
          <p:nvPr/>
        </p:nvSpPr>
        <p:spPr>
          <a:xfrm>
            <a:off x="749808" y="4818888"/>
            <a:ext cx="457200" cy="457200"/>
          </a:xfrm>
          <a:prstGeom prst="ellipse">
            <a:avLst/>
          </a:prstGeom>
          <a:solidFill>
            <a:srgbClr val="E8F3EC"/>
          </a:solidFill>
          <a:ln/>
        </p:spPr>
      </p:sp>
      <p:pic>
        <p:nvPicPr>
          <p:cNvPr id="22" name="Image 3" descr="preencoded.png">    </p:cNvPr>
          <p:cNvPicPr>
            <a:picLocks noChangeAspect="1"/>
          </p:cNvPicPr>
          <p:nvPr/>
        </p:nvPicPr>
        <p:blipFill>
          <a:blip r:embed="rId4"/>
          <a:stretch>
            <a:fillRect/>
          </a:stretch>
        </p:blipFill>
        <p:spPr>
          <a:xfrm>
            <a:off x="868680" y="4937760"/>
            <a:ext cx="219456" cy="219456"/>
          </a:xfrm>
          <a:prstGeom prst="rect">
            <a:avLst/>
          </a:prstGeom>
        </p:spPr>
      </p:pic>
      <p:sp>
        <p:nvSpPr>
          <p:cNvPr id="23" name="Text 17"/>
          <p:cNvSpPr/>
          <p:nvPr/>
        </p:nvSpPr>
        <p:spPr>
          <a:xfrm>
            <a:off x="1371600" y="4782312"/>
            <a:ext cx="6309360" cy="292608"/>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Repeated office visits</a:t>
            </a:r>
            <a:endParaRPr lang="en-US" sz="1500" dirty="0"/>
          </a:p>
        </p:txBody>
      </p:sp>
      <p:sp>
        <p:nvSpPr>
          <p:cNvPr id="24" name="Text 18"/>
          <p:cNvSpPr/>
          <p:nvPr/>
        </p:nvSpPr>
        <p:spPr>
          <a:xfrm>
            <a:off x="1371600" y="5074920"/>
            <a:ext cx="6355080" cy="292608"/>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Every service needs an in-person trip to the Panchayat office.</a:t>
            </a:r>
            <a:endParaRPr lang="en-US" sz="1150" dirty="0"/>
          </a:p>
        </p:txBody>
      </p:sp>
      <p:sp>
        <p:nvSpPr>
          <p:cNvPr id="25" name="Shape 19"/>
          <p:cNvSpPr/>
          <p:nvPr/>
        </p:nvSpPr>
        <p:spPr>
          <a:xfrm>
            <a:off x="566928" y="5513832"/>
            <a:ext cx="7360920" cy="749808"/>
          </a:xfrm>
          <a:prstGeom prst="roundRect">
            <a:avLst>
              <a:gd name="adj" fmla="val 10976"/>
            </a:avLst>
          </a:prstGeom>
          <a:solidFill>
            <a:srgbClr val="F3F9F5"/>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26" name="Shape 20"/>
          <p:cNvSpPr/>
          <p:nvPr/>
        </p:nvSpPr>
        <p:spPr>
          <a:xfrm>
            <a:off x="749808" y="5660136"/>
            <a:ext cx="457200" cy="457200"/>
          </a:xfrm>
          <a:prstGeom prst="ellipse">
            <a:avLst/>
          </a:prstGeom>
          <a:solidFill>
            <a:srgbClr val="E8F3EC"/>
          </a:solidFill>
          <a:ln/>
        </p:spPr>
      </p:sp>
      <p:pic>
        <p:nvPicPr>
          <p:cNvPr id="27" name="Image 4" descr="preencoded.png">    </p:cNvPr>
          <p:cNvPicPr>
            <a:picLocks noChangeAspect="1"/>
          </p:cNvPicPr>
          <p:nvPr/>
        </p:nvPicPr>
        <p:blipFill>
          <a:blip r:embed="rId5"/>
          <a:stretch>
            <a:fillRect/>
          </a:stretch>
        </p:blipFill>
        <p:spPr>
          <a:xfrm>
            <a:off x="868680" y="5779008"/>
            <a:ext cx="219456" cy="219456"/>
          </a:xfrm>
          <a:prstGeom prst="rect">
            <a:avLst/>
          </a:prstGeom>
        </p:spPr>
      </p:pic>
      <p:sp>
        <p:nvSpPr>
          <p:cNvPr id="28" name="Text 21"/>
          <p:cNvSpPr/>
          <p:nvPr/>
        </p:nvSpPr>
        <p:spPr>
          <a:xfrm>
            <a:off x="1371600" y="5623560"/>
            <a:ext cx="6309360" cy="292608"/>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No complaint tracking</a:t>
            </a:r>
            <a:endParaRPr lang="en-US" sz="1500" dirty="0"/>
          </a:p>
        </p:txBody>
      </p:sp>
      <p:sp>
        <p:nvSpPr>
          <p:cNvPr id="29" name="Text 22"/>
          <p:cNvSpPr/>
          <p:nvPr/>
        </p:nvSpPr>
        <p:spPr>
          <a:xfrm>
            <a:off x="1371600" y="5916168"/>
            <a:ext cx="6355080" cy="292608"/>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Grievances have no ID, no timeline, and no accountability.</a:t>
            </a:r>
            <a:endParaRPr lang="en-US" sz="1150" dirty="0"/>
          </a:p>
        </p:txBody>
      </p:sp>
      <p:sp>
        <p:nvSpPr>
          <p:cNvPr id="30" name="Shape 23"/>
          <p:cNvSpPr/>
          <p:nvPr/>
        </p:nvSpPr>
        <p:spPr>
          <a:xfrm>
            <a:off x="8229600" y="2148840"/>
            <a:ext cx="3383280" cy="3977640"/>
          </a:xfrm>
          <a:prstGeom prst="roundRect">
            <a:avLst>
              <a:gd name="adj" fmla="val 2703"/>
            </a:avLst>
          </a:prstGeom>
          <a:solidFill>
            <a:srgbClr val="123D22"/>
          </a:solidFill>
          <a:ln/>
          <a:effectLst>
            <a:outerShdw sx="100000" sy="100000" kx="0" ky="0" algn="bl" rotWithShape="0" blurRad="101600" dist="38100" dir="5400000">
              <a:srgbClr val="9DB4A6">
                <a:alpha val="35000"/>
              </a:srgbClr>
            </a:outerShdw>
          </a:effectLst>
        </p:spPr>
      </p:sp>
      <p:sp>
        <p:nvSpPr>
          <p:cNvPr id="31" name="Shape 24"/>
          <p:cNvSpPr/>
          <p:nvPr/>
        </p:nvSpPr>
        <p:spPr>
          <a:xfrm>
            <a:off x="8549640" y="2468880"/>
            <a:ext cx="731520" cy="731520"/>
          </a:xfrm>
          <a:prstGeom prst="ellipse">
            <a:avLst/>
          </a:prstGeom>
          <a:solidFill>
            <a:srgbClr val="2E9E5B"/>
          </a:solidFill>
          <a:ln/>
        </p:spPr>
      </p:sp>
      <p:pic>
        <p:nvPicPr>
          <p:cNvPr id="32" name="Image 5" descr="preencoded.png">    </p:cNvPr>
          <p:cNvPicPr>
            <a:picLocks noChangeAspect="1"/>
          </p:cNvPicPr>
          <p:nvPr/>
        </p:nvPicPr>
        <p:blipFill>
          <a:blip r:embed="rId6"/>
          <a:stretch>
            <a:fillRect/>
          </a:stretch>
        </p:blipFill>
        <p:spPr>
          <a:xfrm>
            <a:off x="8732520" y="2651760"/>
            <a:ext cx="365760" cy="365760"/>
          </a:xfrm>
          <a:prstGeom prst="rect">
            <a:avLst/>
          </a:prstGeom>
        </p:spPr>
      </p:pic>
      <p:sp>
        <p:nvSpPr>
          <p:cNvPr id="33" name="Text 25"/>
          <p:cNvSpPr/>
          <p:nvPr/>
        </p:nvSpPr>
        <p:spPr>
          <a:xfrm>
            <a:off x="8549640" y="3310128"/>
            <a:ext cx="2743200" cy="274320"/>
          </a:xfrm>
          <a:prstGeom prst="rect">
            <a:avLst/>
          </a:prstGeom>
          <a:noFill/>
          <a:ln/>
        </p:spPr>
        <p:txBody>
          <a:bodyPr wrap="square" lIns="0" tIns="0" rIns="0" bIns="0" rtlCol="0" anchor="ctr"/>
          <a:lstStyle/>
          <a:p>
            <a:pPr indent="0" marL="0">
              <a:buNone/>
            </a:pPr>
            <a:r>
              <a:rPr lang="en-US" sz="1200" b="1" spc="200" kern="0" dirty="0">
                <a:solidFill>
                  <a:srgbClr val="8FD0A6"/>
                </a:solidFill>
                <a:latin typeface="Calibri" pitchFamily="34" charset="0"/>
                <a:ea typeface="Calibri" pitchFamily="34" charset="-122"/>
                <a:cs typeface="Calibri" pitchFamily="34" charset="-120"/>
              </a:rPr>
              <a:t>The cost</a:t>
            </a:r>
            <a:endParaRPr lang="en-US" sz="1200" dirty="0"/>
          </a:p>
        </p:txBody>
      </p:sp>
      <p:sp>
        <p:nvSpPr>
          <p:cNvPr id="34" name="Text 26"/>
          <p:cNvSpPr/>
          <p:nvPr/>
        </p:nvSpPr>
        <p:spPr>
          <a:xfrm>
            <a:off x="8549640" y="3566160"/>
            <a:ext cx="2834640" cy="822960"/>
          </a:xfrm>
          <a:prstGeom prst="rect">
            <a:avLst/>
          </a:prstGeom>
          <a:noFill/>
          <a:ln/>
        </p:spPr>
        <p:txBody>
          <a:bodyPr wrap="square" lIns="0" tIns="0" rIns="0" bIns="0" rtlCol="0" anchor="t"/>
          <a:lstStyle/>
          <a:p>
            <a:pPr indent="0" marL="0">
              <a:buNone/>
            </a:pPr>
            <a:r>
              <a:rPr lang="en-US" sz="2100" b="1" dirty="0">
                <a:solidFill>
                  <a:srgbClr val="FFFFFF"/>
                </a:solidFill>
                <a:latin typeface="Cambria" pitchFamily="34" charset="0"/>
                <a:ea typeface="Cambria" pitchFamily="34" charset="-122"/>
                <a:cs typeface="Cambria" pitchFamily="34" charset="-120"/>
              </a:rPr>
              <a:t>Hours lost per</a:t>
            </a:r>
            <a:endParaRPr lang="en-US" sz="2100" dirty="0"/>
          </a:p>
          <a:p>
            <a:pPr indent="0" marL="0">
              <a:buNone/>
            </a:pPr>
            <a:r>
              <a:rPr lang="en-US" sz="2100" b="1" dirty="0">
                <a:solidFill>
                  <a:srgbClr val="FFFFFF"/>
                </a:solidFill>
                <a:latin typeface="Cambria" pitchFamily="34" charset="0"/>
                <a:ea typeface="Cambria" pitchFamily="34" charset="-122"/>
                <a:cs typeface="Cambria" pitchFamily="34" charset="-120"/>
              </a:rPr>
              <a:t>service request</a:t>
            </a:r>
            <a:endParaRPr lang="en-US" sz="2100" dirty="0"/>
          </a:p>
        </p:txBody>
      </p:sp>
      <p:sp>
        <p:nvSpPr>
          <p:cNvPr id="35" name="Text 27"/>
          <p:cNvSpPr/>
          <p:nvPr/>
        </p:nvSpPr>
        <p:spPr>
          <a:xfrm>
            <a:off x="8549640" y="4709160"/>
            <a:ext cx="2834640" cy="1280160"/>
          </a:xfrm>
          <a:prstGeom prst="rect">
            <a:avLst/>
          </a:prstGeom>
          <a:noFill/>
          <a:ln/>
        </p:spPr>
        <p:txBody>
          <a:bodyPr wrap="square" lIns="0" tIns="0" rIns="0" bIns="0" rtlCol="0" anchor="t"/>
          <a:lstStyle/>
          <a:p>
            <a:pPr indent="0" marL="0">
              <a:buNone/>
            </a:pPr>
            <a:r>
              <a:rPr lang="en-US" sz="1250" dirty="0">
                <a:solidFill>
                  <a:srgbClr val="D9EEE1"/>
                </a:solidFill>
                <a:latin typeface="Calibri" pitchFamily="34" charset="0"/>
                <a:ea typeface="Calibri" pitchFamily="34" charset="-122"/>
                <a:cs typeface="Calibri" pitchFamily="34" charset="-120"/>
              </a:rPr>
              <a:t>Citizens travel, wait, and re-visit — while officers reconcile paper by hand and have no audit trail.</a:t>
            </a:r>
            <a:endParaRPr lang="en-US" sz="1250" dirty="0"/>
          </a:p>
        </p:txBody>
      </p:sp>
      <p:sp>
        <p:nvSpPr>
          <p:cNvPr id="36" name="Text 28"/>
          <p:cNvSpPr/>
          <p:nvPr/>
        </p:nvSpPr>
        <p:spPr>
          <a:xfrm>
            <a:off x="548640" y="6510528"/>
            <a:ext cx="54864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Digital Gram Panchayat  ·  v1.0.0</a:t>
            </a:r>
            <a:endParaRPr lang="en-US" sz="900" dirty="0"/>
          </a:p>
        </p:txBody>
      </p:sp>
      <p:sp>
        <p:nvSpPr>
          <p:cNvPr id="37" name="Text 29"/>
          <p:cNvSpPr/>
          <p:nvPr/>
        </p:nvSpPr>
        <p:spPr>
          <a:xfrm>
            <a:off x="11338560" y="6510528"/>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8229600" cy="274320"/>
          </a:xfrm>
          <a:prstGeom prst="rect">
            <a:avLst/>
          </a:prstGeom>
          <a:noFill/>
          <a:ln/>
        </p:spPr>
        <p:txBody>
          <a:bodyPr wrap="square" lIns="0" tIns="0" rIns="0" bIns="0" rtlCol="0" anchor="ctr"/>
          <a:lstStyle/>
          <a:p>
            <a:pPr algn="l" indent="0" marL="0">
              <a:buNone/>
            </a:pPr>
            <a:r>
              <a:rPr lang="en-US" sz="1200" b="1" spc="300" kern="0" dirty="0">
                <a:solidFill>
                  <a:srgbClr val="1F7A3D"/>
                </a:solidFill>
                <a:latin typeface="Calibri" pitchFamily="34" charset="0"/>
                <a:ea typeface="Calibri" pitchFamily="34" charset="-122"/>
                <a:cs typeface="Calibri" pitchFamily="34" charset="-120"/>
              </a:rPr>
              <a:t>OUR GOALS</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algn="l" indent="0" marL="0">
              <a:buNone/>
            </a:pPr>
            <a:r>
              <a:rPr lang="en-US" sz="3000" b="1" dirty="0">
                <a:solidFill>
                  <a:srgbClr val="1F2937"/>
                </a:solidFill>
                <a:latin typeface="Cambria" pitchFamily="34" charset="0"/>
                <a:ea typeface="Cambria" pitchFamily="34" charset="-122"/>
                <a:cs typeface="Cambria" pitchFamily="34" charset="-120"/>
              </a:rPr>
              <a:t>Project Objectives</a:t>
            </a:r>
            <a:endParaRPr lang="en-US" sz="3000" dirty="0"/>
          </a:p>
        </p:txBody>
      </p:sp>
      <p:sp>
        <p:nvSpPr>
          <p:cNvPr id="4" name="Shape 2"/>
          <p:cNvSpPr/>
          <p:nvPr/>
        </p:nvSpPr>
        <p:spPr>
          <a:xfrm>
            <a:off x="566928" y="1645920"/>
            <a:ext cx="5486400" cy="1463040"/>
          </a:xfrm>
          <a:prstGeom prst="roundRect">
            <a:avLst>
              <a:gd name="adj" fmla="val 5625"/>
            </a:avLst>
          </a:prstGeom>
          <a:solidFill>
            <a:srgbClr val="FFFFFF"/>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5" name="Shape 3"/>
          <p:cNvSpPr/>
          <p:nvPr/>
        </p:nvSpPr>
        <p:spPr>
          <a:xfrm>
            <a:off x="822960" y="1956816"/>
            <a:ext cx="749808" cy="749808"/>
          </a:xfrm>
          <a:prstGeom prst="ellipse">
            <a:avLst/>
          </a:prstGeom>
          <a:solidFill>
            <a:srgbClr val="1F7A3D"/>
          </a:solidFill>
          <a:ln/>
        </p:spPr>
      </p:sp>
      <p:pic>
        <p:nvPicPr>
          <p:cNvPr id="6" name="Image 0" descr="preencoded.png">    </p:cNvPr>
          <p:cNvPicPr>
            <a:picLocks noChangeAspect="1"/>
          </p:cNvPicPr>
          <p:nvPr/>
        </p:nvPicPr>
        <p:blipFill>
          <a:blip r:embed="rId1"/>
          <a:stretch>
            <a:fillRect/>
          </a:stretch>
        </p:blipFill>
        <p:spPr>
          <a:xfrm>
            <a:off x="1033272" y="2167128"/>
            <a:ext cx="329184" cy="329184"/>
          </a:xfrm>
          <a:prstGeom prst="rect">
            <a:avLst/>
          </a:prstGeom>
        </p:spPr>
      </p:pic>
      <p:sp>
        <p:nvSpPr>
          <p:cNvPr id="7" name="Text 4"/>
          <p:cNvSpPr/>
          <p:nvPr/>
        </p:nvSpPr>
        <p:spPr>
          <a:xfrm>
            <a:off x="5047488" y="1792224"/>
            <a:ext cx="868680" cy="502920"/>
          </a:xfrm>
          <a:prstGeom prst="rect">
            <a:avLst/>
          </a:prstGeom>
          <a:noFill/>
          <a:ln/>
        </p:spPr>
        <p:txBody>
          <a:bodyPr wrap="square" lIns="0" tIns="0" rIns="0" bIns="0" rtlCol="0" anchor="ctr"/>
          <a:lstStyle/>
          <a:p>
            <a:pPr algn="r" indent="0" marL="0">
              <a:buNone/>
            </a:pPr>
            <a:r>
              <a:rPr lang="en-US" sz="2800" b="1" dirty="0">
                <a:solidFill>
                  <a:srgbClr val="E8F3EC"/>
                </a:solidFill>
                <a:latin typeface="Cambria" pitchFamily="34" charset="0"/>
                <a:ea typeface="Cambria" pitchFamily="34" charset="-122"/>
                <a:cs typeface="Cambria" pitchFamily="34" charset="-120"/>
              </a:rPr>
              <a:t>01</a:t>
            </a:r>
            <a:endParaRPr lang="en-US" sz="2800" dirty="0"/>
          </a:p>
        </p:txBody>
      </p:sp>
      <p:sp>
        <p:nvSpPr>
          <p:cNvPr id="8" name="Text 5"/>
          <p:cNvSpPr/>
          <p:nvPr/>
        </p:nvSpPr>
        <p:spPr>
          <a:xfrm>
            <a:off x="1755648" y="1920240"/>
            <a:ext cx="3383280" cy="365760"/>
          </a:xfrm>
          <a:prstGeom prst="rect">
            <a:avLst/>
          </a:prstGeom>
          <a:noFill/>
          <a:ln/>
        </p:spPr>
        <p:txBody>
          <a:bodyPr wrap="square" lIns="0" tIns="0" rIns="0" bIns="0" rtlCol="0" anchor="ctr"/>
          <a:lstStyle/>
          <a:p>
            <a:pPr indent="0" marL="0">
              <a:buNone/>
            </a:pPr>
            <a:r>
              <a:rPr lang="en-US" sz="1650" b="1" dirty="0">
                <a:solidFill>
                  <a:srgbClr val="1F2937"/>
                </a:solidFill>
                <a:latin typeface="Calibri" pitchFamily="34" charset="0"/>
                <a:ea typeface="Calibri" pitchFamily="34" charset="-122"/>
                <a:cs typeface="Calibri" pitchFamily="34" charset="-120"/>
              </a:rPr>
              <a:t>Digitize administration</a:t>
            </a:r>
            <a:endParaRPr lang="en-US" sz="1650" dirty="0"/>
          </a:p>
        </p:txBody>
      </p:sp>
      <p:sp>
        <p:nvSpPr>
          <p:cNvPr id="9" name="Text 6"/>
          <p:cNvSpPr/>
          <p:nvPr/>
        </p:nvSpPr>
        <p:spPr>
          <a:xfrm>
            <a:off x="1755648" y="2322576"/>
            <a:ext cx="4023360" cy="640080"/>
          </a:xfrm>
          <a:prstGeom prst="rect">
            <a:avLst/>
          </a:prstGeom>
          <a:noFill/>
          <a:ln/>
        </p:spPr>
        <p:txBody>
          <a:bodyPr wrap="square" lIns="0" tIns="0" rIns="0" bIns="0" rtlCol="0" anchor="t"/>
          <a:lstStyle/>
          <a:p>
            <a:pPr indent="0" marL="0">
              <a:buNone/>
            </a:pPr>
            <a:r>
              <a:rPr lang="en-US" sz="1250" dirty="0">
                <a:solidFill>
                  <a:srgbClr val="6B7280"/>
                </a:solidFill>
                <a:latin typeface="Calibri" pitchFamily="34" charset="0"/>
                <a:ea typeface="Calibri" pitchFamily="34" charset="-122"/>
                <a:cs typeface="Calibri" pitchFamily="34" charset="-120"/>
              </a:rPr>
              <a:t>Move complaints, certificates, tax and notices fully online.</a:t>
            </a:r>
            <a:endParaRPr lang="en-US" sz="1250" dirty="0"/>
          </a:p>
        </p:txBody>
      </p:sp>
      <p:sp>
        <p:nvSpPr>
          <p:cNvPr id="10" name="Shape 7"/>
          <p:cNvSpPr/>
          <p:nvPr/>
        </p:nvSpPr>
        <p:spPr>
          <a:xfrm>
            <a:off x="6144768" y="1645920"/>
            <a:ext cx="5486400" cy="1463040"/>
          </a:xfrm>
          <a:prstGeom prst="roundRect">
            <a:avLst>
              <a:gd name="adj" fmla="val 5625"/>
            </a:avLst>
          </a:prstGeom>
          <a:solidFill>
            <a:srgbClr val="FFFFFF"/>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11" name="Shape 8"/>
          <p:cNvSpPr/>
          <p:nvPr/>
        </p:nvSpPr>
        <p:spPr>
          <a:xfrm>
            <a:off x="6400800" y="1956816"/>
            <a:ext cx="749808" cy="749808"/>
          </a:xfrm>
          <a:prstGeom prst="ellipse">
            <a:avLst/>
          </a:prstGeom>
          <a:solidFill>
            <a:srgbClr val="1F7A3D"/>
          </a:solidFill>
          <a:ln/>
        </p:spPr>
      </p:sp>
      <p:pic>
        <p:nvPicPr>
          <p:cNvPr id="12" name="Image 1" descr="preencoded.png">    </p:cNvPr>
          <p:cNvPicPr>
            <a:picLocks noChangeAspect="1"/>
          </p:cNvPicPr>
          <p:nvPr/>
        </p:nvPicPr>
        <p:blipFill>
          <a:blip r:embed="rId2"/>
          <a:stretch>
            <a:fillRect/>
          </a:stretch>
        </p:blipFill>
        <p:spPr>
          <a:xfrm>
            <a:off x="6611112" y="2167128"/>
            <a:ext cx="329184" cy="329184"/>
          </a:xfrm>
          <a:prstGeom prst="rect">
            <a:avLst/>
          </a:prstGeom>
        </p:spPr>
      </p:pic>
      <p:sp>
        <p:nvSpPr>
          <p:cNvPr id="13" name="Text 9"/>
          <p:cNvSpPr/>
          <p:nvPr/>
        </p:nvSpPr>
        <p:spPr>
          <a:xfrm>
            <a:off x="10625328" y="1792224"/>
            <a:ext cx="868680" cy="502920"/>
          </a:xfrm>
          <a:prstGeom prst="rect">
            <a:avLst/>
          </a:prstGeom>
          <a:noFill/>
          <a:ln/>
        </p:spPr>
        <p:txBody>
          <a:bodyPr wrap="square" lIns="0" tIns="0" rIns="0" bIns="0" rtlCol="0" anchor="ctr"/>
          <a:lstStyle/>
          <a:p>
            <a:pPr algn="r" indent="0" marL="0">
              <a:buNone/>
            </a:pPr>
            <a:r>
              <a:rPr lang="en-US" sz="2800" b="1" dirty="0">
                <a:solidFill>
                  <a:srgbClr val="E8F3EC"/>
                </a:solidFill>
                <a:latin typeface="Cambria" pitchFamily="34" charset="0"/>
                <a:ea typeface="Cambria" pitchFamily="34" charset="-122"/>
                <a:cs typeface="Cambria" pitchFamily="34" charset="-120"/>
              </a:rPr>
              <a:t>02</a:t>
            </a:r>
            <a:endParaRPr lang="en-US" sz="2800" dirty="0"/>
          </a:p>
        </p:txBody>
      </p:sp>
      <p:sp>
        <p:nvSpPr>
          <p:cNvPr id="14" name="Text 10"/>
          <p:cNvSpPr/>
          <p:nvPr/>
        </p:nvSpPr>
        <p:spPr>
          <a:xfrm>
            <a:off x="7333488" y="1920240"/>
            <a:ext cx="3383280" cy="365760"/>
          </a:xfrm>
          <a:prstGeom prst="rect">
            <a:avLst/>
          </a:prstGeom>
          <a:noFill/>
          <a:ln/>
        </p:spPr>
        <p:txBody>
          <a:bodyPr wrap="square" lIns="0" tIns="0" rIns="0" bIns="0" rtlCol="0" anchor="ctr"/>
          <a:lstStyle/>
          <a:p>
            <a:pPr indent="0" marL="0">
              <a:buNone/>
            </a:pPr>
            <a:r>
              <a:rPr lang="en-US" sz="1650" b="1" dirty="0">
                <a:solidFill>
                  <a:srgbClr val="1F2937"/>
                </a:solidFill>
                <a:latin typeface="Calibri" pitchFamily="34" charset="0"/>
                <a:ea typeface="Calibri" pitchFamily="34" charset="-122"/>
                <a:cs typeface="Calibri" pitchFamily="34" charset="-120"/>
              </a:rPr>
              <a:t>Improve transparency</a:t>
            </a:r>
            <a:endParaRPr lang="en-US" sz="1650" dirty="0"/>
          </a:p>
        </p:txBody>
      </p:sp>
      <p:sp>
        <p:nvSpPr>
          <p:cNvPr id="15" name="Text 11"/>
          <p:cNvSpPr/>
          <p:nvPr/>
        </p:nvSpPr>
        <p:spPr>
          <a:xfrm>
            <a:off x="7333488" y="2322576"/>
            <a:ext cx="4023360" cy="640080"/>
          </a:xfrm>
          <a:prstGeom prst="rect">
            <a:avLst/>
          </a:prstGeom>
          <a:noFill/>
          <a:ln/>
        </p:spPr>
        <p:txBody>
          <a:bodyPr wrap="square" lIns="0" tIns="0" rIns="0" bIns="0" rtlCol="0" anchor="t"/>
          <a:lstStyle/>
          <a:p>
            <a:pPr indent="0" marL="0">
              <a:buNone/>
            </a:pPr>
            <a:r>
              <a:rPr lang="en-US" sz="1250" dirty="0">
                <a:solidFill>
                  <a:srgbClr val="6B7280"/>
                </a:solidFill>
                <a:latin typeface="Calibri" pitchFamily="34" charset="0"/>
                <a:ea typeface="Calibri" pitchFamily="34" charset="-122"/>
                <a:cs typeface="Calibri" pitchFamily="34" charset="-120"/>
              </a:rPr>
              <a:t>Every request gets an ID, a status timeline, and an audit trail.</a:t>
            </a:r>
            <a:endParaRPr lang="en-US" sz="1250" dirty="0"/>
          </a:p>
        </p:txBody>
      </p:sp>
      <p:sp>
        <p:nvSpPr>
          <p:cNvPr id="16" name="Shape 12"/>
          <p:cNvSpPr/>
          <p:nvPr/>
        </p:nvSpPr>
        <p:spPr>
          <a:xfrm>
            <a:off x="566928" y="3218688"/>
            <a:ext cx="5486400" cy="1463040"/>
          </a:xfrm>
          <a:prstGeom prst="roundRect">
            <a:avLst>
              <a:gd name="adj" fmla="val 5625"/>
            </a:avLst>
          </a:prstGeom>
          <a:solidFill>
            <a:srgbClr val="FFFFFF"/>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17" name="Shape 13"/>
          <p:cNvSpPr/>
          <p:nvPr/>
        </p:nvSpPr>
        <p:spPr>
          <a:xfrm>
            <a:off x="822960" y="3529584"/>
            <a:ext cx="749808" cy="749808"/>
          </a:xfrm>
          <a:prstGeom prst="ellipse">
            <a:avLst/>
          </a:prstGeom>
          <a:solidFill>
            <a:srgbClr val="1F7A3D"/>
          </a:solidFill>
          <a:ln/>
        </p:spPr>
      </p:sp>
      <p:pic>
        <p:nvPicPr>
          <p:cNvPr id="18" name="Image 2" descr="preencoded.png">    </p:cNvPr>
          <p:cNvPicPr>
            <a:picLocks noChangeAspect="1"/>
          </p:cNvPicPr>
          <p:nvPr/>
        </p:nvPicPr>
        <p:blipFill>
          <a:blip r:embed="rId3"/>
          <a:stretch>
            <a:fillRect/>
          </a:stretch>
        </p:blipFill>
        <p:spPr>
          <a:xfrm>
            <a:off x="1033272" y="3739896"/>
            <a:ext cx="329184" cy="329184"/>
          </a:xfrm>
          <a:prstGeom prst="rect">
            <a:avLst/>
          </a:prstGeom>
        </p:spPr>
      </p:pic>
      <p:sp>
        <p:nvSpPr>
          <p:cNvPr id="19" name="Text 14"/>
          <p:cNvSpPr/>
          <p:nvPr/>
        </p:nvSpPr>
        <p:spPr>
          <a:xfrm>
            <a:off x="5047488" y="3364992"/>
            <a:ext cx="868680" cy="502920"/>
          </a:xfrm>
          <a:prstGeom prst="rect">
            <a:avLst/>
          </a:prstGeom>
          <a:noFill/>
          <a:ln/>
        </p:spPr>
        <p:txBody>
          <a:bodyPr wrap="square" lIns="0" tIns="0" rIns="0" bIns="0" rtlCol="0" anchor="ctr"/>
          <a:lstStyle/>
          <a:p>
            <a:pPr algn="r" indent="0" marL="0">
              <a:buNone/>
            </a:pPr>
            <a:r>
              <a:rPr lang="en-US" sz="2800" b="1" dirty="0">
                <a:solidFill>
                  <a:srgbClr val="E8F3EC"/>
                </a:solidFill>
                <a:latin typeface="Cambria" pitchFamily="34" charset="0"/>
                <a:ea typeface="Cambria" pitchFamily="34" charset="-122"/>
                <a:cs typeface="Cambria" pitchFamily="34" charset="-120"/>
              </a:rPr>
              <a:t>03</a:t>
            </a:r>
            <a:endParaRPr lang="en-US" sz="2800" dirty="0"/>
          </a:p>
        </p:txBody>
      </p:sp>
      <p:sp>
        <p:nvSpPr>
          <p:cNvPr id="20" name="Text 15"/>
          <p:cNvSpPr/>
          <p:nvPr/>
        </p:nvSpPr>
        <p:spPr>
          <a:xfrm>
            <a:off x="1755648" y="3493008"/>
            <a:ext cx="3383280" cy="365760"/>
          </a:xfrm>
          <a:prstGeom prst="rect">
            <a:avLst/>
          </a:prstGeom>
          <a:noFill/>
          <a:ln/>
        </p:spPr>
        <p:txBody>
          <a:bodyPr wrap="square" lIns="0" tIns="0" rIns="0" bIns="0" rtlCol="0" anchor="ctr"/>
          <a:lstStyle/>
          <a:p>
            <a:pPr indent="0" marL="0">
              <a:buNone/>
            </a:pPr>
            <a:r>
              <a:rPr lang="en-US" sz="1650" b="1" dirty="0">
                <a:solidFill>
                  <a:srgbClr val="1F2937"/>
                </a:solidFill>
                <a:latin typeface="Calibri" pitchFamily="34" charset="0"/>
                <a:ea typeface="Calibri" pitchFamily="34" charset="-122"/>
                <a:cs typeface="Calibri" pitchFamily="34" charset="-120"/>
              </a:rPr>
              <a:t>Reduce paperwork</a:t>
            </a:r>
            <a:endParaRPr lang="en-US" sz="1650" dirty="0"/>
          </a:p>
        </p:txBody>
      </p:sp>
      <p:sp>
        <p:nvSpPr>
          <p:cNvPr id="21" name="Text 16"/>
          <p:cNvSpPr/>
          <p:nvPr/>
        </p:nvSpPr>
        <p:spPr>
          <a:xfrm>
            <a:off x="1755648" y="3895344"/>
            <a:ext cx="4023360" cy="640080"/>
          </a:xfrm>
          <a:prstGeom prst="rect">
            <a:avLst/>
          </a:prstGeom>
          <a:noFill/>
          <a:ln/>
        </p:spPr>
        <p:txBody>
          <a:bodyPr wrap="square" lIns="0" tIns="0" rIns="0" bIns="0" rtlCol="0" anchor="t"/>
          <a:lstStyle/>
          <a:p>
            <a:pPr indent="0" marL="0">
              <a:buNone/>
            </a:pPr>
            <a:r>
              <a:rPr lang="en-US" sz="1250" dirty="0">
                <a:solidFill>
                  <a:srgbClr val="6B7280"/>
                </a:solidFill>
                <a:latin typeface="Calibri" pitchFamily="34" charset="0"/>
                <a:ea typeface="Calibri" pitchFamily="34" charset="-122"/>
                <a:cs typeface="Calibri" pitchFamily="34" charset="-120"/>
              </a:rPr>
              <a:t>Digital forms, uploads and auto-generated PDF certificates.</a:t>
            </a:r>
            <a:endParaRPr lang="en-US" sz="1250" dirty="0"/>
          </a:p>
        </p:txBody>
      </p:sp>
      <p:sp>
        <p:nvSpPr>
          <p:cNvPr id="22" name="Shape 17"/>
          <p:cNvSpPr/>
          <p:nvPr/>
        </p:nvSpPr>
        <p:spPr>
          <a:xfrm>
            <a:off x="6144768" y="3218688"/>
            <a:ext cx="5486400" cy="1463040"/>
          </a:xfrm>
          <a:prstGeom prst="roundRect">
            <a:avLst>
              <a:gd name="adj" fmla="val 5625"/>
            </a:avLst>
          </a:prstGeom>
          <a:solidFill>
            <a:srgbClr val="FFFFFF"/>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23" name="Shape 18"/>
          <p:cNvSpPr/>
          <p:nvPr/>
        </p:nvSpPr>
        <p:spPr>
          <a:xfrm>
            <a:off x="6400800" y="3529584"/>
            <a:ext cx="749808" cy="749808"/>
          </a:xfrm>
          <a:prstGeom prst="ellipse">
            <a:avLst/>
          </a:prstGeom>
          <a:solidFill>
            <a:srgbClr val="1F7A3D"/>
          </a:solidFill>
          <a:ln/>
        </p:spPr>
      </p:sp>
      <p:pic>
        <p:nvPicPr>
          <p:cNvPr id="24" name="Image 3" descr="preencoded.png">    </p:cNvPr>
          <p:cNvPicPr>
            <a:picLocks noChangeAspect="1"/>
          </p:cNvPicPr>
          <p:nvPr/>
        </p:nvPicPr>
        <p:blipFill>
          <a:blip r:embed="rId4"/>
          <a:stretch>
            <a:fillRect/>
          </a:stretch>
        </p:blipFill>
        <p:spPr>
          <a:xfrm>
            <a:off x="6611112" y="3739896"/>
            <a:ext cx="329184" cy="329184"/>
          </a:xfrm>
          <a:prstGeom prst="rect">
            <a:avLst/>
          </a:prstGeom>
        </p:spPr>
      </p:pic>
      <p:sp>
        <p:nvSpPr>
          <p:cNvPr id="25" name="Text 19"/>
          <p:cNvSpPr/>
          <p:nvPr/>
        </p:nvSpPr>
        <p:spPr>
          <a:xfrm>
            <a:off x="10625328" y="3364992"/>
            <a:ext cx="868680" cy="502920"/>
          </a:xfrm>
          <a:prstGeom prst="rect">
            <a:avLst/>
          </a:prstGeom>
          <a:noFill/>
          <a:ln/>
        </p:spPr>
        <p:txBody>
          <a:bodyPr wrap="square" lIns="0" tIns="0" rIns="0" bIns="0" rtlCol="0" anchor="ctr"/>
          <a:lstStyle/>
          <a:p>
            <a:pPr algn="r" indent="0" marL="0">
              <a:buNone/>
            </a:pPr>
            <a:r>
              <a:rPr lang="en-US" sz="2800" b="1" dirty="0">
                <a:solidFill>
                  <a:srgbClr val="E8F3EC"/>
                </a:solidFill>
                <a:latin typeface="Cambria" pitchFamily="34" charset="0"/>
                <a:ea typeface="Cambria" pitchFamily="34" charset="-122"/>
                <a:cs typeface="Cambria" pitchFamily="34" charset="-120"/>
              </a:rPr>
              <a:t>04</a:t>
            </a:r>
            <a:endParaRPr lang="en-US" sz="2800" dirty="0"/>
          </a:p>
        </p:txBody>
      </p:sp>
      <p:sp>
        <p:nvSpPr>
          <p:cNvPr id="26" name="Text 20"/>
          <p:cNvSpPr/>
          <p:nvPr/>
        </p:nvSpPr>
        <p:spPr>
          <a:xfrm>
            <a:off x="7333488" y="3493008"/>
            <a:ext cx="3383280" cy="365760"/>
          </a:xfrm>
          <a:prstGeom prst="rect">
            <a:avLst/>
          </a:prstGeom>
          <a:noFill/>
          <a:ln/>
        </p:spPr>
        <p:txBody>
          <a:bodyPr wrap="square" lIns="0" tIns="0" rIns="0" bIns="0" rtlCol="0" anchor="ctr"/>
          <a:lstStyle/>
          <a:p>
            <a:pPr indent="0" marL="0">
              <a:buNone/>
            </a:pPr>
            <a:r>
              <a:rPr lang="en-US" sz="1650" b="1" dirty="0">
                <a:solidFill>
                  <a:srgbClr val="1F2937"/>
                </a:solidFill>
                <a:latin typeface="Calibri" pitchFamily="34" charset="0"/>
                <a:ea typeface="Calibri" pitchFamily="34" charset="-122"/>
                <a:cs typeface="Calibri" pitchFamily="34" charset="-120"/>
              </a:rPr>
              <a:t>Provide online services</a:t>
            </a:r>
            <a:endParaRPr lang="en-US" sz="1650" dirty="0"/>
          </a:p>
        </p:txBody>
      </p:sp>
      <p:sp>
        <p:nvSpPr>
          <p:cNvPr id="27" name="Text 21"/>
          <p:cNvSpPr/>
          <p:nvPr/>
        </p:nvSpPr>
        <p:spPr>
          <a:xfrm>
            <a:off x="7333488" y="3895344"/>
            <a:ext cx="4023360" cy="640080"/>
          </a:xfrm>
          <a:prstGeom prst="rect">
            <a:avLst/>
          </a:prstGeom>
          <a:noFill/>
          <a:ln/>
        </p:spPr>
        <p:txBody>
          <a:bodyPr wrap="square" lIns="0" tIns="0" rIns="0" bIns="0" rtlCol="0" anchor="t"/>
          <a:lstStyle/>
          <a:p>
            <a:pPr indent="0" marL="0">
              <a:buNone/>
            </a:pPr>
            <a:r>
              <a:rPr lang="en-US" sz="1250" dirty="0">
                <a:solidFill>
                  <a:srgbClr val="6B7280"/>
                </a:solidFill>
                <a:latin typeface="Calibri" pitchFamily="34" charset="0"/>
                <a:ea typeface="Calibri" pitchFamily="34" charset="-122"/>
                <a:cs typeface="Calibri" pitchFamily="34" charset="-120"/>
              </a:rPr>
              <a:t>Access from any phone, anytime — even with poor connectivity.</a:t>
            </a:r>
            <a:endParaRPr lang="en-US" sz="1250" dirty="0"/>
          </a:p>
        </p:txBody>
      </p:sp>
      <p:sp>
        <p:nvSpPr>
          <p:cNvPr id="28" name="Shape 22"/>
          <p:cNvSpPr/>
          <p:nvPr/>
        </p:nvSpPr>
        <p:spPr>
          <a:xfrm>
            <a:off x="566928" y="4791456"/>
            <a:ext cx="11064240" cy="1463040"/>
          </a:xfrm>
          <a:prstGeom prst="roundRect">
            <a:avLst>
              <a:gd name="adj" fmla="val 5625"/>
            </a:avLst>
          </a:prstGeom>
          <a:solidFill>
            <a:srgbClr val="FFFFFF"/>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29" name="Shape 23"/>
          <p:cNvSpPr/>
          <p:nvPr/>
        </p:nvSpPr>
        <p:spPr>
          <a:xfrm>
            <a:off x="822960" y="5102352"/>
            <a:ext cx="749808" cy="749808"/>
          </a:xfrm>
          <a:prstGeom prst="ellipse">
            <a:avLst/>
          </a:prstGeom>
          <a:solidFill>
            <a:srgbClr val="1F7A3D"/>
          </a:solidFill>
          <a:ln/>
        </p:spPr>
      </p:sp>
      <p:pic>
        <p:nvPicPr>
          <p:cNvPr id="30" name="Image 4" descr="preencoded.png">    </p:cNvPr>
          <p:cNvPicPr>
            <a:picLocks noChangeAspect="1"/>
          </p:cNvPicPr>
          <p:nvPr/>
        </p:nvPicPr>
        <p:blipFill>
          <a:blip r:embed="rId5"/>
          <a:stretch>
            <a:fillRect/>
          </a:stretch>
        </p:blipFill>
        <p:spPr>
          <a:xfrm>
            <a:off x="1033272" y="5312664"/>
            <a:ext cx="329184" cy="329184"/>
          </a:xfrm>
          <a:prstGeom prst="rect">
            <a:avLst/>
          </a:prstGeom>
        </p:spPr>
      </p:pic>
      <p:sp>
        <p:nvSpPr>
          <p:cNvPr id="31" name="Text 24"/>
          <p:cNvSpPr/>
          <p:nvPr/>
        </p:nvSpPr>
        <p:spPr>
          <a:xfrm>
            <a:off x="10625328" y="4937760"/>
            <a:ext cx="868680" cy="502920"/>
          </a:xfrm>
          <a:prstGeom prst="rect">
            <a:avLst/>
          </a:prstGeom>
          <a:noFill/>
          <a:ln/>
        </p:spPr>
        <p:txBody>
          <a:bodyPr wrap="square" lIns="0" tIns="0" rIns="0" bIns="0" rtlCol="0" anchor="ctr"/>
          <a:lstStyle/>
          <a:p>
            <a:pPr algn="r" indent="0" marL="0">
              <a:buNone/>
            </a:pPr>
            <a:r>
              <a:rPr lang="en-US" sz="2800" b="1" dirty="0">
                <a:solidFill>
                  <a:srgbClr val="E8F3EC"/>
                </a:solidFill>
                <a:latin typeface="Cambria" pitchFamily="34" charset="0"/>
                <a:ea typeface="Cambria" pitchFamily="34" charset="-122"/>
                <a:cs typeface="Cambria" pitchFamily="34" charset="-120"/>
              </a:rPr>
              <a:t>05</a:t>
            </a:r>
            <a:endParaRPr lang="en-US" sz="2800" dirty="0"/>
          </a:p>
        </p:txBody>
      </p:sp>
      <p:sp>
        <p:nvSpPr>
          <p:cNvPr id="32" name="Text 25"/>
          <p:cNvSpPr/>
          <p:nvPr/>
        </p:nvSpPr>
        <p:spPr>
          <a:xfrm>
            <a:off x="1755648" y="5065776"/>
            <a:ext cx="8961120" cy="365760"/>
          </a:xfrm>
          <a:prstGeom prst="rect">
            <a:avLst/>
          </a:prstGeom>
          <a:noFill/>
          <a:ln/>
        </p:spPr>
        <p:txBody>
          <a:bodyPr wrap="square" lIns="0" tIns="0" rIns="0" bIns="0" rtlCol="0" anchor="ctr"/>
          <a:lstStyle/>
          <a:p>
            <a:pPr indent="0" marL="0">
              <a:buNone/>
            </a:pPr>
            <a:r>
              <a:rPr lang="en-US" sz="1650" b="1" dirty="0">
                <a:solidFill>
                  <a:srgbClr val="1F2937"/>
                </a:solidFill>
                <a:latin typeface="Calibri" pitchFamily="34" charset="0"/>
                <a:ea typeface="Calibri" pitchFamily="34" charset="-122"/>
                <a:cs typeface="Calibri" pitchFamily="34" charset="-120"/>
              </a:rPr>
              <a:t>Citizen-friendly platform</a:t>
            </a:r>
            <a:endParaRPr lang="en-US" sz="1650" dirty="0"/>
          </a:p>
        </p:txBody>
      </p:sp>
      <p:sp>
        <p:nvSpPr>
          <p:cNvPr id="33" name="Text 26"/>
          <p:cNvSpPr/>
          <p:nvPr/>
        </p:nvSpPr>
        <p:spPr>
          <a:xfrm>
            <a:off x="1755648" y="5468112"/>
            <a:ext cx="9601200" cy="640080"/>
          </a:xfrm>
          <a:prstGeom prst="rect">
            <a:avLst/>
          </a:prstGeom>
          <a:noFill/>
          <a:ln/>
        </p:spPr>
        <p:txBody>
          <a:bodyPr wrap="square" lIns="0" tIns="0" rIns="0" bIns="0" rtlCol="0" anchor="t"/>
          <a:lstStyle/>
          <a:p>
            <a:pPr indent="0" marL="0">
              <a:buNone/>
            </a:pPr>
            <a:r>
              <a:rPr lang="en-US" sz="1250" dirty="0">
                <a:solidFill>
                  <a:srgbClr val="6B7280"/>
                </a:solidFill>
                <a:latin typeface="Calibri" pitchFamily="34" charset="0"/>
                <a:ea typeface="Calibri" pitchFamily="34" charset="-122"/>
                <a:cs typeface="Calibri" pitchFamily="34" charset="-120"/>
              </a:rPr>
              <a:t>Bilingual (English + Marathi), installable, and offline-capable.</a:t>
            </a:r>
            <a:endParaRPr lang="en-US" sz="1250" dirty="0"/>
          </a:p>
        </p:txBody>
      </p:sp>
      <p:sp>
        <p:nvSpPr>
          <p:cNvPr id="34" name="Text 27"/>
          <p:cNvSpPr/>
          <p:nvPr/>
        </p:nvSpPr>
        <p:spPr>
          <a:xfrm>
            <a:off x="548640" y="6510528"/>
            <a:ext cx="54864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Digital Gram Panchayat  ·  v1.0.0</a:t>
            </a:r>
            <a:endParaRPr lang="en-US" sz="900" dirty="0"/>
          </a:p>
        </p:txBody>
      </p:sp>
      <p:sp>
        <p:nvSpPr>
          <p:cNvPr id="35" name="Text 28"/>
          <p:cNvSpPr/>
          <p:nvPr/>
        </p:nvSpPr>
        <p:spPr>
          <a:xfrm>
            <a:off x="11338560" y="6510528"/>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8229600" cy="274320"/>
          </a:xfrm>
          <a:prstGeom prst="rect">
            <a:avLst/>
          </a:prstGeom>
          <a:noFill/>
          <a:ln/>
        </p:spPr>
        <p:txBody>
          <a:bodyPr wrap="square" lIns="0" tIns="0" rIns="0" bIns="0" rtlCol="0" anchor="ctr"/>
          <a:lstStyle/>
          <a:p>
            <a:pPr algn="l" indent="0" marL="0">
              <a:buNone/>
            </a:pPr>
            <a:r>
              <a:rPr lang="en-US" sz="1200" b="1" spc="300" kern="0" dirty="0">
                <a:solidFill>
                  <a:srgbClr val="1F7A3D"/>
                </a:solidFill>
                <a:latin typeface="Calibri" pitchFamily="34" charset="0"/>
                <a:ea typeface="Calibri" pitchFamily="34" charset="-122"/>
                <a:cs typeface="Calibri" pitchFamily="34" charset="-120"/>
              </a:rPr>
              <a:t>THE BIG PICTURE</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algn="l" indent="0" marL="0">
              <a:buNone/>
            </a:pPr>
            <a:r>
              <a:rPr lang="en-US" sz="3000" b="1" dirty="0">
                <a:solidFill>
                  <a:srgbClr val="1F2937"/>
                </a:solidFill>
                <a:latin typeface="Cambria" pitchFamily="34" charset="0"/>
                <a:ea typeface="Cambria" pitchFamily="34" charset="-122"/>
                <a:cs typeface="Cambria" pitchFamily="34" charset="-120"/>
              </a:rPr>
              <a:t>Project Overview</a:t>
            </a:r>
            <a:endParaRPr lang="en-US" sz="3000" dirty="0"/>
          </a:p>
        </p:txBody>
      </p:sp>
      <p:sp>
        <p:nvSpPr>
          <p:cNvPr id="4" name="Text 2"/>
          <p:cNvSpPr/>
          <p:nvPr/>
        </p:nvSpPr>
        <p:spPr>
          <a:xfrm>
            <a:off x="566928" y="1417320"/>
            <a:ext cx="10972800" cy="457200"/>
          </a:xfrm>
          <a:prstGeom prst="rect">
            <a:avLst/>
          </a:prstGeom>
          <a:noFill/>
          <a:ln/>
        </p:spPr>
        <p:txBody>
          <a:bodyPr wrap="square" lIns="0" tIns="0" rIns="0" bIns="0" rtlCol="0" anchor="ctr"/>
          <a:lstStyle/>
          <a:p>
            <a:pPr indent="0" marL="0">
              <a:buNone/>
            </a:pPr>
            <a:r>
              <a:rPr lang="en-US" sz="1500" dirty="0">
                <a:solidFill>
                  <a:srgbClr val="6B7280"/>
                </a:solidFill>
                <a:latin typeface="Calibri" pitchFamily="34" charset="0"/>
                <a:ea typeface="Calibri" pitchFamily="34" charset="-122"/>
                <a:cs typeface="Calibri" pitchFamily="34" charset="-120"/>
              </a:rPr>
              <a:t>Two front-ends and one API over a single database — citizens self-serve while officers administer, in real time.</a:t>
            </a:r>
            <a:endParaRPr lang="en-US" sz="1500" dirty="0"/>
          </a:p>
        </p:txBody>
      </p:sp>
      <p:sp>
        <p:nvSpPr>
          <p:cNvPr id="5" name="Shape 3"/>
          <p:cNvSpPr/>
          <p:nvPr/>
        </p:nvSpPr>
        <p:spPr>
          <a:xfrm>
            <a:off x="751180" y="2468880"/>
            <a:ext cx="1874520" cy="1554480"/>
          </a:xfrm>
          <a:prstGeom prst="roundRect">
            <a:avLst>
              <a:gd name="adj" fmla="val 5294"/>
            </a:avLst>
          </a:prstGeom>
          <a:solidFill>
            <a:srgbClr val="F3F9F5"/>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6" name="Shape 4"/>
          <p:cNvSpPr/>
          <p:nvPr/>
        </p:nvSpPr>
        <p:spPr>
          <a:xfrm>
            <a:off x="1304392" y="2724912"/>
            <a:ext cx="768096" cy="768096"/>
          </a:xfrm>
          <a:prstGeom prst="ellipse">
            <a:avLst/>
          </a:prstGeom>
          <a:solidFill>
            <a:srgbClr val="1F7A3D"/>
          </a:solidFill>
          <a:ln/>
        </p:spPr>
      </p:sp>
      <p:pic>
        <p:nvPicPr>
          <p:cNvPr id="7" name="Image 0" descr="preencoded.png">    </p:cNvPr>
          <p:cNvPicPr>
            <a:picLocks noChangeAspect="1"/>
          </p:cNvPicPr>
          <p:nvPr/>
        </p:nvPicPr>
        <p:blipFill>
          <a:blip r:embed="rId1"/>
          <a:stretch>
            <a:fillRect/>
          </a:stretch>
        </p:blipFill>
        <p:spPr>
          <a:xfrm>
            <a:off x="1523848" y="2944368"/>
            <a:ext cx="329184" cy="329184"/>
          </a:xfrm>
          <a:prstGeom prst="rect">
            <a:avLst/>
          </a:prstGeom>
        </p:spPr>
      </p:pic>
      <p:sp>
        <p:nvSpPr>
          <p:cNvPr id="8" name="Text 5"/>
          <p:cNvSpPr/>
          <p:nvPr/>
        </p:nvSpPr>
        <p:spPr>
          <a:xfrm>
            <a:off x="659740" y="3529584"/>
            <a:ext cx="2057400" cy="365760"/>
          </a:xfrm>
          <a:prstGeom prst="rect">
            <a:avLst/>
          </a:prstGeom>
          <a:noFill/>
          <a:ln/>
        </p:spPr>
        <p:txBody>
          <a:bodyPr wrap="square" lIns="0" tIns="0" rIns="0" bIns="0"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Citizen</a:t>
            </a:r>
            <a:endParaRPr lang="en-US" sz="1400" dirty="0"/>
          </a:p>
        </p:txBody>
      </p:sp>
      <p:pic>
        <p:nvPicPr>
          <p:cNvPr id="9" name="Image 1" descr="preencoded.png">    </p:cNvPr>
          <p:cNvPicPr>
            <a:picLocks noChangeAspect="1"/>
          </p:cNvPicPr>
          <p:nvPr/>
        </p:nvPicPr>
        <p:blipFill>
          <a:blip r:embed="rId2"/>
          <a:stretch>
            <a:fillRect/>
          </a:stretch>
        </p:blipFill>
        <p:spPr>
          <a:xfrm>
            <a:off x="2561692" y="3017520"/>
            <a:ext cx="457200" cy="457200"/>
          </a:xfrm>
          <a:prstGeom prst="rect">
            <a:avLst/>
          </a:prstGeom>
        </p:spPr>
      </p:pic>
      <p:sp>
        <p:nvSpPr>
          <p:cNvPr id="10" name="Shape 6"/>
          <p:cNvSpPr/>
          <p:nvPr/>
        </p:nvSpPr>
        <p:spPr>
          <a:xfrm>
            <a:off x="2954884" y="2468880"/>
            <a:ext cx="1874520" cy="1554480"/>
          </a:xfrm>
          <a:prstGeom prst="roundRect">
            <a:avLst>
              <a:gd name="adj" fmla="val 5294"/>
            </a:avLst>
          </a:prstGeom>
          <a:solidFill>
            <a:srgbClr val="F3F9F5"/>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11" name="Shape 7"/>
          <p:cNvSpPr/>
          <p:nvPr/>
        </p:nvSpPr>
        <p:spPr>
          <a:xfrm>
            <a:off x="3508096" y="2724912"/>
            <a:ext cx="768096" cy="768096"/>
          </a:xfrm>
          <a:prstGeom prst="ellipse">
            <a:avLst/>
          </a:prstGeom>
          <a:solidFill>
            <a:srgbClr val="1F7A3D"/>
          </a:solidFill>
          <a:ln/>
        </p:spPr>
      </p:sp>
      <p:pic>
        <p:nvPicPr>
          <p:cNvPr id="12" name="Image 2" descr="preencoded.png">    </p:cNvPr>
          <p:cNvPicPr>
            <a:picLocks noChangeAspect="1"/>
          </p:cNvPicPr>
          <p:nvPr/>
        </p:nvPicPr>
        <p:blipFill>
          <a:blip r:embed="rId3"/>
          <a:stretch>
            <a:fillRect/>
          </a:stretch>
        </p:blipFill>
        <p:spPr>
          <a:xfrm>
            <a:off x="3727552" y="2944368"/>
            <a:ext cx="329184" cy="329184"/>
          </a:xfrm>
          <a:prstGeom prst="rect">
            <a:avLst/>
          </a:prstGeom>
        </p:spPr>
      </p:pic>
      <p:sp>
        <p:nvSpPr>
          <p:cNvPr id="13" name="Text 8"/>
          <p:cNvSpPr/>
          <p:nvPr/>
        </p:nvSpPr>
        <p:spPr>
          <a:xfrm>
            <a:off x="2863444" y="3529584"/>
            <a:ext cx="2057400" cy="365760"/>
          </a:xfrm>
          <a:prstGeom prst="rect">
            <a:avLst/>
          </a:prstGeom>
          <a:noFill/>
          <a:ln/>
        </p:spPr>
        <p:txBody>
          <a:bodyPr wrap="square" lIns="0" tIns="0" rIns="0" bIns="0"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Website / PWA</a:t>
            </a:r>
            <a:endParaRPr lang="en-US" sz="1400" dirty="0"/>
          </a:p>
        </p:txBody>
      </p:sp>
      <p:pic>
        <p:nvPicPr>
          <p:cNvPr id="14" name="Image 3" descr="preencoded.png">    </p:cNvPr>
          <p:cNvPicPr>
            <a:picLocks noChangeAspect="1"/>
          </p:cNvPicPr>
          <p:nvPr/>
        </p:nvPicPr>
        <p:blipFill>
          <a:blip r:embed="rId4"/>
          <a:stretch>
            <a:fillRect/>
          </a:stretch>
        </p:blipFill>
        <p:spPr>
          <a:xfrm>
            <a:off x="4765396" y="3017520"/>
            <a:ext cx="457200" cy="457200"/>
          </a:xfrm>
          <a:prstGeom prst="rect">
            <a:avLst/>
          </a:prstGeom>
        </p:spPr>
      </p:pic>
      <p:sp>
        <p:nvSpPr>
          <p:cNvPr id="15" name="Shape 9"/>
          <p:cNvSpPr/>
          <p:nvPr/>
        </p:nvSpPr>
        <p:spPr>
          <a:xfrm>
            <a:off x="5158588" y="2468880"/>
            <a:ext cx="1874520" cy="1554480"/>
          </a:xfrm>
          <a:prstGeom prst="roundRect">
            <a:avLst>
              <a:gd name="adj" fmla="val 5294"/>
            </a:avLst>
          </a:prstGeom>
          <a:solidFill>
            <a:srgbClr val="F3F9F5"/>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16" name="Shape 10"/>
          <p:cNvSpPr/>
          <p:nvPr/>
        </p:nvSpPr>
        <p:spPr>
          <a:xfrm>
            <a:off x="5711800" y="2724912"/>
            <a:ext cx="768096" cy="768096"/>
          </a:xfrm>
          <a:prstGeom prst="ellipse">
            <a:avLst/>
          </a:prstGeom>
          <a:solidFill>
            <a:srgbClr val="2E9E5B"/>
          </a:solidFill>
          <a:ln/>
        </p:spPr>
      </p:sp>
      <p:pic>
        <p:nvPicPr>
          <p:cNvPr id="17" name="Image 4" descr="preencoded.png">    </p:cNvPr>
          <p:cNvPicPr>
            <a:picLocks noChangeAspect="1"/>
          </p:cNvPicPr>
          <p:nvPr/>
        </p:nvPicPr>
        <p:blipFill>
          <a:blip r:embed="rId5"/>
          <a:stretch>
            <a:fillRect/>
          </a:stretch>
        </p:blipFill>
        <p:spPr>
          <a:xfrm>
            <a:off x="5931256" y="2944368"/>
            <a:ext cx="329184" cy="329184"/>
          </a:xfrm>
          <a:prstGeom prst="rect">
            <a:avLst/>
          </a:prstGeom>
        </p:spPr>
      </p:pic>
      <p:sp>
        <p:nvSpPr>
          <p:cNvPr id="18" name="Text 11"/>
          <p:cNvSpPr/>
          <p:nvPr/>
        </p:nvSpPr>
        <p:spPr>
          <a:xfrm>
            <a:off x="5067148" y="3529584"/>
            <a:ext cx="2057400" cy="365760"/>
          </a:xfrm>
          <a:prstGeom prst="rect">
            <a:avLst/>
          </a:prstGeom>
          <a:noFill/>
          <a:ln/>
        </p:spPr>
        <p:txBody>
          <a:bodyPr wrap="square" lIns="0" tIns="0" rIns="0" bIns="0"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Backend API</a:t>
            </a:r>
            <a:endParaRPr lang="en-US" sz="1400" dirty="0"/>
          </a:p>
        </p:txBody>
      </p:sp>
      <p:pic>
        <p:nvPicPr>
          <p:cNvPr id="19" name="Image 5" descr="preencoded.png">    </p:cNvPr>
          <p:cNvPicPr>
            <a:picLocks noChangeAspect="1"/>
          </p:cNvPicPr>
          <p:nvPr/>
        </p:nvPicPr>
        <p:blipFill>
          <a:blip r:embed="rId6"/>
          <a:stretch>
            <a:fillRect/>
          </a:stretch>
        </p:blipFill>
        <p:spPr>
          <a:xfrm>
            <a:off x="6969100" y="3017520"/>
            <a:ext cx="457200" cy="457200"/>
          </a:xfrm>
          <a:prstGeom prst="rect">
            <a:avLst/>
          </a:prstGeom>
        </p:spPr>
      </p:pic>
      <p:sp>
        <p:nvSpPr>
          <p:cNvPr id="20" name="Shape 12"/>
          <p:cNvSpPr/>
          <p:nvPr/>
        </p:nvSpPr>
        <p:spPr>
          <a:xfrm>
            <a:off x="7362292" y="2468880"/>
            <a:ext cx="1874520" cy="1554480"/>
          </a:xfrm>
          <a:prstGeom prst="roundRect">
            <a:avLst>
              <a:gd name="adj" fmla="val 5294"/>
            </a:avLst>
          </a:prstGeom>
          <a:solidFill>
            <a:srgbClr val="F3F9F5"/>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21" name="Shape 13"/>
          <p:cNvSpPr/>
          <p:nvPr/>
        </p:nvSpPr>
        <p:spPr>
          <a:xfrm>
            <a:off x="7915504" y="2724912"/>
            <a:ext cx="768096" cy="768096"/>
          </a:xfrm>
          <a:prstGeom prst="ellipse">
            <a:avLst/>
          </a:prstGeom>
          <a:solidFill>
            <a:srgbClr val="123D22"/>
          </a:solidFill>
          <a:ln/>
        </p:spPr>
      </p:sp>
      <p:pic>
        <p:nvPicPr>
          <p:cNvPr id="22" name="Image 6" descr="preencoded.png">    </p:cNvPr>
          <p:cNvPicPr>
            <a:picLocks noChangeAspect="1"/>
          </p:cNvPicPr>
          <p:nvPr/>
        </p:nvPicPr>
        <p:blipFill>
          <a:blip r:embed="rId7"/>
          <a:stretch>
            <a:fillRect/>
          </a:stretch>
        </p:blipFill>
        <p:spPr>
          <a:xfrm>
            <a:off x="8134960" y="2944368"/>
            <a:ext cx="329184" cy="329184"/>
          </a:xfrm>
          <a:prstGeom prst="rect">
            <a:avLst/>
          </a:prstGeom>
        </p:spPr>
      </p:pic>
      <p:sp>
        <p:nvSpPr>
          <p:cNvPr id="23" name="Text 14"/>
          <p:cNvSpPr/>
          <p:nvPr/>
        </p:nvSpPr>
        <p:spPr>
          <a:xfrm>
            <a:off x="7270852" y="3529584"/>
            <a:ext cx="2057400" cy="365760"/>
          </a:xfrm>
          <a:prstGeom prst="rect">
            <a:avLst/>
          </a:prstGeom>
          <a:noFill/>
          <a:ln/>
        </p:spPr>
        <p:txBody>
          <a:bodyPr wrap="square" lIns="0" tIns="0" rIns="0" bIns="0"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MongoDB</a:t>
            </a:r>
            <a:endParaRPr lang="en-US" sz="1400" dirty="0"/>
          </a:p>
        </p:txBody>
      </p:sp>
      <p:pic>
        <p:nvPicPr>
          <p:cNvPr id="24" name="Image 7" descr="preencoded.png">    </p:cNvPr>
          <p:cNvPicPr>
            <a:picLocks noChangeAspect="1"/>
          </p:cNvPicPr>
          <p:nvPr/>
        </p:nvPicPr>
        <p:blipFill>
          <a:blip r:embed="rId8"/>
          <a:stretch>
            <a:fillRect/>
          </a:stretch>
        </p:blipFill>
        <p:spPr>
          <a:xfrm>
            <a:off x="9172804" y="3017520"/>
            <a:ext cx="457200" cy="457200"/>
          </a:xfrm>
          <a:prstGeom prst="rect">
            <a:avLst/>
          </a:prstGeom>
        </p:spPr>
      </p:pic>
      <p:sp>
        <p:nvSpPr>
          <p:cNvPr id="25" name="Shape 15"/>
          <p:cNvSpPr/>
          <p:nvPr/>
        </p:nvSpPr>
        <p:spPr>
          <a:xfrm>
            <a:off x="9565996" y="2468880"/>
            <a:ext cx="1874520" cy="1554480"/>
          </a:xfrm>
          <a:prstGeom prst="roundRect">
            <a:avLst>
              <a:gd name="adj" fmla="val 5294"/>
            </a:avLst>
          </a:prstGeom>
          <a:solidFill>
            <a:srgbClr val="F3F9F5"/>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26" name="Shape 16"/>
          <p:cNvSpPr/>
          <p:nvPr/>
        </p:nvSpPr>
        <p:spPr>
          <a:xfrm>
            <a:off x="10119208" y="2724912"/>
            <a:ext cx="768096" cy="768096"/>
          </a:xfrm>
          <a:prstGeom prst="ellipse">
            <a:avLst/>
          </a:prstGeom>
          <a:solidFill>
            <a:srgbClr val="1F7A3D"/>
          </a:solidFill>
          <a:ln/>
        </p:spPr>
      </p:sp>
      <p:pic>
        <p:nvPicPr>
          <p:cNvPr id="27" name="Image 8" descr="preencoded.png">    </p:cNvPr>
          <p:cNvPicPr>
            <a:picLocks noChangeAspect="1"/>
          </p:cNvPicPr>
          <p:nvPr/>
        </p:nvPicPr>
        <p:blipFill>
          <a:blip r:embed="rId9"/>
          <a:stretch>
            <a:fillRect/>
          </a:stretch>
        </p:blipFill>
        <p:spPr>
          <a:xfrm>
            <a:off x="10338664" y="2944368"/>
            <a:ext cx="329184" cy="329184"/>
          </a:xfrm>
          <a:prstGeom prst="rect">
            <a:avLst/>
          </a:prstGeom>
        </p:spPr>
      </p:pic>
      <p:sp>
        <p:nvSpPr>
          <p:cNvPr id="28" name="Text 17"/>
          <p:cNvSpPr/>
          <p:nvPr/>
        </p:nvSpPr>
        <p:spPr>
          <a:xfrm>
            <a:off x="9474556" y="3529584"/>
            <a:ext cx="2057400" cy="365760"/>
          </a:xfrm>
          <a:prstGeom prst="rect">
            <a:avLst/>
          </a:prstGeom>
          <a:noFill/>
          <a:ln/>
        </p:spPr>
        <p:txBody>
          <a:bodyPr wrap="square" lIns="0" tIns="0" rIns="0" bIns="0"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Admin Portal</a:t>
            </a:r>
            <a:endParaRPr lang="en-US" sz="1400" dirty="0"/>
          </a:p>
        </p:txBody>
      </p:sp>
      <p:sp>
        <p:nvSpPr>
          <p:cNvPr id="29" name="Shape 18"/>
          <p:cNvSpPr/>
          <p:nvPr/>
        </p:nvSpPr>
        <p:spPr>
          <a:xfrm>
            <a:off x="822960" y="4709160"/>
            <a:ext cx="548640" cy="548640"/>
          </a:xfrm>
          <a:prstGeom prst="ellipse">
            <a:avLst/>
          </a:prstGeom>
          <a:solidFill>
            <a:srgbClr val="E8F3EC"/>
          </a:solidFill>
          <a:ln/>
        </p:spPr>
      </p:sp>
      <p:pic>
        <p:nvPicPr>
          <p:cNvPr id="30" name="Image 9" descr="preencoded.png">    </p:cNvPr>
          <p:cNvPicPr>
            <a:picLocks noChangeAspect="1"/>
          </p:cNvPicPr>
          <p:nvPr/>
        </p:nvPicPr>
        <p:blipFill>
          <a:blip r:embed="rId10"/>
          <a:stretch>
            <a:fillRect/>
          </a:stretch>
        </p:blipFill>
        <p:spPr>
          <a:xfrm>
            <a:off x="969264" y="4855464"/>
            <a:ext cx="256032" cy="256032"/>
          </a:xfrm>
          <a:prstGeom prst="rect">
            <a:avLst/>
          </a:prstGeom>
        </p:spPr>
      </p:pic>
      <p:sp>
        <p:nvSpPr>
          <p:cNvPr id="31" name="Text 19"/>
          <p:cNvSpPr/>
          <p:nvPr/>
        </p:nvSpPr>
        <p:spPr>
          <a:xfrm>
            <a:off x="1508760" y="4709160"/>
            <a:ext cx="2926080" cy="320040"/>
          </a:xfrm>
          <a:prstGeom prst="rect">
            <a:avLst/>
          </a:prstGeom>
          <a:noFill/>
          <a:ln/>
        </p:spPr>
        <p:txBody>
          <a:bodyPr wrap="square" lIns="0" tIns="0" rIns="0" bIns="0" rtlCol="0" anchor="ctr"/>
          <a:lstStyle/>
          <a:p>
            <a:pPr indent="0" marL="0">
              <a:buNone/>
            </a:pPr>
            <a:r>
              <a:rPr lang="en-US" sz="1450" b="1" dirty="0">
                <a:solidFill>
                  <a:srgbClr val="1F2937"/>
                </a:solidFill>
                <a:latin typeface="Calibri" pitchFamily="34" charset="0"/>
                <a:ea typeface="Calibri" pitchFamily="34" charset="-122"/>
                <a:cs typeface="Calibri" pitchFamily="34" charset="-120"/>
              </a:rPr>
              <a:t>Real-time</a:t>
            </a:r>
            <a:endParaRPr lang="en-US" sz="1450" dirty="0"/>
          </a:p>
        </p:txBody>
      </p:sp>
      <p:sp>
        <p:nvSpPr>
          <p:cNvPr id="32" name="Text 20"/>
          <p:cNvSpPr/>
          <p:nvPr/>
        </p:nvSpPr>
        <p:spPr>
          <a:xfrm>
            <a:off x="1508760" y="5029200"/>
            <a:ext cx="2971800" cy="64008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Officer actions instantly notify citizens.</a:t>
            </a:r>
            <a:endParaRPr lang="en-US" sz="1150" dirty="0"/>
          </a:p>
        </p:txBody>
      </p:sp>
      <p:sp>
        <p:nvSpPr>
          <p:cNvPr id="33" name="Shape 21"/>
          <p:cNvSpPr/>
          <p:nvPr/>
        </p:nvSpPr>
        <p:spPr>
          <a:xfrm>
            <a:off x="4572000" y="4709160"/>
            <a:ext cx="548640" cy="548640"/>
          </a:xfrm>
          <a:prstGeom prst="ellipse">
            <a:avLst/>
          </a:prstGeom>
          <a:solidFill>
            <a:srgbClr val="E8F3EC"/>
          </a:solidFill>
          <a:ln/>
        </p:spPr>
      </p:sp>
      <p:pic>
        <p:nvPicPr>
          <p:cNvPr id="34" name="Image 10" descr="preencoded.png">    </p:cNvPr>
          <p:cNvPicPr>
            <a:picLocks noChangeAspect="1"/>
          </p:cNvPicPr>
          <p:nvPr/>
        </p:nvPicPr>
        <p:blipFill>
          <a:blip r:embed="rId11"/>
          <a:stretch>
            <a:fillRect/>
          </a:stretch>
        </p:blipFill>
        <p:spPr>
          <a:xfrm>
            <a:off x="4718304" y="4855464"/>
            <a:ext cx="256032" cy="256032"/>
          </a:xfrm>
          <a:prstGeom prst="rect">
            <a:avLst/>
          </a:prstGeom>
        </p:spPr>
      </p:pic>
      <p:sp>
        <p:nvSpPr>
          <p:cNvPr id="35" name="Text 22"/>
          <p:cNvSpPr/>
          <p:nvPr/>
        </p:nvSpPr>
        <p:spPr>
          <a:xfrm>
            <a:off x="5257800" y="4709160"/>
            <a:ext cx="2926080" cy="320040"/>
          </a:xfrm>
          <a:prstGeom prst="rect">
            <a:avLst/>
          </a:prstGeom>
          <a:noFill/>
          <a:ln/>
        </p:spPr>
        <p:txBody>
          <a:bodyPr wrap="square" lIns="0" tIns="0" rIns="0" bIns="0" rtlCol="0" anchor="ctr"/>
          <a:lstStyle/>
          <a:p>
            <a:pPr indent="0" marL="0">
              <a:buNone/>
            </a:pPr>
            <a:r>
              <a:rPr lang="en-US" sz="1450" b="1" dirty="0">
                <a:solidFill>
                  <a:srgbClr val="1F2937"/>
                </a:solidFill>
                <a:latin typeface="Calibri" pitchFamily="34" charset="0"/>
                <a:ea typeface="Calibri" pitchFamily="34" charset="-122"/>
                <a:cs typeface="Calibri" pitchFamily="34" charset="-120"/>
              </a:rPr>
              <a:t>Secure</a:t>
            </a:r>
            <a:endParaRPr lang="en-US" sz="1450" dirty="0"/>
          </a:p>
        </p:txBody>
      </p:sp>
      <p:sp>
        <p:nvSpPr>
          <p:cNvPr id="36" name="Text 23"/>
          <p:cNvSpPr/>
          <p:nvPr/>
        </p:nvSpPr>
        <p:spPr>
          <a:xfrm>
            <a:off x="5257800" y="5029200"/>
            <a:ext cx="2971800" cy="64008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JWT auth, role gates, audit on every change.</a:t>
            </a:r>
            <a:endParaRPr lang="en-US" sz="1150" dirty="0"/>
          </a:p>
        </p:txBody>
      </p:sp>
      <p:sp>
        <p:nvSpPr>
          <p:cNvPr id="37" name="Shape 24"/>
          <p:cNvSpPr/>
          <p:nvPr/>
        </p:nvSpPr>
        <p:spPr>
          <a:xfrm>
            <a:off x="8321040" y="4709160"/>
            <a:ext cx="548640" cy="548640"/>
          </a:xfrm>
          <a:prstGeom prst="ellipse">
            <a:avLst/>
          </a:prstGeom>
          <a:solidFill>
            <a:srgbClr val="E8F3EC"/>
          </a:solidFill>
          <a:ln/>
        </p:spPr>
      </p:sp>
      <p:pic>
        <p:nvPicPr>
          <p:cNvPr id="38" name="Image 11" descr="preencoded.png">    </p:cNvPr>
          <p:cNvPicPr>
            <a:picLocks noChangeAspect="1"/>
          </p:cNvPicPr>
          <p:nvPr/>
        </p:nvPicPr>
        <p:blipFill>
          <a:blip r:embed="rId12"/>
          <a:stretch>
            <a:fillRect/>
          </a:stretch>
        </p:blipFill>
        <p:spPr>
          <a:xfrm>
            <a:off x="8467344" y="4855464"/>
            <a:ext cx="256032" cy="256032"/>
          </a:xfrm>
          <a:prstGeom prst="rect">
            <a:avLst/>
          </a:prstGeom>
        </p:spPr>
      </p:pic>
      <p:sp>
        <p:nvSpPr>
          <p:cNvPr id="39" name="Text 25"/>
          <p:cNvSpPr/>
          <p:nvPr/>
        </p:nvSpPr>
        <p:spPr>
          <a:xfrm>
            <a:off x="9006840" y="4709160"/>
            <a:ext cx="2926080" cy="320040"/>
          </a:xfrm>
          <a:prstGeom prst="rect">
            <a:avLst/>
          </a:prstGeom>
          <a:noFill/>
          <a:ln/>
        </p:spPr>
        <p:txBody>
          <a:bodyPr wrap="square" lIns="0" tIns="0" rIns="0" bIns="0" rtlCol="0" anchor="ctr"/>
          <a:lstStyle/>
          <a:p>
            <a:pPr indent="0" marL="0">
              <a:buNone/>
            </a:pPr>
            <a:r>
              <a:rPr lang="en-US" sz="1450" b="1" dirty="0">
                <a:solidFill>
                  <a:srgbClr val="1F2937"/>
                </a:solidFill>
                <a:latin typeface="Calibri" pitchFamily="34" charset="0"/>
                <a:ea typeface="Calibri" pitchFamily="34" charset="-122"/>
                <a:cs typeface="Calibri" pitchFamily="34" charset="-120"/>
              </a:rPr>
              <a:t>Offline-first</a:t>
            </a:r>
            <a:endParaRPr lang="en-US" sz="1450" dirty="0"/>
          </a:p>
        </p:txBody>
      </p:sp>
      <p:sp>
        <p:nvSpPr>
          <p:cNvPr id="40" name="Text 26"/>
          <p:cNvSpPr/>
          <p:nvPr/>
        </p:nvSpPr>
        <p:spPr>
          <a:xfrm>
            <a:off x="9006840" y="5029200"/>
            <a:ext cx="2971800" cy="64008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Citizen PWA works without a connection.</a:t>
            </a:r>
            <a:endParaRPr lang="en-US" sz="1150" dirty="0"/>
          </a:p>
        </p:txBody>
      </p:sp>
      <p:sp>
        <p:nvSpPr>
          <p:cNvPr id="41" name="Text 27"/>
          <p:cNvSpPr/>
          <p:nvPr/>
        </p:nvSpPr>
        <p:spPr>
          <a:xfrm>
            <a:off x="548640" y="6510528"/>
            <a:ext cx="54864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Digital Gram Panchayat  ·  v1.0.0</a:t>
            </a:r>
            <a:endParaRPr lang="en-US" sz="900" dirty="0"/>
          </a:p>
        </p:txBody>
      </p:sp>
      <p:sp>
        <p:nvSpPr>
          <p:cNvPr id="42" name="Text 28"/>
          <p:cNvSpPr/>
          <p:nvPr/>
        </p:nvSpPr>
        <p:spPr>
          <a:xfrm>
            <a:off x="11338560" y="6510528"/>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8229600" cy="274320"/>
          </a:xfrm>
          <a:prstGeom prst="rect">
            <a:avLst/>
          </a:prstGeom>
          <a:noFill/>
          <a:ln/>
        </p:spPr>
        <p:txBody>
          <a:bodyPr wrap="square" lIns="0" tIns="0" rIns="0" bIns="0" rtlCol="0" anchor="ctr"/>
          <a:lstStyle/>
          <a:p>
            <a:pPr algn="l" indent="0" marL="0">
              <a:buNone/>
            </a:pPr>
            <a:r>
              <a:rPr lang="en-US" sz="1200" b="1" spc="300" kern="0" dirty="0">
                <a:solidFill>
                  <a:srgbClr val="1F7A3D"/>
                </a:solidFill>
                <a:latin typeface="Calibri" pitchFamily="34" charset="0"/>
                <a:ea typeface="Calibri" pitchFamily="34" charset="-122"/>
                <a:cs typeface="Calibri" pitchFamily="34" charset="-120"/>
              </a:rPr>
              <a:t>WHAT WE BUILT WITH</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algn="l" indent="0" marL="0">
              <a:buNone/>
            </a:pPr>
            <a:r>
              <a:rPr lang="en-US" sz="3000" b="1" dirty="0">
                <a:solidFill>
                  <a:srgbClr val="1F2937"/>
                </a:solidFill>
                <a:latin typeface="Cambria" pitchFamily="34" charset="0"/>
                <a:ea typeface="Cambria" pitchFamily="34" charset="-122"/>
                <a:cs typeface="Cambria" pitchFamily="34" charset="-120"/>
              </a:rPr>
              <a:t>Technology Stack</a:t>
            </a:r>
            <a:endParaRPr lang="en-US" sz="3000" dirty="0"/>
          </a:p>
        </p:txBody>
      </p:sp>
      <p:sp>
        <p:nvSpPr>
          <p:cNvPr id="4" name="Shape 2"/>
          <p:cNvSpPr/>
          <p:nvPr/>
        </p:nvSpPr>
        <p:spPr>
          <a:xfrm>
            <a:off x="536296" y="1783080"/>
            <a:ext cx="2670048" cy="1965960"/>
          </a:xfrm>
          <a:prstGeom prst="roundRect">
            <a:avLst>
              <a:gd name="adj" fmla="val 4186"/>
            </a:avLst>
          </a:prstGeom>
          <a:solidFill>
            <a:srgbClr val="FFFFFF"/>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5" name="Shape 3"/>
          <p:cNvSpPr/>
          <p:nvPr/>
        </p:nvSpPr>
        <p:spPr>
          <a:xfrm>
            <a:off x="792328" y="2057400"/>
            <a:ext cx="777240" cy="777240"/>
          </a:xfrm>
          <a:prstGeom prst="ellipse">
            <a:avLst/>
          </a:prstGeom>
          <a:solidFill>
            <a:srgbClr val="E8F3EC"/>
          </a:solidFill>
          <a:ln/>
        </p:spPr>
      </p:sp>
      <p:pic>
        <p:nvPicPr>
          <p:cNvPr id="6" name="Image 0" descr="preencoded.png">    </p:cNvPr>
          <p:cNvPicPr>
            <a:picLocks noChangeAspect="1"/>
          </p:cNvPicPr>
          <p:nvPr/>
        </p:nvPicPr>
        <p:blipFill>
          <a:blip r:embed="rId1"/>
          <a:stretch>
            <a:fillRect/>
          </a:stretch>
        </p:blipFill>
        <p:spPr>
          <a:xfrm>
            <a:off x="993496" y="2258568"/>
            <a:ext cx="374904" cy="374904"/>
          </a:xfrm>
          <a:prstGeom prst="rect">
            <a:avLst/>
          </a:prstGeom>
        </p:spPr>
      </p:pic>
      <p:sp>
        <p:nvSpPr>
          <p:cNvPr id="7" name="Text 4"/>
          <p:cNvSpPr/>
          <p:nvPr/>
        </p:nvSpPr>
        <p:spPr>
          <a:xfrm>
            <a:off x="792328" y="2916936"/>
            <a:ext cx="2212848" cy="310896"/>
          </a:xfrm>
          <a:prstGeom prst="rect">
            <a:avLst/>
          </a:prstGeom>
          <a:noFill/>
          <a:ln/>
        </p:spPr>
        <p:txBody>
          <a:bodyPr wrap="square" lIns="0" tIns="0" rIns="0" bIns="0" rtlCol="0" anchor="ctr"/>
          <a:lstStyle/>
          <a:p>
            <a:pPr indent="0" marL="0">
              <a:buNone/>
            </a:pPr>
            <a:r>
              <a:rPr lang="en-US" sz="1550" b="1" dirty="0">
                <a:solidFill>
                  <a:srgbClr val="1F2937"/>
                </a:solidFill>
                <a:latin typeface="Calibri" pitchFamily="34" charset="0"/>
                <a:ea typeface="Calibri" pitchFamily="34" charset="-122"/>
                <a:cs typeface="Calibri" pitchFamily="34" charset="-120"/>
              </a:rPr>
              <a:t>Frontend</a:t>
            </a:r>
            <a:endParaRPr lang="en-US" sz="1550" dirty="0"/>
          </a:p>
        </p:txBody>
      </p:sp>
      <p:sp>
        <p:nvSpPr>
          <p:cNvPr id="8" name="Text 5"/>
          <p:cNvSpPr/>
          <p:nvPr/>
        </p:nvSpPr>
        <p:spPr>
          <a:xfrm>
            <a:off x="792328" y="3227832"/>
            <a:ext cx="2212848" cy="45720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React 18 · Vite · Tailwind · TanStack Query</a:t>
            </a:r>
            <a:endParaRPr lang="en-US" sz="1100" dirty="0"/>
          </a:p>
        </p:txBody>
      </p:sp>
      <p:sp>
        <p:nvSpPr>
          <p:cNvPr id="9" name="Shape 6"/>
          <p:cNvSpPr/>
          <p:nvPr/>
        </p:nvSpPr>
        <p:spPr>
          <a:xfrm>
            <a:off x="3352648" y="1783080"/>
            <a:ext cx="2670048" cy="1965960"/>
          </a:xfrm>
          <a:prstGeom prst="roundRect">
            <a:avLst>
              <a:gd name="adj" fmla="val 4186"/>
            </a:avLst>
          </a:prstGeom>
          <a:solidFill>
            <a:srgbClr val="FFFFFF"/>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10" name="Shape 7"/>
          <p:cNvSpPr/>
          <p:nvPr/>
        </p:nvSpPr>
        <p:spPr>
          <a:xfrm>
            <a:off x="3608680" y="2057400"/>
            <a:ext cx="777240" cy="777240"/>
          </a:xfrm>
          <a:prstGeom prst="ellipse">
            <a:avLst/>
          </a:prstGeom>
          <a:solidFill>
            <a:srgbClr val="E8F3EC"/>
          </a:solidFill>
          <a:ln/>
        </p:spPr>
      </p:sp>
      <p:pic>
        <p:nvPicPr>
          <p:cNvPr id="11" name="Image 1" descr="preencoded.png">    </p:cNvPr>
          <p:cNvPicPr>
            <a:picLocks noChangeAspect="1"/>
          </p:cNvPicPr>
          <p:nvPr/>
        </p:nvPicPr>
        <p:blipFill>
          <a:blip r:embed="rId2"/>
          <a:stretch>
            <a:fillRect/>
          </a:stretch>
        </p:blipFill>
        <p:spPr>
          <a:xfrm>
            <a:off x="3809848" y="2258568"/>
            <a:ext cx="374904" cy="374904"/>
          </a:xfrm>
          <a:prstGeom prst="rect">
            <a:avLst/>
          </a:prstGeom>
        </p:spPr>
      </p:pic>
      <p:sp>
        <p:nvSpPr>
          <p:cNvPr id="12" name="Text 8"/>
          <p:cNvSpPr/>
          <p:nvPr/>
        </p:nvSpPr>
        <p:spPr>
          <a:xfrm>
            <a:off x="3608680" y="2916936"/>
            <a:ext cx="2212848" cy="310896"/>
          </a:xfrm>
          <a:prstGeom prst="rect">
            <a:avLst/>
          </a:prstGeom>
          <a:noFill/>
          <a:ln/>
        </p:spPr>
        <p:txBody>
          <a:bodyPr wrap="square" lIns="0" tIns="0" rIns="0" bIns="0" rtlCol="0" anchor="ctr"/>
          <a:lstStyle/>
          <a:p>
            <a:pPr indent="0" marL="0">
              <a:buNone/>
            </a:pPr>
            <a:r>
              <a:rPr lang="en-US" sz="1550" b="1" dirty="0">
                <a:solidFill>
                  <a:srgbClr val="1F2937"/>
                </a:solidFill>
                <a:latin typeface="Calibri" pitchFamily="34" charset="0"/>
                <a:ea typeface="Calibri" pitchFamily="34" charset="-122"/>
                <a:cs typeface="Calibri" pitchFamily="34" charset="-120"/>
              </a:rPr>
              <a:t>Backend</a:t>
            </a:r>
            <a:endParaRPr lang="en-US" sz="1550" dirty="0"/>
          </a:p>
        </p:txBody>
      </p:sp>
      <p:sp>
        <p:nvSpPr>
          <p:cNvPr id="13" name="Text 9"/>
          <p:cNvSpPr/>
          <p:nvPr/>
        </p:nvSpPr>
        <p:spPr>
          <a:xfrm>
            <a:off x="3608680" y="3227832"/>
            <a:ext cx="2212848" cy="45720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Node.js 20 · Express · REST API</a:t>
            </a:r>
            <a:endParaRPr lang="en-US" sz="1100" dirty="0"/>
          </a:p>
        </p:txBody>
      </p:sp>
      <p:sp>
        <p:nvSpPr>
          <p:cNvPr id="14" name="Shape 10"/>
          <p:cNvSpPr/>
          <p:nvPr/>
        </p:nvSpPr>
        <p:spPr>
          <a:xfrm>
            <a:off x="6169000" y="1783080"/>
            <a:ext cx="2670048" cy="1965960"/>
          </a:xfrm>
          <a:prstGeom prst="roundRect">
            <a:avLst>
              <a:gd name="adj" fmla="val 4186"/>
            </a:avLst>
          </a:prstGeom>
          <a:solidFill>
            <a:srgbClr val="FFFFFF"/>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15" name="Shape 11"/>
          <p:cNvSpPr/>
          <p:nvPr/>
        </p:nvSpPr>
        <p:spPr>
          <a:xfrm>
            <a:off x="6425032" y="2057400"/>
            <a:ext cx="777240" cy="777240"/>
          </a:xfrm>
          <a:prstGeom prst="ellipse">
            <a:avLst/>
          </a:prstGeom>
          <a:solidFill>
            <a:srgbClr val="E8F3EC"/>
          </a:solidFill>
          <a:ln/>
        </p:spPr>
      </p:sp>
      <p:pic>
        <p:nvPicPr>
          <p:cNvPr id="16" name="Image 2" descr="preencoded.png">    </p:cNvPr>
          <p:cNvPicPr>
            <a:picLocks noChangeAspect="1"/>
          </p:cNvPicPr>
          <p:nvPr/>
        </p:nvPicPr>
        <p:blipFill>
          <a:blip r:embed="rId3"/>
          <a:stretch>
            <a:fillRect/>
          </a:stretch>
        </p:blipFill>
        <p:spPr>
          <a:xfrm>
            <a:off x="6626200" y="2258568"/>
            <a:ext cx="374904" cy="374904"/>
          </a:xfrm>
          <a:prstGeom prst="rect">
            <a:avLst/>
          </a:prstGeom>
        </p:spPr>
      </p:pic>
      <p:sp>
        <p:nvSpPr>
          <p:cNvPr id="17" name="Text 12"/>
          <p:cNvSpPr/>
          <p:nvPr/>
        </p:nvSpPr>
        <p:spPr>
          <a:xfrm>
            <a:off x="6425032" y="2916936"/>
            <a:ext cx="2212848" cy="310896"/>
          </a:xfrm>
          <a:prstGeom prst="rect">
            <a:avLst/>
          </a:prstGeom>
          <a:noFill/>
          <a:ln/>
        </p:spPr>
        <p:txBody>
          <a:bodyPr wrap="square" lIns="0" tIns="0" rIns="0" bIns="0" rtlCol="0" anchor="ctr"/>
          <a:lstStyle/>
          <a:p>
            <a:pPr indent="0" marL="0">
              <a:buNone/>
            </a:pPr>
            <a:r>
              <a:rPr lang="en-US" sz="1550" b="1" dirty="0">
                <a:solidFill>
                  <a:srgbClr val="1F2937"/>
                </a:solidFill>
                <a:latin typeface="Calibri" pitchFamily="34" charset="0"/>
                <a:ea typeface="Calibri" pitchFamily="34" charset="-122"/>
                <a:cs typeface="Calibri" pitchFamily="34" charset="-120"/>
              </a:rPr>
              <a:t>Database</a:t>
            </a:r>
            <a:endParaRPr lang="en-US" sz="1550" dirty="0"/>
          </a:p>
        </p:txBody>
      </p:sp>
      <p:sp>
        <p:nvSpPr>
          <p:cNvPr id="18" name="Text 13"/>
          <p:cNvSpPr/>
          <p:nvPr/>
        </p:nvSpPr>
        <p:spPr>
          <a:xfrm>
            <a:off x="6425032" y="3227832"/>
            <a:ext cx="2212848" cy="45720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MongoDB · Mongoose ODM</a:t>
            </a:r>
            <a:endParaRPr lang="en-US" sz="1100" dirty="0"/>
          </a:p>
        </p:txBody>
      </p:sp>
      <p:sp>
        <p:nvSpPr>
          <p:cNvPr id="19" name="Shape 14"/>
          <p:cNvSpPr/>
          <p:nvPr/>
        </p:nvSpPr>
        <p:spPr>
          <a:xfrm>
            <a:off x="8985352" y="1783080"/>
            <a:ext cx="2670048" cy="1965960"/>
          </a:xfrm>
          <a:prstGeom prst="roundRect">
            <a:avLst>
              <a:gd name="adj" fmla="val 4186"/>
            </a:avLst>
          </a:prstGeom>
          <a:solidFill>
            <a:srgbClr val="FFFFFF"/>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20" name="Shape 15"/>
          <p:cNvSpPr/>
          <p:nvPr/>
        </p:nvSpPr>
        <p:spPr>
          <a:xfrm>
            <a:off x="9241384" y="2057400"/>
            <a:ext cx="777240" cy="777240"/>
          </a:xfrm>
          <a:prstGeom prst="ellipse">
            <a:avLst/>
          </a:prstGeom>
          <a:solidFill>
            <a:srgbClr val="E8F3EC"/>
          </a:solidFill>
          <a:ln/>
        </p:spPr>
      </p:sp>
      <p:pic>
        <p:nvPicPr>
          <p:cNvPr id="21" name="Image 3" descr="preencoded.png">    </p:cNvPr>
          <p:cNvPicPr>
            <a:picLocks noChangeAspect="1"/>
          </p:cNvPicPr>
          <p:nvPr/>
        </p:nvPicPr>
        <p:blipFill>
          <a:blip r:embed="rId4"/>
          <a:stretch>
            <a:fillRect/>
          </a:stretch>
        </p:blipFill>
        <p:spPr>
          <a:xfrm>
            <a:off x="9442552" y="2258568"/>
            <a:ext cx="374904" cy="374904"/>
          </a:xfrm>
          <a:prstGeom prst="rect">
            <a:avLst/>
          </a:prstGeom>
        </p:spPr>
      </p:pic>
      <p:sp>
        <p:nvSpPr>
          <p:cNvPr id="22" name="Text 16"/>
          <p:cNvSpPr/>
          <p:nvPr/>
        </p:nvSpPr>
        <p:spPr>
          <a:xfrm>
            <a:off x="9241384" y="2916936"/>
            <a:ext cx="2212848" cy="310896"/>
          </a:xfrm>
          <a:prstGeom prst="rect">
            <a:avLst/>
          </a:prstGeom>
          <a:noFill/>
          <a:ln/>
        </p:spPr>
        <p:txBody>
          <a:bodyPr wrap="square" lIns="0" tIns="0" rIns="0" bIns="0" rtlCol="0" anchor="ctr"/>
          <a:lstStyle/>
          <a:p>
            <a:pPr indent="0" marL="0">
              <a:buNone/>
            </a:pPr>
            <a:r>
              <a:rPr lang="en-US" sz="1550" b="1" dirty="0">
                <a:solidFill>
                  <a:srgbClr val="1F2937"/>
                </a:solidFill>
                <a:latin typeface="Calibri" pitchFamily="34" charset="0"/>
                <a:ea typeface="Calibri" pitchFamily="34" charset="-122"/>
                <a:cs typeface="Calibri" pitchFamily="34" charset="-120"/>
              </a:rPr>
              <a:t>Authentication</a:t>
            </a:r>
            <a:endParaRPr lang="en-US" sz="1550" dirty="0"/>
          </a:p>
        </p:txBody>
      </p:sp>
      <p:sp>
        <p:nvSpPr>
          <p:cNvPr id="23" name="Text 17"/>
          <p:cNvSpPr/>
          <p:nvPr/>
        </p:nvSpPr>
        <p:spPr>
          <a:xfrm>
            <a:off x="9241384" y="3227832"/>
            <a:ext cx="2212848" cy="45720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JWT (HS256) · bcrypt · Role gates</a:t>
            </a:r>
            <a:endParaRPr lang="en-US" sz="1100" dirty="0"/>
          </a:p>
        </p:txBody>
      </p:sp>
      <p:sp>
        <p:nvSpPr>
          <p:cNvPr id="24" name="Shape 18"/>
          <p:cNvSpPr/>
          <p:nvPr/>
        </p:nvSpPr>
        <p:spPr>
          <a:xfrm>
            <a:off x="536296" y="3968496"/>
            <a:ext cx="2670048" cy="1965960"/>
          </a:xfrm>
          <a:prstGeom prst="roundRect">
            <a:avLst>
              <a:gd name="adj" fmla="val 4186"/>
            </a:avLst>
          </a:prstGeom>
          <a:solidFill>
            <a:srgbClr val="FFFFFF"/>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25" name="Shape 19"/>
          <p:cNvSpPr/>
          <p:nvPr/>
        </p:nvSpPr>
        <p:spPr>
          <a:xfrm>
            <a:off x="792328" y="4242816"/>
            <a:ext cx="777240" cy="777240"/>
          </a:xfrm>
          <a:prstGeom prst="ellipse">
            <a:avLst/>
          </a:prstGeom>
          <a:solidFill>
            <a:srgbClr val="E8F3EC"/>
          </a:solidFill>
          <a:ln/>
        </p:spPr>
      </p:sp>
      <p:pic>
        <p:nvPicPr>
          <p:cNvPr id="26" name="Image 4" descr="preencoded.png">    </p:cNvPr>
          <p:cNvPicPr>
            <a:picLocks noChangeAspect="1"/>
          </p:cNvPicPr>
          <p:nvPr/>
        </p:nvPicPr>
        <p:blipFill>
          <a:blip r:embed="rId5"/>
          <a:stretch>
            <a:fillRect/>
          </a:stretch>
        </p:blipFill>
        <p:spPr>
          <a:xfrm>
            <a:off x="993496" y="4443984"/>
            <a:ext cx="374904" cy="374904"/>
          </a:xfrm>
          <a:prstGeom prst="rect">
            <a:avLst/>
          </a:prstGeom>
        </p:spPr>
      </p:pic>
      <p:sp>
        <p:nvSpPr>
          <p:cNvPr id="27" name="Text 20"/>
          <p:cNvSpPr/>
          <p:nvPr/>
        </p:nvSpPr>
        <p:spPr>
          <a:xfrm>
            <a:off x="792328" y="5102352"/>
            <a:ext cx="2212848" cy="310896"/>
          </a:xfrm>
          <a:prstGeom prst="rect">
            <a:avLst/>
          </a:prstGeom>
          <a:noFill/>
          <a:ln/>
        </p:spPr>
        <p:txBody>
          <a:bodyPr wrap="square" lIns="0" tIns="0" rIns="0" bIns="0" rtlCol="0" anchor="ctr"/>
          <a:lstStyle/>
          <a:p>
            <a:pPr indent="0" marL="0">
              <a:buNone/>
            </a:pPr>
            <a:r>
              <a:rPr lang="en-US" sz="1550" b="1" dirty="0">
                <a:solidFill>
                  <a:srgbClr val="1F2937"/>
                </a:solidFill>
                <a:latin typeface="Calibri" pitchFamily="34" charset="0"/>
                <a:ea typeface="Calibri" pitchFamily="34" charset="-122"/>
                <a:cs typeface="Calibri" pitchFamily="34" charset="-120"/>
              </a:rPr>
              <a:t>Cloud Storage</a:t>
            </a:r>
            <a:endParaRPr lang="en-US" sz="1550" dirty="0"/>
          </a:p>
        </p:txBody>
      </p:sp>
      <p:sp>
        <p:nvSpPr>
          <p:cNvPr id="28" name="Text 21"/>
          <p:cNvSpPr/>
          <p:nvPr/>
        </p:nvSpPr>
        <p:spPr>
          <a:xfrm>
            <a:off x="792328" y="5413248"/>
            <a:ext cx="2212848" cy="45720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Cloudinary · PDFKit generation</a:t>
            </a:r>
            <a:endParaRPr lang="en-US" sz="1100" dirty="0"/>
          </a:p>
        </p:txBody>
      </p:sp>
      <p:sp>
        <p:nvSpPr>
          <p:cNvPr id="29" name="Shape 22"/>
          <p:cNvSpPr/>
          <p:nvPr/>
        </p:nvSpPr>
        <p:spPr>
          <a:xfrm>
            <a:off x="3352648" y="3968496"/>
            <a:ext cx="2670048" cy="1965960"/>
          </a:xfrm>
          <a:prstGeom prst="roundRect">
            <a:avLst>
              <a:gd name="adj" fmla="val 4186"/>
            </a:avLst>
          </a:prstGeom>
          <a:solidFill>
            <a:srgbClr val="FFFFFF"/>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30" name="Shape 23"/>
          <p:cNvSpPr/>
          <p:nvPr/>
        </p:nvSpPr>
        <p:spPr>
          <a:xfrm>
            <a:off x="3608680" y="4242816"/>
            <a:ext cx="777240" cy="777240"/>
          </a:xfrm>
          <a:prstGeom prst="ellipse">
            <a:avLst/>
          </a:prstGeom>
          <a:solidFill>
            <a:srgbClr val="E8F3EC"/>
          </a:solidFill>
          <a:ln/>
        </p:spPr>
      </p:sp>
      <p:pic>
        <p:nvPicPr>
          <p:cNvPr id="31" name="Image 5" descr="preencoded.png">    </p:cNvPr>
          <p:cNvPicPr>
            <a:picLocks noChangeAspect="1"/>
          </p:cNvPicPr>
          <p:nvPr/>
        </p:nvPicPr>
        <p:blipFill>
          <a:blip r:embed="rId6"/>
          <a:stretch>
            <a:fillRect/>
          </a:stretch>
        </p:blipFill>
        <p:spPr>
          <a:xfrm>
            <a:off x="3809848" y="4443984"/>
            <a:ext cx="374904" cy="374904"/>
          </a:xfrm>
          <a:prstGeom prst="rect">
            <a:avLst/>
          </a:prstGeom>
        </p:spPr>
      </p:pic>
      <p:sp>
        <p:nvSpPr>
          <p:cNvPr id="32" name="Text 24"/>
          <p:cNvSpPr/>
          <p:nvPr/>
        </p:nvSpPr>
        <p:spPr>
          <a:xfrm>
            <a:off x="3608680" y="5102352"/>
            <a:ext cx="2212848" cy="310896"/>
          </a:xfrm>
          <a:prstGeom prst="rect">
            <a:avLst/>
          </a:prstGeom>
          <a:noFill/>
          <a:ln/>
        </p:spPr>
        <p:txBody>
          <a:bodyPr wrap="square" lIns="0" tIns="0" rIns="0" bIns="0" rtlCol="0" anchor="ctr"/>
          <a:lstStyle/>
          <a:p>
            <a:pPr indent="0" marL="0">
              <a:buNone/>
            </a:pPr>
            <a:r>
              <a:rPr lang="en-US" sz="1550" b="1" dirty="0">
                <a:solidFill>
                  <a:srgbClr val="1F2937"/>
                </a:solidFill>
                <a:latin typeface="Calibri" pitchFamily="34" charset="0"/>
                <a:ea typeface="Calibri" pitchFamily="34" charset="-122"/>
                <a:cs typeface="Calibri" pitchFamily="34" charset="-120"/>
              </a:rPr>
              <a:t>Testing</a:t>
            </a:r>
            <a:endParaRPr lang="en-US" sz="1550" dirty="0"/>
          </a:p>
        </p:txBody>
      </p:sp>
      <p:sp>
        <p:nvSpPr>
          <p:cNvPr id="33" name="Text 25"/>
          <p:cNvSpPr/>
          <p:nvPr/>
        </p:nvSpPr>
        <p:spPr>
          <a:xfrm>
            <a:off x="3608680" y="5413248"/>
            <a:ext cx="2212848" cy="45720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Jest · Vitest · Playwright</a:t>
            </a:r>
            <a:endParaRPr lang="en-US" sz="1100" dirty="0"/>
          </a:p>
        </p:txBody>
      </p:sp>
      <p:sp>
        <p:nvSpPr>
          <p:cNvPr id="34" name="Shape 26"/>
          <p:cNvSpPr/>
          <p:nvPr/>
        </p:nvSpPr>
        <p:spPr>
          <a:xfrm>
            <a:off x="6169000" y="3968496"/>
            <a:ext cx="2670048" cy="1965960"/>
          </a:xfrm>
          <a:prstGeom prst="roundRect">
            <a:avLst>
              <a:gd name="adj" fmla="val 4186"/>
            </a:avLst>
          </a:prstGeom>
          <a:solidFill>
            <a:srgbClr val="FFFFFF"/>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35" name="Shape 27"/>
          <p:cNvSpPr/>
          <p:nvPr/>
        </p:nvSpPr>
        <p:spPr>
          <a:xfrm>
            <a:off x="6425032" y="4242816"/>
            <a:ext cx="777240" cy="777240"/>
          </a:xfrm>
          <a:prstGeom prst="ellipse">
            <a:avLst/>
          </a:prstGeom>
          <a:solidFill>
            <a:srgbClr val="E8F3EC"/>
          </a:solidFill>
          <a:ln/>
        </p:spPr>
      </p:sp>
      <p:pic>
        <p:nvPicPr>
          <p:cNvPr id="36" name="Image 6" descr="preencoded.png">    </p:cNvPr>
          <p:cNvPicPr>
            <a:picLocks noChangeAspect="1"/>
          </p:cNvPicPr>
          <p:nvPr/>
        </p:nvPicPr>
        <p:blipFill>
          <a:blip r:embed="rId7"/>
          <a:stretch>
            <a:fillRect/>
          </a:stretch>
        </p:blipFill>
        <p:spPr>
          <a:xfrm>
            <a:off x="6626200" y="4443984"/>
            <a:ext cx="374904" cy="374904"/>
          </a:xfrm>
          <a:prstGeom prst="rect">
            <a:avLst/>
          </a:prstGeom>
        </p:spPr>
      </p:pic>
      <p:sp>
        <p:nvSpPr>
          <p:cNvPr id="37" name="Text 28"/>
          <p:cNvSpPr/>
          <p:nvPr/>
        </p:nvSpPr>
        <p:spPr>
          <a:xfrm>
            <a:off x="6425032" y="5102352"/>
            <a:ext cx="2212848" cy="310896"/>
          </a:xfrm>
          <a:prstGeom prst="rect">
            <a:avLst/>
          </a:prstGeom>
          <a:noFill/>
          <a:ln/>
        </p:spPr>
        <p:txBody>
          <a:bodyPr wrap="square" lIns="0" tIns="0" rIns="0" bIns="0" rtlCol="0" anchor="ctr"/>
          <a:lstStyle/>
          <a:p>
            <a:pPr indent="0" marL="0">
              <a:buNone/>
            </a:pPr>
            <a:r>
              <a:rPr lang="en-US" sz="1550" b="1" dirty="0">
                <a:solidFill>
                  <a:srgbClr val="1F2937"/>
                </a:solidFill>
                <a:latin typeface="Calibri" pitchFamily="34" charset="0"/>
                <a:ea typeface="Calibri" pitchFamily="34" charset="-122"/>
                <a:cs typeface="Calibri" pitchFamily="34" charset="-120"/>
              </a:rPr>
              <a:t>Deployment</a:t>
            </a:r>
            <a:endParaRPr lang="en-US" sz="1550" dirty="0"/>
          </a:p>
        </p:txBody>
      </p:sp>
      <p:sp>
        <p:nvSpPr>
          <p:cNvPr id="38" name="Text 29"/>
          <p:cNvSpPr/>
          <p:nvPr/>
        </p:nvSpPr>
        <p:spPr>
          <a:xfrm>
            <a:off x="6425032" y="5413248"/>
            <a:ext cx="2212848" cy="45720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Render · Vercel · GitHub Actions</a:t>
            </a:r>
            <a:endParaRPr lang="en-US" sz="1100" dirty="0"/>
          </a:p>
        </p:txBody>
      </p:sp>
      <p:sp>
        <p:nvSpPr>
          <p:cNvPr id="39" name="Shape 30"/>
          <p:cNvSpPr/>
          <p:nvPr/>
        </p:nvSpPr>
        <p:spPr>
          <a:xfrm>
            <a:off x="8985352" y="3968496"/>
            <a:ext cx="2670048" cy="1965960"/>
          </a:xfrm>
          <a:prstGeom prst="roundRect">
            <a:avLst>
              <a:gd name="adj" fmla="val 4186"/>
            </a:avLst>
          </a:prstGeom>
          <a:solidFill>
            <a:srgbClr val="FFFFFF"/>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40" name="Shape 31"/>
          <p:cNvSpPr/>
          <p:nvPr/>
        </p:nvSpPr>
        <p:spPr>
          <a:xfrm>
            <a:off x="9241384" y="4242816"/>
            <a:ext cx="777240" cy="777240"/>
          </a:xfrm>
          <a:prstGeom prst="ellipse">
            <a:avLst/>
          </a:prstGeom>
          <a:solidFill>
            <a:srgbClr val="E8F3EC"/>
          </a:solidFill>
          <a:ln/>
        </p:spPr>
      </p:sp>
      <p:pic>
        <p:nvPicPr>
          <p:cNvPr id="41" name="Image 7" descr="preencoded.png">    </p:cNvPr>
          <p:cNvPicPr>
            <a:picLocks noChangeAspect="1"/>
          </p:cNvPicPr>
          <p:nvPr/>
        </p:nvPicPr>
        <p:blipFill>
          <a:blip r:embed="rId8"/>
          <a:stretch>
            <a:fillRect/>
          </a:stretch>
        </p:blipFill>
        <p:spPr>
          <a:xfrm>
            <a:off x="9442552" y="4443984"/>
            <a:ext cx="374904" cy="374904"/>
          </a:xfrm>
          <a:prstGeom prst="rect">
            <a:avLst/>
          </a:prstGeom>
        </p:spPr>
      </p:pic>
      <p:sp>
        <p:nvSpPr>
          <p:cNvPr id="42" name="Text 32"/>
          <p:cNvSpPr/>
          <p:nvPr/>
        </p:nvSpPr>
        <p:spPr>
          <a:xfrm>
            <a:off x="9241384" y="5102352"/>
            <a:ext cx="2212848" cy="310896"/>
          </a:xfrm>
          <a:prstGeom prst="rect">
            <a:avLst/>
          </a:prstGeom>
          <a:noFill/>
          <a:ln/>
        </p:spPr>
        <p:txBody>
          <a:bodyPr wrap="square" lIns="0" tIns="0" rIns="0" bIns="0" rtlCol="0" anchor="ctr"/>
          <a:lstStyle/>
          <a:p>
            <a:pPr indent="0" marL="0">
              <a:buNone/>
            </a:pPr>
            <a:r>
              <a:rPr lang="en-US" sz="1550" b="1" dirty="0">
                <a:solidFill>
                  <a:srgbClr val="1F2937"/>
                </a:solidFill>
                <a:latin typeface="Calibri" pitchFamily="34" charset="0"/>
                <a:ea typeface="Calibri" pitchFamily="34" charset="-122"/>
                <a:cs typeface="Calibri" pitchFamily="34" charset="-120"/>
              </a:rPr>
              <a:t>PWA Layer</a:t>
            </a:r>
            <a:endParaRPr lang="en-US" sz="1550" dirty="0"/>
          </a:p>
        </p:txBody>
      </p:sp>
      <p:sp>
        <p:nvSpPr>
          <p:cNvPr id="43" name="Text 33"/>
          <p:cNvSpPr/>
          <p:nvPr/>
        </p:nvSpPr>
        <p:spPr>
          <a:xfrm>
            <a:off x="9241384" y="5413248"/>
            <a:ext cx="2212848" cy="45720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Workbox · Service Worker · IndexedDB</a:t>
            </a:r>
            <a:endParaRPr lang="en-US" sz="1100" dirty="0"/>
          </a:p>
        </p:txBody>
      </p:sp>
      <p:sp>
        <p:nvSpPr>
          <p:cNvPr id="44" name="Text 34"/>
          <p:cNvSpPr/>
          <p:nvPr/>
        </p:nvSpPr>
        <p:spPr>
          <a:xfrm>
            <a:off x="548640" y="6510528"/>
            <a:ext cx="54864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Digital Gram Panchayat  ·  v1.0.0</a:t>
            </a:r>
            <a:endParaRPr lang="en-US" sz="900" dirty="0"/>
          </a:p>
        </p:txBody>
      </p:sp>
      <p:sp>
        <p:nvSpPr>
          <p:cNvPr id="45" name="Text 35"/>
          <p:cNvSpPr/>
          <p:nvPr/>
        </p:nvSpPr>
        <p:spPr>
          <a:xfrm>
            <a:off x="11338560" y="6510528"/>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8229600" cy="274320"/>
          </a:xfrm>
          <a:prstGeom prst="rect">
            <a:avLst/>
          </a:prstGeom>
          <a:noFill/>
          <a:ln/>
        </p:spPr>
        <p:txBody>
          <a:bodyPr wrap="square" lIns="0" tIns="0" rIns="0" bIns="0" rtlCol="0" anchor="ctr"/>
          <a:lstStyle/>
          <a:p>
            <a:pPr algn="l" indent="0" marL="0">
              <a:buNone/>
            </a:pPr>
            <a:r>
              <a:rPr lang="en-US" sz="1200" b="1" spc="300" kern="0" dirty="0">
                <a:solidFill>
                  <a:srgbClr val="1F7A3D"/>
                </a:solidFill>
                <a:latin typeface="Calibri" pitchFamily="34" charset="0"/>
                <a:ea typeface="Calibri" pitchFamily="34" charset="-122"/>
                <a:cs typeface="Calibri" pitchFamily="34" charset="-120"/>
              </a:rPr>
              <a:t>HOW IT IS STRUCTURED</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algn="l" indent="0" marL="0">
              <a:buNone/>
            </a:pPr>
            <a:r>
              <a:rPr lang="en-US" sz="3000" b="1" dirty="0">
                <a:solidFill>
                  <a:srgbClr val="1F2937"/>
                </a:solidFill>
                <a:latin typeface="Cambria" pitchFamily="34" charset="0"/>
                <a:ea typeface="Cambria" pitchFamily="34" charset="-122"/>
                <a:cs typeface="Cambria" pitchFamily="34" charset="-120"/>
              </a:rPr>
              <a:t>Software Architecture</a:t>
            </a:r>
            <a:endParaRPr lang="en-US" sz="3000" dirty="0"/>
          </a:p>
        </p:txBody>
      </p:sp>
      <p:sp>
        <p:nvSpPr>
          <p:cNvPr id="4" name="Shape 2"/>
          <p:cNvSpPr/>
          <p:nvPr/>
        </p:nvSpPr>
        <p:spPr>
          <a:xfrm>
            <a:off x="566928" y="1572768"/>
            <a:ext cx="6537960" cy="548640"/>
          </a:xfrm>
          <a:prstGeom prst="roundRect">
            <a:avLst>
              <a:gd name="adj" fmla="val 11667"/>
            </a:avLst>
          </a:prstGeom>
          <a:solidFill>
            <a:srgbClr val="1F7A3D"/>
          </a:solidFill>
          <a:ln w="12700">
            <a:solidFill>
              <a:srgbClr val="DCE9E1"/>
            </a:solidFill>
            <a:prstDash val="solid"/>
          </a:ln>
        </p:spPr>
      </p:sp>
      <p:sp>
        <p:nvSpPr>
          <p:cNvPr id="5" name="Shape 3"/>
          <p:cNvSpPr/>
          <p:nvPr/>
        </p:nvSpPr>
        <p:spPr>
          <a:xfrm>
            <a:off x="694944" y="1655064"/>
            <a:ext cx="384048" cy="384048"/>
          </a:xfrm>
          <a:prstGeom prst="ellipse">
            <a:avLst/>
          </a:prstGeom>
          <a:solidFill>
            <a:srgbClr val="FFFFFF"/>
          </a:solidFill>
          <a:ln/>
        </p:spPr>
      </p:sp>
      <p:pic>
        <p:nvPicPr>
          <p:cNvPr id="6" name="Image 0" descr="preencoded.png">    </p:cNvPr>
          <p:cNvPicPr>
            <a:picLocks noChangeAspect="1"/>
          </p:cNvPicPr>
          <p:nvPr/>
        </p:nvPicPr>
        <p:blipFill>
          <a:blip r:embed="rId1"/>
          <a:stretch>
            <a:fillRect/>
          </a:stretch>
        </p:blipFill>
        <p:spPr>
          <a:xfrm>
            <a:off x="795528" y="1755648"/>
            <a:ext cx="182880" cy="182880"/>
          </a:xfrm>
          <a:prstGeom prst="rect">
            <a:avLst/>
          </a:prstGeom>
        </p:spPr>
      </p:pic>
      <p:sp>
        <p:nvSpPr>
          <p:cNvPr id="7" name="Text 4"/>
          <p:cNvSpPr/>
          <p:nvPr/>
        </p:nvSpPr>
        <p:spPr>
          <a:xfrm>
            <a:off x="1225296" y="1572768"/>
            <a:ext cx="2743200" cy="54864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Citizen PWA</a:t>
            </a:r>
            <a:endParaRPr lang="en-US" sz="1450" dirty="0"/>
          </a:p>
        </p:txBody>
      </p:sp>
      <p:sp>
        <p:nvSpPr>
          <p:cNvPr id="8" name="Text 5"/>
          <p:cNvSpPr/>
          <p:nvPr/>
        </p:nvSpPr>
        <p:spPr>
          <a:xfrm>
            <a:off x="3950208" y="1572768"/>
            <a:ext cx="3063240" cy="548640"/>
          </a:xfrm>
          <a:prstGeom prst="rect">
            <a:avLst/>
          </a:prstGeom>
          <a:noFill/>
          <a:ln/>
        </p:spPr>
        <p:txBody>
          <a:bodyPr wrap="square" lIns="0" tIns="0" rIns="0" bIns="0" rtlCol="0" anchor="ctr"/>
          <a:lstStyle/>
          <a:p>
            <a:pPr algn="r" indent="0" marL="0">
              <a:buNone/>
            </a:pPr>
            <a:r>
              <a:rPr lang="en-US" sz="1100" dirty="0">
                <a:solidFill>
                  <a:srgbClr val="D9EEE1"/>
                </a:solidFill>
                <a:latin typeface="Calibri" pitchFamily="34" charset="0"/>
                <a:ea typeface="Calibri" pitchFamily="34" charset="-122"/>
                <a:cs typeface="Calibri" pitchFamily="34" charset="-120"/>
              </a:rPr>
              <a:t>React + Vite front-end</a:t>
            </a:r>
            <a:endParaRPr lang="en-US" sz="1100" dirty="0"/>
          </a:p>
        </p:txBody>
      </p:sp>
      <p:pic>
        <p:nvPicPr>
          <p:cNvPr id="9" name="Image 1" descr="preencoded.png">    </p:cNvPr>
          <p:cNvPicPr>
            <a:picLocks noChangeAspect="1"/>
          </p:cNvPicPr>
          <p:nvPr/>
        </p:nvPicPr>
        <p:blipFill>
          <a:blip r:embed="rId2"/>
          <a:stretch>
            <a:fillRect/>
          </a:stretch>
        </p:blipFill>
        <p:spPr>
          <a:xfrm>
            <a:off x="841248" y="2112264"/>
            <a:ext cx="237744" cy="128016"/>
          </a:xfrm>
          <a:prstGeom prst="rect">
            <a:avLst/>
          </a:prstGeom>
        </p:spPr>
      </p:pic>
      <p:sp>
        <p:nvSpPr>
          <p:cNvPr id="10" name="Shape 6"/>
          <p:cNvSpPr/>
          <p:nvPr/>
        </p:nvSpPr>
        <p:spPr>
          <a:xfrm>
            <a:off x="566928" y="2240280"/>
            <a:ext cx="6537960" cy="548640"/>
          </a:xfrm>
          <a:prstGeom prst="roundRect">
            <a:avLst>
              <a:gd name="adj" fmla="val 11667"/>
            </a:avLst>
          </a:prstGeom>
          <a:solidFill>
            <a:srgbClr val="F3F9F5"/>
          </a:solidFill>
          <a:ln w="12700">
            <a:solidFill>
              <a:srgbClr val="DCE9E1"/>
            </a:solidFill>
            <a:prstDash val="solid"/>
          </a:ln>
        </p:spPr>
      </p:sp>
      <p:sp>
        <p:nvSpPr>
          <p:cNvPr id="11" name="Shape 7"/>
          <p:cNvSpPr/>
          <p:nvPr/>
        </p:nvSpPr>
        <p:spPr>
          <a:xfrm>
            <a:off x="694944" y="2322576"/>
            <a:ext cx="384048" cy="384048"/>
          </a:xfrm>
          <a:prstGeom prst="ellipse">
            <a:avLst/>
          </a:prstGeom>
          <a:solidFill>
            <a:srgbClr val="1F7A3D"/>
          </a:solidFill>
          <a:ln/>
        </p:spPr>
      </p:sp>
      <p:pic>
        <p:nvPicPr>
          <p:cNvPr id="12" name="Image 2" descr="preencoded.png">    </p:cNvPr>
          <p:cNvPicPr>
            <a:picLocks noChangeAspect="1"/>
          </p:cNvPicPr>
          <p:nvPr/>
        </p:nvPicPr>
        <p:blipFill>
          <a:blip r:embed="rId3"/>
          <a:stretch>
            <a:fillRect/>
          </a:stretch>
        </p:blipFill>
        <p:spPr>
          <a:xfrm>
            <a:off x="795528" y="2423160"/>
            <a:ext cx="182880" cy="182880"/>
          </a:xfrm>
          <a:prstGeom prst="rect">
            <a:avLst/>
          </a:prstGeom>
        </p:spPr>
      </p:pic>
      <p:sp>
        <p:nvSpPr>
          <p:cNvPr id="13" name="Text 8"/>
          <p:cNvSpPr/>
          <p:nvPr/>
        </p:nvSpPr>
        <p:spPr>
          <a:xfrm>
            <a:off x="1225296" y="2240280"/>
            <a:ext cx="2743200" cy="548640"/>
          </a:xfrm>
          <a:prstGeom prst="rect">
            <a:avLst/>
          </a:prstGeom>
          <a:noFill/>
          <a:ln/>
        </p:spPr>
        <p:txBody>
          <a:bodyPr wrap="square" lIns="0" tIns="0" rIns="0" bIns="0" rtlCol="0" anchor="ctr"/>
          <a:lstStyle/>
          <a:p>
            <a:pPr indent="0" marL="0">
              <a:buNone/>
            </a:pPr>
            <a:r>
              <a:rPr lang="en-US" sz="1450" b="1" dirty="0">
                <a:solidFill>
                  <a:srgbClr val="1F2937"/>
                </a:solidFill>
                <a:latin typeface="Calibri" pitchFamily="34" charset="0"/>
                <a:ea typeface="Calibri" pitchFamily="34" charset="-122"/>
                <a:cs typeface="Calibri" pitchFamily="34" charset="-120"/>
              </a:rPr>
              <a:t>REST API</a:t>
            </a:r>
            <a:endParaRPr lang="en-US" sz="1450" dirty="0"/>
          </a:p>
        </p:txBody>
      </p:sp>
      <p:sp>
        <p:nvSpPr>
          <p:cNvPr id="14" name="Text 9"/>
          <p:cNvSpPr/>
          <p:nvPr/>
        </p:nvSpPr>
        <p:spPr>
          <a:xfrm>
            <a:off x="3950208" y="2240280"/>
            <a:ext cx="3063240" cy="548640"/>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Express app · security middleware</a:t>
            </a:r>
            <a:endParaRPr lang="en-US" sz="1100" dirty="0"/>
          </a:p>
        </p:txBody>
      </p:sp>
      <p:pic>
        <p:nvPicPr>
          <p:cNvPr id="15" name="Image 3" descr="preencoded.png">    </p:cNvPr>
          <p:cNvPicPr>
            <a:picLocks noChangeAspect="1"/>
          </p:cNvPicPr>
          <p:nvPr/>
        </p:nvPicPr>
        <p:blipFill>
          <a:blip r:embed="rId4"/>
          <a:stretch>
            <a:fillRect/>
          </a:stretch>
        </p:blipFill>
        <p:spPr>
          <a:xfrm>
            <a:off x="841248" y="2779776"/>
            <a:ext cx="237744" cy="128016"/>
          </a:xfrm>
          <a:prstGeom prst="rect">
            <a:avLst/>
          </a:prstGeom>
        </p:spPr>
      </p:pic>
      <p:sp>
        <p:nvSpPr>
          <p:cNvPr id="16" name="Shape 10"/>
          <p:cNvSpPr/>
          <p:nvPr/>
        </p:nvSpPr>
        <p:spPr>
          <a:xfrm>
            <a:off x="566928" y="2907792"/>
            <a:ext cx="6537960" cy="548640"/>
          </a:xfrm>
          <a:prstGeom prst="roundRect">
            <a:avLst>
              <a:gd name="adj" fmla="val 11667"/>
            </a:avLst>
          </a:prstGeom>
          <a:solidFill>
            <a:srgbClr val="F3F9F5"/>
          </a:solidFill>
          <a:ln w="12700">
            <a:solidFill>
              <a:srgbClr val="DCE9E1"/>
            </a:solidFill>
            <a:prstDash val="solid"/>
          </a:ln>
        </p:spPr>
      </p:sp>
      <p:sp>
        <p:nvSpPr>
          <p:cNvPr id="17" name="Shape 11"/>
          <p:cNvSpPr/>
          <p:nvPr/>
        </p:nvSpPr>
        <p:spPr>
          <a:xfrm>
            <a:off x="694944" y="2990088"/>
            <a:ext cx="384048" cy="384048"/>
          </a:xfrm>
          <a:prstGeom prst="ellipse">
            <a:avLst/>
          </a:prstGeom>
          <a:solidFill>
            <a:srgbClr val="1F7A3D"/>
          </a:solidFill>
          <a:ln/>
        </p:spPr>
      </p:sp>
      <p:pic>
        <p:nvPicPr>
          <p:cNvPr id="18" name="Image 4" descr="preencoded.png">    </p:cNvPr>
          <p:cNvPicPr>
            <a:picLocks noChangeAspect="1"/>
          </p:cNvPicPr>
          <p:nvPr/>
        </p:nvPicPr>
        <p:blipFill>
          <a:blip r:embed="rId5"/>
          <a:stretch>
            <a:fillRect/>
          </a:stretch>
        </p:blipFill>
        <p:spPr>
          <a:xfrm>
            <a:off x="795528" y="3090672"/>
            <a:ext cx="182880" cy="182880"/>
          </a:xfrm>
          <a:prstGeom prst="rect">
            <a:avLst/>
          </a:prstGeom>
        </p:spPr>
      </p:pic>
      <p:sp>
        <p:nvSpPr>
          <p:cNvPr id="19" name="Text 12"/>
          <p:cNvSpPr/>
          <p:nvPr/>
        </p:nvSpPr>
        <p:spPr>
          <a:xfrm>
            <a:off x="1225296" y="2907792"/>
            <a:ext cx="2743200" cy="548640"/>
          </a:xfrm>
          <a:prstGeom prst="rect">
            <a:avLst/>
          </a:prstGeom>
          <a:noFill/>
          <a:ln/>
        </p:spPr>
        <p:txBody>
          <a:bodyPr wrap="square" lIns="0" tIns="0" rIns="0" bIns="0" rtlCol="0" anchor="ctr"/>
          <a:lstStyle/>
          <a:p>
            <a:pPr indent="0" marL="0">
              <a:buNone/>
            </a:pPr>
            <a:r>
              <a:rPr lang="en-US" sz="1450" b="1" dirty="0">
                <a:solidFill>
                  <a:srgbClr val="1F2937"/>
                </a:solidFill>
                <a:latin typeface="Calibri" pitchFamily="34" charset="0"/>
                <a:ea typeface="Calibri" pitchFamily="34" charset="-122"/>
                <a:cs typeface="Calibri" pitchFamily="34" charset="-120"/>
              </a:rPr>
              <a:t>Routes</a:t>
            </a:r>
            <a:endParaRPr lang="en-US" sz="1450" dirty="0"/>
          </a:p>
        </p:txBody>
      </p:sp>
      <p:sp>
        <p:nvSpPr>
          <p:cNvPr id="20" name="Text 13"/>
          <p:cNvSpPr/>
          <p:nvPr/>
        </p:nvSpPr>
        <p:spPr>
          <a:xfrm>
            <a:off x="3950208" y="2907792"/>
            <a:ext cx="3063240" cy="548640"/>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Endpoint definitions + validation</a:t>
            </a:r>
            <a:endParaRPr lang="en-US" sz="1100" dirty="0"/>
          </a:p>
        </p:txBody>
      </p:sp>
      <p:pic>
        <p:nvPicPr>
          <p:cNvPr id="21" name="Image 5" descr="preencoded.png">    </p:cNvPr>
          <p:cNvPicPr>
            <a:picLocks noChangeAspect="1"/>
          </p:cNvPicPr>
          <p:nvPr/>
        </p:nvPicPr>
        <p:blipFill>
          <a:blip r:embed="rId6"/>
          <a:stretch>
            <a:fillRect/>
          </a:stretch>
        </p:blipFill>
        <p:spPr>
          <a:xfrm>
            <a:off x="841248" y="3447288"/>
            <a:ext cx="237744" cy="128016"/>
          </a:xfrm>
          <a:prstGeom prst="rect">
            <a:avLst/>
          </a:prstGeom>
        </p:spPr>
      </p:pic>
      <p:sp>
        <p:nvSpPr>
          <p:cNvPr id="22" name="Shape 14"/>
          <p:cNvSpPr/>
          <p:nvPr/>
        </p:nvSpPr>
        <p:spPr>
          <a:xfrm>
            <a:off x="566928" y="3575304"/>
            <a:ext cx="6537960" cy="548640"/>
          </a:xfrm>
          <a:prstGeom prst="roundRect">
            <a:avLst>
              <a:gd name="adj" fmla="val 11667"/>
            </a:avLst>
          </a:prstGeom>
          <a:solidFill>
            <a:srgbClr val="F3F9F5"/>
          </a:solidFill>
          <a:ln w="12700">
            <a:solidFill>
              <a:srgbClr val="DCE9E1"/>
            </a:solidFill>
            <a:prstDash val="solid"/>
          </a:ln>
        </p:spPr>
      </p:sp>
      <p:sp>
        <p:nvSpPr>
          <p:cNvPr id="23" name="Shape 15"/>
          <p:cNvSpPr/>
          <p:nvPr/>
        </p:nvSpPr>
        <p:spPr>
          <a:xfrm>
            <a:off x="694944" y="3657600"/>
            <a:ext cx="384048" cy="384048"/>
          </a:xfrm>
          <a:prstGeom prst="ellipse">
            <a:avLst/>
          </a:prstGeom>
          <a:solidFill>
            <a:srgbClr val="1F7A3D"/>
          </a:solidFill>
          <a:ln/>
        </p:spPr>
      </p:sp>
      <p:pic>
        <p:nvPicPr>
          <p:cNvPr id="24" name="Image 6" descr="preencoded.png">    </p:cNvPr>
          <p:cNvPicPr>
            <a:picLocks noChangeAspect="1"/>
          </p:cNvPicPr>
          <p:nvPr/>
        </p:nvPicPr>
        <p:blipFill>
          <a:blip r:embed="rId7"/>
          <a:stretch>
            <a:fillRect/>
          </a:stretch>
        </p:blipFill>
        <p:spPr>
          <a:xfrm>
            <a:off x="795528" y="3758184"/>
            <a:ext cx="182880" cy="182880"/>
          </a:xfrm>
          <a:prstGeom prst="rect">
            <a:avLst/>
          </a:prstGeom>
        </p:spPr>
      </p:pic>
      <p:sp>
        <p:nvSpPr>
          <p:cNvPr id="25" name="Text 16"/>
          <p:cNvSpPr/>
          <p:nvPr/>
        </p:nvSpPr>
        <p:spPr>
          <a:xfrm>
            <a:off x="1225296" y="3575304"/>
            <a:ext cx="2743200" cy="548640"/>
          </a:xfrm>
          <a:prstGeom prst="rect">
            <a:avLst/>
          </a:prstGeom>
          <a:noFill/>
          <a:ln/>
        </p:spPr>
        <p:txBody>
          <a:bodyPr wrap="square" lIns="0" tIns="0" rIns="0" bIns="0" rtlCol="0" anchor="ctr"/>
          <a:lstStyle/>
          <a:p>
            <a:pPr indent="0" marL="0">
              <a:buNone/>
            </a:pPr>
            <a:r>
              <a:rPr lang="en-US" sz="1450" b="1" dirty="0">
                <a:solidFill>
                  <a:srgbClr val="1F2937"/>
                </a:solidFill>
                <a:latin typeface="Calibri" pitchFamily="34" charset="0"/>
                <a:ea typeface="Calibri" pitchFamily="34" charset="-122"/>
                <a:cs typeface="Calibri" pitchFamily="34" charset="-120"/>
              </a:rPr>
              <a:t>Controllers</a:t>
            </a:r>
            <a:endParaRPr lang="en-US" sz="1450" dirty="0"/>
          </a:p>
        </p:txBody>
      </p:sp>
      <p:sp>
        <p:nvSpPr>
          <p:cNvPr id="26" name="Text 17"/>
          <p:cNvSpPr/>
          <p:nvPr/>
        </p:nvSpPr>
        <p:spPr>
          <a:xfrm>
            <a:off x="3950208" y="3575304"/>
            <a:ext cx="3063240" cy="548640"/>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Thin request/response handlers</a:t>
            </a:r>
            <a:endParaRPr lang="en-US" sz="1100" dirty="0"/>
          </a:p>
        </p:txBody>
      </p:sp>
      <p:pic>
        <p:nvPicPr>
          <p:cNvPr id="27" name="Image 7" descr="preencoded.png">    </p:cNvPr>
          <p:cNvPicPr>
            <a:picLocks noChangeAspect="1"/>
          </p:cNvPicPr>
          <p:nvPr/>
        </p:nvPicPr>
        <p:blipFill>
          <a:blip r:embed="rId8"/>
          <a:stretch>
            <a:fillRect/>
          </a:stretch>
        </p:blipFill>
        <p:spPr>
          <a:xfrm>
            <a:off x="841248" y="4114800"/>
            <a:ext cx="237744" cy="128016"/>
          </a:xfrm>
          <a:prstGeom prst="rect">
            <a:avLst/>
          </a:prstGeom>
        </p:spPr>
      </p:pic>
      <p:sp>
        <p:nvSpPr>
          <p:cNvPr id="28" name="Shape 18"/>
          <p:cNvSpPr/>
          <p:nvPr/>
        </p:nvSpPr>
        <p:spPr>
          <a:xfrm>
            <a:off x="566928" y="4242816"/>
            <a:ext cx="6537960" cy="548640"/>
          </a:xfrm>
          <a:prstGeom prst="roundRect">
            <a:avLst>
              <a:gd name="adj" fmla="val 11667"/>
            </a:avLst>
          </a:prstGeom>
          <a:solidFill>
            <a:srgbClr val="F3F9F5"/>
          </a:solidFill>
          <a:ln w="12700">
            <a:solidFill>
              <a:srgbClr val="DCE9E1"/>
            </a:solidFill>
            <a:prstDash val="solid"/>
          </a:ln>
        </p:spPr>
      </p:sp>
      <p:sp>
        <p:nvSpPr>
          <p:cNvPr id="29" name="Shape 19"/>
          <p:cNvSpPr/>
          <p:nvPr/>
        </p:nvSpPr>
        <p:spPr>
          <a:xfrm>
            <a:off x="694944" y="4325112"/>
            <a:ext cx="384048" cy="384048"/>
          </a:xfrm>
          <a:prstGeom prst="ellipse">
            <a:avLst/>
          </a:prstGeom>
          <a:solidFill>
            <a:srgbClr val="1F7A3D"/>
          </a:solidFill>
          <a:ln/>
        </p:spPr>
      </p:sp>
      <p:pic>
        <p:nvPicPr>
          <p:cNvPr id="30" name="Image 8" descr="preencoded.png">    </p:cNvPr>
          <p:cNvPicPr>
            <a:picLocks noChangeAspect="1"/>
          </p:cNvPicPr>
          <p:nvPr/>
        </p:nvPicPr>
        <p:blipFill>
          <a:blip r:embed="rId9"/>
          <a:stretch>
            <a:fillRect/>
          </a:stretch>
        </p:blipFill>
        <p:spPr>
          <a:xfrm>
            <a:off x="795528" y="4425696"/>
            <a:ext cx="182880" cy="182880"/>
          </a:xfrm>
          <a:prstGeom prst="rect">
            <a:avLst/>
          </a:prstGeom>
        </p:spPr>
      </p:pic>
      <p:sp>
        <p:nvSpPr>
          <p:cNvPr id="31" name="Text 20"/>
          <p:cNvSpPr/>
          <p:nvPr/>
        </p:nvSpPr>
        <p:spPr>
          <a:xfrm>
            <a:off x="1225296" y="4242816"/>
            <a:ext cx="2743200" cy="548640"/>
          </a:xfrm>
          <a:prstGeom prst="rect">
            <a:avLst/>
          </a:prstGeom>
          <a:noFill/>
          <a:ln/>
        </p:spPr>
        <p:txBody>
          <a:bodyPr wrap="square" lIns="0" tIns="0" rIns="0" bIns="0" rtlCol="0" anchor="ctr"/>
          <a:lstStyle/>
          <a:p>
            <a:pPr indent="0" marL="0">
              <a:buNone/>
            </a:pPr>
            <a:r>
              <a:rPr lang="en-US" sz="1450" b="1" dirty="0">
                <a:solidFill>
                  <a:srgbClr val="1F2937"/>
                </a:solidFill>
                <a:latin typeface="Calibri" pitchFamily="34" charset="0"/>
                <a:ea typeface="Calibri" pitchFamily="34" charset="-122"/>
                <a:cs typeface="Calibri" pitchFamily="34" charset="-120"/>
              </a:rPr>
              <a:t>Services</a:t>
            </a:r>
            <a:endParaRPr lang="en-US" sz="1450" dirty="0"/>
          </a:p>
        </p:txBody>
      </p:sp>
      <p:sp>
        <p:nvSpPr>
          <p:cNvPr id="32" name="Text 21"/>
          <p:cNvSpPr/>
          <p:nvPr/>
        </p:nvSpPr>
        <p:spPr>
          <a:xfrm>
            <a:off x="3950208" y="4242816"/>
            <a:ext cx="3063240" cy="548640"/>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Business logic + audit</a:t>
            </a:r>
            <a:endParaRPr lang="en-US" sz="1100" dirty="0"/>
          </a:p>
        </p:txBody>
      </p:sp>
      <p:pic>
        <p:nvPicPr>
          <p:cNvPr id="33" name="Image 9" descr="preencoded.png">    </p:cNvPr>
          <p:cNvPicPr>
            <a:picLocks noChangeAspect="1"/>
          </p:cNvPicPr>
          <p:nvPr/>
        </p:nvPicPr>
        <p:blipFill>
          <a:blip r:embed="rId10"/>
          <a:stretch>
            <a:fillRect/>
          </a:stretch>
        </p:blipFill>
        <p:spPr>
          <a:xfrm>
            <a:off x="841248" y="4782312"/>
            <a:ext cx="237744" cy="128016"/>
          </a:xfrm>
          <a:prstGeom prst="rect">
            <a:avLst/>
          </a:prstGeom>
        </p:spPr>
      </p:pic>
      <p:sp>
        <p:nvSpPr>
          <p:cNvPr id="34" name="Shape 22"/>
          <p:cNvSpPr/>
          <p:nvPr/>
        </p:nvSpPr>
        <p:spPr>
          <a:xfrm>
            <a:off x="566928" y="4910328"/>
            <a:ext cx="6537960" cy="548640"/>
          </a:xfrm>
          <a:prstGeom prst="roundRect">
            <a:avLst>
              <a:gd name="adj" fmla="val 11667"/>
            </a:avLst>
          </a:prstGeom>
          <a:solidFill>
            <a:srgbClr val="F3F9F5"/>
          </a:solidFill>
          <a:ln w="12700">
            <a:solidFill>
              <a:srgbClr val="DCE9E1"/>
            </a:solidFill>
            <a:prstDash val="solid"/>
          </a:ln>
        </p:spPr>
      </p:sp>
      <p:sp>
        <p:nvSpPr>
          <p:cNvPr id="35" name="Shape 23"/>
          <p:cNvSpPr/>
          <p:nvPr/>
        </p:nvSpPr>
        <p:spPr>
          <a:xfrm>
            <a:off x="694944" y="4992624"/>
            <a:ext cx="384048" cy="384048"/>
          </a:xfrm>
          <a:prstGeom prst="ellipse">
            <a:avLst/>
          </a:prstGeom>
          <a:solidFill>
            <a:srgbClr val="1F7A3D"/>
          </a:solidFill>
          <a:ln/>
        </p:spPr>
      </p:sp>
      <p:pic>
        <p:nvPicPr>
          <p:cNvPr id="36" name="Image 10" descr="preencoded.png">    </p:cNvPr>
          <p:cNvPicPr>
            <a:picLocks noChangeAspect="1"/>
          </p:cNvPicPr>
          <p:nvPr/>
        </p:nvPicPr>
        <p:blipFill>
          <a:blip r:embed="rId11"/>
          <a:stretch>
            <a:fillRect/>
          </a:stretch>
        </p:blipFill>
        <p:spPr>
          <a:xfrm>
            <a:off x="795528" y="5093208"/>
            <a:ext cx="182880" cy="182880"/>
          </a:xfrm>
          <a:prstGeom prst="rect">
            <a:avLst/>
          </a:prstGeom>
        </p:spPr>
      </p:pic>
      <p:sp>
        <p:nvSpPr>
          <p:cNvPr id="37" name="Text 24"/>
          <p:cNvSpPr/>
          <p:nvPr/>
        </p:nvSpPr>
        <p:spPr>
          <a:xfrm>
            <a:off x="1225296" y="4910328"/>
            <a:ext cx="2743200" cy="548640"/>
          </a:xfrm>
          <a:prstGeom prst="rect">
            <a:avLst/>
          </a:prstGeom>
          <a:noFill/>
          <a:ln/>
        </p:spPr>
        <p:txBody>
          <a:bodyPr wrap="square" lIns="0" tIns="0" rIns="0" bIns="0" rtlCol="0" anchor="ctr"/>
          <a:lstStyle/>
          <a:p>
            <a:pPr indent="0" marL="0">
              <a:buNone/>
            </a:pPr>
            <a:r>
              <a:rPr lang="en-US" sz="1450" b="1" dirty="0">
                <a:solidFill>
                  <a:srgbClr val="1F2937"/>
                </a:solidFill>
                <a:latin typeface="Calibri" pitchFamily="34" charset="0"/>
                <a:ea typeface="Calibri" pitchFamily="34" charset="-122"/>
                <a:cs typeface="Calibri" pitchFamily="34" charset="-120"/>
              </a:rPr>
              <a:t>Models</a:t>
            </a:r>
            <a:endParaRPr lang="en-US" sz="1450" dirty="0"/>
          </a:p>
        </p:txBody>
      </p:sp>
      <p:sp>
        <p:nvSpPr>
          <p:cNvPr id="38" name="Text 25"/>
          <p:cNvSpPr/>
          <p:nvPr/>
        </p:nvSpPr>
        <p:spPr>
          <a:xfrm>
            <a:off x="3950208" y="4910328"/>
            <a:ext cx="3063240" cy="548640"/>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Mongoose schemas</a:t>
            </a:r>
            <a:endParaRPr lang="en-US" sz="1100" dirty="0"/>
          </a:p>
        </p:txBody>
      </p:sp>
      <p:pic>
        <p:nvPicPr>
          <p:cNvPr id="39" name="Image 11" descr="preencoded.png">    </p:cNvPr>
          <p:cNvPicPr>
            <a:picLocks noChangeAspect="1"/>
          </p:cNvPicPr>
          <p:nvPr/>
        </p:nvPicPr>
        <p:blipFill>
          <a:blip r:embed="rId12"/>
          <a:stretch>
            <a:fillRect/>
          </a:stretch>
        </p:blipFill>
        <p:spPr>
          <a:xfrm>
            <a:off x="841248" y="5449824"/>
            <a:ext cx="237744" cy="128016"/>
          </a:xfrm>
          <a:prstGeom prst="rect">
            <a:avLst/>
          </a:prstGeom>
        </p:spPr>
      </p:pic>
      <p:sp>
        <p:nvSpPr>
          <p:cNvPr id="40" name="Shape 26"/>
          <p:cNvSpPr/>
          <p:nvPr/>
        </p:nvSpPr>
        <p:spPr>
          <a:xfrm>
            <a:off x="566928" y="5577840"/>
            <a:ext cx="6537960" cy="548640"/>
          </a:xfrm>
          <a:prstGeom prst="roundRect">
            <a:avLst>
              <a:gd name="adj" fmla="val 11667"/>
            </a:avLst>
          </a:prstGeom>
          <a:solidFill>
            <a:srgbClr val="123D22"/>
          </a:solidFill>
          <a:ln w="12700">
            <a:solidFill>
              <a:srgbClr val="DCE9E1"/>
            </a:solidFill>
            <a:prstDash val="solid"/>
          </a:ln>
        </p:spPr>
      </p:sp>
      <p:sp>
        <p:nvSpPr>
          <p:cNvPr id="41" name="Shape 27"/>
          <p:cNvSpPr/>
          <p:nvPr/>
        </p:nvSpPr>
        <p:spPr>
          <a:xfrm>
            <a:off x="694944" y="5660136"/>
            <a:ext cx="384048" cy="384048"/>
          </a:xfrm>
          <a:prstGeom prst="ellipse">
            <a:avLst/>
          </a:prstGeom>
          <a:solidFill>
            <a:srgbClr val="FFFFFF"/>
          </a:solidFill>
          <a:ln/>
        </p:spPr>
      </p:sp>
      <p:pic>
        <p:nvPicPr>
          <p:cNvPr id="42" name="Image 12" descr="preencoded.png">    </p:cNvPr>
          <p:cNvPicPr>
            <a:picLocks noChangeAspect="1"/>
          </p:cNvPicPr>
          <p:nvPr/>
        </p:nvPicPr>
        <p:blipFill>
          <a:blip r:embed="rId13"/>
          <a:stretch>
            <a:fillRect/>
          </a:stretch>
        </p:blipFill>
        <p:spPr>
          <a:xfrm>
            <a:off x="795528" y="5760720"/>
            <a:ext cx="182880" cy="182880"/>
          </a:xfrm>
          <a:prstGeom prst="rect">
            <a:avLst/>
          </a:prstGeom>
        </p:spPr>
      </p:pic>
      <p:sp>
        <p:nvSpPr>
          <p:cNvPr id="43" name="Text 28"/>
          <p:cNvSpPr/>
          <p:nvPr/>
        </p:nvSpPr>
        <p:spPr>
          <a:xfrm>
            <a:off x="1225296" y="5577840"/>
            <a:ext cx="2743200" cy="54864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MongoDB</a:t>
            </a:r>
            <a:endParaRPr lang="en-US" sz="1450" dirty="0"/>
          </a:p>
        </p:txBody>
      </p:sp>
      <p:sp>
        <p:nvSpPr>
          <p:cNvPr id="44" name="Text 29"/>
          <p:cNvSpPr/>
          <p:nvPr/>
        </p:nvSpPr>
        <p:spPr>
          <a:xfrm>
            <a:off x="3950208" y="5577840"/>
            <a:ext cx="3063240" cy="548640"/>
          </a:xfrm>
          <a:prstGeom prst="rect">
            <a:avLst/>
          </a:prstGeom>
          <a:noFill/>
          <a:ln/>
        </p:spPr>
        <p:txBody>
          <a:bodyPr wrap="square" lIns="0" tIns="0" rIns="0" bIns="0" rtlCol="0" anchor="ctr"/>
          <a:lstStyle/>
          <a:p>
            <a:pPr algn="r" indent="0" marL="0">
              <a:buNone/>
            </a:pPr>
            <a:r>
              <a:rPr lang="en-US" sz="1100" dirty="0">
                <a:solidFill>
                  <a:srgbClr val="D9EEE1"/>
                </a:solidFill>
                <a:latin typeface="Calibri" pitchFamily="34" charset="0"/>
                <a:ea typeface="Calibri" pitchFamily="34" charset="-122"/>
                <a:cs typeface="Calibri" pitchFamily="34" charset="-120"/>
              </a:rPr>
              <a:t>Persistent data store</a:t>
            </a:r>
            <a:endParaRPr lang="en-US" sz="1100" dirty="0"/>
          </a:p>
        </p:txBody>
      </p:sp>
      <p:sp>
        <p:nvSpPr>
          <p:cNvPr id="45" name="Shape 30"/>
          <p:cNvSpPr/>
          <p:nvPr/>
        </p:nvSpPr>
        <p:spPr>
          <a:xfrm>
            <a:off x="7406640" y="1600200"/>
            <a:ext cx="4206240" cy="4617720"/>
          </a:xfrm>
          <a:prstGeom prst="roundRect">
            <a:avLst>
              <a:gd name="adj" fmla="val 2174"/>
            </a:avLst>
          </a:prstGeom>
          <a:solidFill>
            <a:srgbClr val="F3F9F5"/>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46" name="Text 31"/>
          <p:cNvSpPr/>
          <p:nvPr/>
        </p:nvSpPr>
        <p:spPr>
          <a:xfrm>
            <a:off x="7680960" y="1828800"/>
            <a:ext cx="3657600" cy="365760"/>
          </a:xfrm>
          <a:prstGeom prst="rect">
            <a:avLst/>
          </a:prstGeom>
          <a:noFill/>
          <a:ln/>
        </p:spPr>
        <p:txBody>
          <a:bodyPr wrap="square" lIns="0" tIns="0" rIns="0" bIns="0" rtlCol="0" anchor="ctr"/>
          <a:lstStyle/>
          <a:p>
            <a:pPr indent="0" marL="0">
              <a:buNone/>
            </a:pPr>
            <a:r>
              <a:rPr lang="en-US" sz="1800" b="1" dirty="0">
                <a:solidFill>
                  <a:srgbClr val="1F7A3D"/>
                </a:solidFill>
                <a:latin typeface="Cambria" pitchFamily="34" charset="0"/>
                <a:ea typeface="Cambria" pitchFamily="34" charset="-122"/>
                <a:cs typeface="Cambria" pitchFamily="34" charset="-120"/>
              </a:rPr>
              <a:t>Why this architecture</a:t>
            </a:r>
            <a:endParaRPr lang="en-US" sz="1800" dirty="0"/>
          </a:p>
        </p:txBody>
      </p:sp>
      <p:pic>
        <p:nvPicPr>
          <p:cNvPr id="47" name="Image 13" descr="preencoded.png">    </p:cNvPr>
          <p:cNvPicPr>
            <a:picLocks noChangeAspect="1"/>
          </p:cNvPicPr>
          <p:nvPr/>
        </p:nvPicPr>
        <p:blipFill>
          <a:blip r:embed="rId14"/>
          <a:stretch>
            <a:fillRect/>
          </a:stretch>
        </p:blipFill>
        <p:spPr>
          <a:xfrm>
            <a:off x="7680960" y="2404872"/>
            <a:ext cx="274320" cy="274320"/>
          </a:xfrm>
          <a:prstGeom prst="rect">
            <a:avLst/>
          </a:prstGeom>
        </p:spPr>
      </p:pic>
      <p:sp>
        <p:nvSpPr>
          <p:cNvPr id="48" name="Text 32"/>
          <p:cNvSpPr/>
          <p:nvPr/>
        </p:nvSpPr>
        <p:spPr>
          <a:xfrm>
            <a:off x="8046720" y="2359152"/>
            <a:ext cx="3383280" cy="310896"/>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Separation of concerns</a:t>
            </a:r>
            <a:endParaRPr lang="en-US" sz="1400" dirty="0"/>
          </a:p>
        </p:txBody>
      </p:sp>
      <p:sp>
        <p:nvSpPr>
          <p:cNvPr id="49" name="Text 33"/>
          <p:cNvSpPr/>
          <p:nvPr/>
        </p:nvSpPr>
        <p:spPr>
          <a:xfrm>
            <a:off x="8046720" y="2651760"/>
            <a:ext cx="3383280" cy="54864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Each layer has one job — easy to reason about and test.</a:t>
            </a:r>
            <a:endParaRPr lang="en-US" sz="1150" dirty="0"/>
          </a:p>
        </p:txBody>
      </p:sp>
      <p:pic>
        <p:nvPicPr>
          <p:cNvPr id="50" name="Image 14" descr="preencoded.png">    </p:cNvPr>
          <p:cNvPicPr>
            <a:picLocks noChangeAspect="1"/>
          </p:cNvPicPr>
          <p:nvPr/>
        </p:nvPicPr>
        <p:blipFill>
          <a:blip r:embed="rId15"/>
          <a:stretch>
            <a:fillRect/>
          </a:stretch>
        </p:blipFill>
        <p:spPr>
          <a:xfrm>
            <a:off x="7680960" y="3337560"/>
            <a:ext cx="274320" cy="274320"/>
          </a:xfrm>
          <a:prstGeom prst="rect">
            <a:avLst/>
          </a:prstGeom>
        </p:spPr>
      </p:pic>
      <p:sp>
        <p:nvSpPr>
          <p:cNvPr id="51" name="Text 34"/>
          <p:cNvSpPr/>
          <p:nvPr/>
        </p:nvSpPr>
        <p:spPr>
          <a:xfrm>
            <a:off x="8046720" y="3291840"/>
            <a:ext cx="3383280" cy="310896"/>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Testability</a:t>
            </a:r>
            <a:endParaRPr lang="en-US" sz="1400" dirty="0"/>
          </a:p>
        </p:txBody>
      </p:sp>
      <p:sp>
        <p:nvSpPr>
          <p:cNvPr id="52" name="Text 35"/>
          <p:cNvSpPr/>
          <p:nvPr/>
        </p:nvSpPr>
        <p:spPr>
          <a:xfrm>
            <a:off x="8046720" y="3584448"/>
            <a:ext cx="3383280" cy="54864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Business logic in services is unit-tested in isolation.</a:t>
            </a:r>
            <a:endParaRPr lang="en-US" sz="1150" dirty="0"/>
          </a:p>
        </p:txBody>
      </p:sp>
      <p:pic>
        <p:nvPicPr>
          <p:cNvPr id="53" name="Image 15" descr="preencoded.png">    </p:cNvPr>
          <p:cNvPicPr>
            <a:picLocks noChangeAspect="1"/>
          </p:cNvPicPr>
          <p:nvPr/>
        </p:nvPicPr>
        <p:blipFill>
          <a:blip r:embed="rId16"/>
          <a:stretch>
            <a:fillRect/>
          </a:stretch>
        </p:blipFill>
        <p:spPr>
          <a:xfrm>
            <a:off x="7680960" y="4270248"/>
            <a:ext cx="274320" cy="274320"/>
          </a:xfrm>
          <a:prstGeom prst="rect">
            <a:avLst/>
          </a:prstGeom>
        </p:spPr>
      </p:pic>
      <p:sp>
        <p:nvSpPr>
          <p:cNvPr id="54" name="Text 36"/>
          <p:cNvSpPr/>
          <p:nvPr/>
        </p:nvSpPr>
        <p:spPr>
          <a:xfrm>
            <a:off x="8046720" y="4224528"/>
            <a:ext cx="3383280" cy="310896"/>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Maintainability</a:t>
            </a:r>
            <a:endParaRPr lang="en-US" sz="1400" dirty="0"/>
          </a:p>
        </p:txBody>
      </p:sp>
      <p:sp>
        <p:nvSpPr>
          <p:cNvPr id="55" name="Text 37"/>
          <p:cNvSpPr/>
          <p:nvPr/>
        </p:nvSpPr>
        <p:spPr>
          <a:xfrm>
            <a:off x="8046720" y="4517136"/>
            <a:ext cx="3383280" cy="54864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A shared contract (@dgp/shared) prevents duplication.</a:t>
            </a:r>
            <a:endParaRPr lang="en-US" sz="1150" dirty="0"/>
          </a:p>
        </p:txBody>
      </p:sp>
      <p:pic>
        <p:nvPicPr>
          <p:cNvPr id="56" name="Image 16" descr="preencoded.png">    </p:cNvPr>
          <p:cNvPicPr>
            <a:picLocks noChangeAspect="1"/>
          </p:cNvPicPr>
          <p:nvPr/>
        </p:nvPicPr>
        <p:blipFill>
          <a:blip r:embed="rId17"/>
          <a:stretch>
            <a:fillRect/>
          </a:stretch>
        </p:blipFill>
        <p:spPr>
          <a:xfrm>
            <a:off x="7680960" y="5202936"/>
            <a:ext cx="274320" cy="274320"/>
          </a:xfrm>
          <a:prstGeom prst="rect">
            <a:avLst/>
          </a:prstGeom>
        </p:spPr>
      </p:pic>
      <p:sp>
        <p:nvSpPr>
          <p:cNvPr id="57" name="Text 38"/>
          <p:cNvSpPr/>
          <p:nvPr/>
        </p:nvSpPr>
        <p:spPr>
          <a:xfrm>
            <a:off x="8046720" y="5157216"/>
            <a:ext cx="3383280" cy="310896"/>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Scalability</a:t>
            </a:r>
            <a:endParaRPr lang="en-US" sz="1400" dirty="0"/>
          </a:p>
        </p:txBody>
      </p:sp>
      <p:sp>
        <p:nvSpPr>
          <p:cNvPr id="58" name="Text 39"/>
          <p:cNvSpPr/>
          <p:nvPr/>
        </p:nvSpPr>
        <p:spPr>
          <a:xfrm>
            <a:off x="8046720" y="5449824"/>
            <a:ext cx="3383280" cy="54864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Stateless API scales horizontally behind a load balancer.</a:t>
            </a:r>
            <a:endParaRPr lang="en-US" sz="1150" dirty="0"/>
          </a:p>
        </p:txBody>
      </p:sp>
      <p:sp>
        <p:nvSpPr>
          <p:cNvPr id="59" name="Text 40"/>
          <p:cNvSpPr/>
          <p:nvPr/>
        </p:nvSpPr>
        <p:spPr>
          <a:xfrm>
            <a:off x="548640" y="6510528"/>
            <a:ext cx="54864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Digital Gram Panchayat  ·  v1.0.0</a:t>
            </a:r>
            <a:endParaRPr lang="en-US" sz="900" dirty="0"/>
          </a:p>
        </p:txBody>
      </p:sp>
      <p:sp>
        <p:nvSpPr>
          <p:cNvPr id="60" name="Text 41"/>
          <p:cNvSpPr/>
          <p:nvPr/>
        </p:nvSpPr>
        <p:spPr>
          <a:xfrm>
            <a:off x="11338560" y="6510528"/>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8229600" cy="274320"/>
          </a:xfrm>
          <a:prstGeom prst="rect">
            <a:avLst/>
          </a:prstGeom>
          <a:noFill/>
          <a:ln/>
        </p:spPr>
        <p:txBody>
          <a:bodyPr wrap="square" lIns="0" tIns="0" rIns="0" bIns="0" rtlCol="0" anchor="ctr"/>
          <a:lstStyle/>
          <a:p>
            <a:pPr algn="l" indent="0" marL="0">
              <a:buNone/>
            </a:pPr>
            <a:r>
              <a:rPr lang="en-US" sz="1200" b="1" spc="300" kern="0" dirty="0">
                <a:solidFill>
                  <a:srgbClr val="1F7A3D"/>
                </a:solidFill>
                <a:latin typeface="Calibri" pitchFamily="34" charset="0"/>
                <a:ea typeface="Calibri" pitchFamily="34" charset="-122"/>
                <a:cs typeface="Calibri" pitchFamily="34" charset="-120"/>
              </a:rPr>
              <a:t>FEATURE SET</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algn="l" indent="0" marL="0">
              <a:buNone/>
            </a:pPr>
            <a:r>
              <a:rPr lang="en-US" sz="3000" b="1" dirty="0">
                <a:solidFill>
                  <a:srgbClr val="1F2937"/>
                </a:solidFill>
                <a:latin typeface="Cambria" pitchFamily="34" charset="0"/>
                <a:ea typeface="Cambria" pitchFamily="34" charset="-122"/>
                <a:cs typeface="Cambria" pitchFamily="34" charset="-120"/>
              </a:rPr>
              <a:t>System Modules</a:t>
            </a:r>
            <a:endParaRPr lang="en-US" sz="3000" dirty="0"/>
          </a:p>
        </p:txBody>
      </p:sp>
      <p:sp>
        <p:nvSpPr>
          <p:cNvPr id="4" name="Text 2"/>
          <p:cNvSpPr/>
          <p:nvPr/>
        </p:nvSpPr>
        <p:spPr>
          <a:xfrm>
            <a:off x="566928" y="1417320"/>
            <a:ext cx="10972800" cy="457200"/>
          </a:xfrm>
          <a:prstGeom prst="rect">
            <a:avLst/>
          </a:prstGeom>
          <a:noFill/>
          <a:ln/>
        </p:spPr>
        <p:txBody>
          <a:bodyPr wrap="square" lIns="0" tIns="0" rIns="0" bIns="0" rtlCol="0" anchor="ctr"/>
          <a:lstStyle/>
          <a:p>
            <a:pPr indent="0" marL="0">
              <a:buNone/>
            </a:pPr>
            <a:r>
              <a:rPr lang="en-US" sz="1500" dirty="0">
                <a:solidFill>
                  <a:srgbClr val="6B7280"/>
                </a:solidFill>
                <a:latin typeface="Calibri" pitchFamily="34" charset="0"/>
                <a:ea typeface="Calibri" pitchFamily="34" charset="-122"/>
                <a:cs typeface="Calibri" pitchFamily="34" charset="-120"/>
              </a:rPr>
              <a:t>Nine cohesive modules, each built as a vertical slice: shared contract, backend, tests, then citizen and officer UI.</a:t>
            </a:r>
            <a:endParaRPr lang="en-US" sz="1500" dirty="0"/>
          </a:p>
        </p:txBody>
      </p:sp>
      <p:sp>
        <p:nvSpPr>
          <p:cNvPr id="5" name="Shape 3"/>
          <p:cNvSpPr/>
          <p:nvPr/>
        </p:nvSpPr>
        <p:spPr>
          <a:xfrm>
            <a:off x="563728" y="2057400"/>
            <a:ext cx="3566160" cy="1280160"/>
          </a:xfrm>
          <a:prstGeom prst="roundRect">
            <a:avLst>
              <a:gd name="adj" fmla="val 6429"/>
            </a:avLst>
          </a:prstGeom>
          <a:solidFill>
            <a:srgbClr val="FFFFFF"/>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6" name="Shape 4"/>
          <p:cNvSpPr/>
          <p:nvPr/>
        </p:nvSpPr>
        <p:spPr>
          <a:xfrm>
            <a:off x="801472" y="2423160"/>
            <a:ext cx="566928" cy="566928"/>
          </a:xfrm>
          <a:prstGeom prst="ellipse">
            <a:avLst/>
          </a:prstGeom>
          <a:solidFill>
            <a:srgbClr val="1F7A3D"/>
          </a:solidFill>
          <a:ln/>
        </p:spPr>
      </p:sp>
      <p:pic>
        <p:nvPicPr>
          <p:cNvPr id="7" name="Image 0" descr="preencoded.png">    </p:cNvPr>
          <p:cNvPicPr>
            <a:picLocks noChangeAspect="1"/>
          </p:cNvPicPr>
          <p:nvPr/>
        </p:nvPicPr>
        <p:blipFill>
          <a:blip r:embed="rId1"/>
          <a:stretch>
            <a:fillRect/>
          </a:stretch>
        </p:blipFill>
        <p:spPr>
          <a:xfrm>
            <a:off x="947776" y="2569464"/>
            <a:ext cx="274320" cy="274320"/>
          </a:xfrm>
          <a:prstGeom prst="rect">
            <a:avLst/>
          </a:prstGeom>
        </p:spPr>
      </p:pic>
      <p:sp>
        <p:nvSpPr>
          <p:cNvPr id="8" name="Text 5"/>
          <p:cNvSpPr/>
          <p:nvPr/>
        </p:nvSpPr>
        <p:spPr>
          <a:xfrm>
            <a:off x="1523848" y="2057400"/>
            <a:ext cx="2468880" cy="1280160"/>
          </a:xfrm>
          <a:prstGeom prst="rect">
            <a:avLst/>
          </a:prstGeom>
          <a:noFill/>
          <a:ln/>
        </p:spPr>
        <p:txBody>
          <a:bodyPr wrap="square" lIns="0" tIns="0" rIns="0" bIns="0" rtlCol="0" anchor="ctr"/>
          <a:lstStyle/>
          <a:p>
            <a:pPr indent="0" marL="0">
              <a:buNone/>
            </a:pPr>
            <a:r>
              <a:rPr lang="en-US" sz="1650" b="1" dirty="0">
                <a:solidFill>
                  <a:srgbClr val="1F2937"/>
                </a:solidFill>
                <a:latin typeface="Calibri" pitchFamily="34" charset="0"/>
                <a:ea typeface="Calibri" pitchFamily="34" charset="-122"/>
                <a:cs typeface="Calibri" pitchFamily="34" charset="-120"/>
              </a:rPr>
              <a:t>Authentication</a:t>
            </a:r>
            <a:endParaRPr lang="en-US" sz="1650" dirty="0"/>
          </a:p>
        </p:txBody>
      </p:sp>
      <p:sp>
        <p:nvSpPr>
          <p:cNvPr id="9" name="Text 6"/>
          <p:cNvSpPr/>
          <p:nvPr/>
        </p:nvSpPr>
        <p:spPr>
          <a:xfrm>
            <a:off x="3352648" y="2185416"/>
            <a:ext cx="640080" cy="320040"/>
          </a:xfrm>
          <a:prstGeom prst="rect">
            <a:avLst/>
          </a:prstGeom>
          <a:noFill/>
          <a:ln/>
        </p:spPr>
        <p:txBody>
          <a:bodyPr wrap="square" lIns="0" tIns="0" rIns="0" bIns="0" rtlCol="0" anchor="ctr"/>
          <a:lstStyle/>
          <a:p>
            <a:pPr algn="r" indent="0" marL="0">
              <a:buNone/>
            </a:pPr>
            <a:r>
              <a:rPr lang="en-US" sz="1300" b="1" dirty="0">
                <a:solidFill>
                  <a:srgbClr val="2E9E5B"/>
                </a:solidFill>
                <a:latin typeface="Cambria" pitchFamily="34" charset="0"/>
                <a:ea typeface="Cambria" pitchFamily="34" charset="-122"/>
                <a:cs typeface="Cambria" pitchFamily="34" charset="-120"/>
              </a:rPr>
              <a:t>M2</a:t>
            </a:r>
            <a:endParaRPr lang="en-US" sz="1300" dirty="0"/>
          </a:p>
        </p:txBody>
      </p:sp>
      <p:sp>
        <p:nvSpPr>
          <p:cNvPr id="10" name="Shape 7"/>
          <p:cNvSpPr/>
          <p:nvPr/>
        </p:nvSpPr>
        <p:spPr>
          <a:xfrm>
            <a:off x="4312768" y="2057400"/>
            <a:ext cx="3566160" cy="1280160"/>
          </a:xfrm>
          <a:prstGeom prst="roundRect">
            <a:avLst>
              <a:gd name="adj" fmla="val 6429"/>
            </a:avLst>
          </a:prstGeom>
          <a:solidFill>
            <a:srgbClr val="FFFFFF"/>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11" name="Shape 8"/>
          <p:cNvSpPr/>
          <p:nvPr/>
        </p:nvSpPr>
        <p:spPr>
          <a:xfrm>
            <a:off x="4550512" y="2423160"/>
            <a:ext cx="566928" cy="566928"/>
          </a:xfrm>
          <a:prstGeom prst="ellipse">
            <a:avLst/>
          </a:prstGeom>
          <a:solidFill>
            <a:srgbClr val="1F7A3D"/>
          </a:solidFill>
          <a:ln/>
        </p:spPr>
      </p:sp>
      <p:pic>
        <p:nvPicPr>
          <p:cNvPr id="12" name="Image 1" descr="preencoded.png">    </p:cNvPr>
          <p:cNvPicPr>
            <a:picLocks noChangeAspect="1"/>
          </p:cNvPicPr>
          <p:nvPr/>
        </p:nvPicPr>
        <p:blipFill>
          <a:blip r:embed="rId2"/>
          <a:stretch>
            <a:fillRect/>
          </a:stretch>
        </p:blipFill>
        <p:spPr>
          <a:xfrm>
            <a:off x="4696816" y="2569464"/>
            <a:ext cx="274320" cy="274320"/>
          </a:xfrm>
          <a:prstGeom prst="rect">
            <a:avLst/>
          </a:prstGeom>
        </p:spPr>
      </p:pic>
      <p:sp>
        <p:nvSpPr>
          <p:cNvPr id="13" name="Text 9"/>
          <p:cNvSpPr/>
          <p:nvPr/>
        </p:nvSpPr>
        <p:spPr>
          <a:xfrm>
            <a:off x="5272888" y="2057400"/>
            <a:ext cx="2468880" cy="1280160"/>
          </a:xfrm>
          <a:prstGeom prst="rect">
            <a:avLst/>
          </a:prstGeom>
          <a:noFill/>
          <a:ln/>
        </p:spPr>
        <p:txBody>
          <a:bodyPr wrap="square" lIns="0" tIns="0" rIns="0" bIns="0" rtlCol="0" anchor="ctr"/>
          <a:lstStyle/>
          <a:p>
            <a:pPr indent="0" marL="0">
              <a:buNone/>
            </a:pPr>
            <a:r>
              <a:rPr lang="en-US" sz="1650" b="1" dirty="0">
                <a:solidFill>
                  <a:srgbClr val="1F2937"/>
                </a:solidFill>
                <a:latin typeface="Calibri" pitchFamily="34" charset="0"/>
                <a:ea typeface="Calibri" pitchFamily="34" charset="-122"/>
                <a:cs typeface="Calibri" pitchFamily="34" charset="-120"/>
              </a:rPr>
              <a:t>Complaints</a:t>
            </a:r>
            <a:endParaRPr lang="en-US" sz="1650" dirty="0"/>
          </a:p>
        </p:txBody>
      </p:sp>
      <p:sp>
        <p:nvSpPr>
          <p:cNvPr id="14" name="Text 10"/>
          <p:cNvSpPr/>
          <p:nvPr/>
        </p:nvSpPr>
        <p:spPr>
          <a:xfrm>
            <a:off x="7101688" y="2185416"/>
            <a:ext cx="640080" cy="320040"/>
          </a:xfrm>
          <a:prstGeom prst="rect">
            <a:avLst/>
          </a:prstGeom>
          <a:noFill/>
          <a:ln/>
        </p:spPr>
        <p:txBody>
          <a:bodyPr wrap="square" lIns="0" tIns="0" rIns="0" bIns="0" rtlCol="0" anchor="ctr"/>
          <a:lstStyle/>
          <a:p>
            <a:pPr algn="r" indent="0" marL="0">
              <a:buNone/>
            </a:pPr>
            <a:r>
              <a:rPr lang="en-US" sz="1300" b="1" dirty="0">
                <a:solidFill>
                  <a:srgbClr val="2E9E5B"/>
                </a:solidFill>
                <a:latin typeface="Cambria" pitchFamily="34" charset="0"/>
                <a:ea typeface="Cambria" pitchFamily="34" charset="-122"/>
                <a:cs typeface="Cambria" pitchFamily="34" charset="-120"/>
              </a:rPr>
              <a:t>M3</a:t>
            </a:r>
            <a:endParaRPr lang="en-US" sz="1300" dirty="0"/>
          </a:p>
        </p:txBody>
      </p:sp>
      <p:sp>
        <p:nvSpPr>
          <p:cNvPr id="15" name="Shape 11"/>
          <p:cNvSpPr/>
          <p:nvPr/>
        </p:nvSpPr>
        <p:spPr>
          <a:xfrm>
            <a:off x="8061808" y="2057400"/>
            <a:ext cx="3566160" cy="1280160"/>
          </a:xfrm>
          <a:prstGeom prst="roundRect">
            <a:avLst>
              <a:gd name="adj" fmla="val 6429"/>
            </a:avLst>
          </a:prstGeom>
          <a:solidFill>
            <a:srgbClr val="FFFFFF"/>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16" name="Shape 12"/>
          <p:cNvSpPr/>
          <p:nvPr/>
        </p:nvSpPr>
        <p:spPr>
          <a:xfrm>
            <a:off x="8299552" y="2423160"/>
            <a:ext cx="566928" cy="566928"/>
          </a:xfrm>
          <a:prstGeom prst="ellipse">
            <a:avLst/>
          </a:prstGeom>
          <a:solidFill>
            <a:srgbClr val="1F7A3D"/>
          </a:solidFill>
          <a:ln/>
        </p:spPr>
      </p:sp>
      <p:pic>
        <p:nvPicPr>
          <p:cNvPr id="17" name="Image 2" descr="preencoded.png">    </p:cNvPr>
          <p:cNvPicPr>
            <a:picLocks noChangeAspect="1"/>
          </p:cNvPicPr>
          <p:nvPr/>
        </p:nvPicPr>
        <p:blipFill>
          <a:blip r:embed="rId3"/>
          <a:stretch>
            <a:fillRect/>
          </a:stretch>
        </p:blipFill>
        <p:spPr>
          <a:xfrm>
            <a:off x="8445856" y="2569464"/>
            <a:ext cx="274320" cy="274320"/>
          </a:xfrm>
          <a:prstGeom prst="rect">
            <a:avLst/>
          </a:prstGeom>
        </p:spPr>
      </p:pic>
      <p:sp>
        <p:nvSpPr>
          <p:cNvPr id="18" name="Text 13"/>
          <p:cNvSpPr/>
          <p:nvPr/>
        </p:nvSpPr>
        <p:spPr>
          <a:xfrm>
            <a:off x="9021928" y="2057400"/>
            <a:ext cx="2468880" cy="1280160"/>
          </a:xfrm>
          <a:prstGeom prst="rect">
            <a:avLst/>
          </a:prstGeom>
          <a:noFill/>
          <a:ln/>
        </p:spPr>
        <p:txBody>
          <a:bodyPr wrap="square" lIns="0" tIns="0" rIns="0" bIns="0" rtlCol="0" anchor="ctr"/>
          <a:lstStyle/>
          <a:p>
            <a:pPr indent="0" marL="0">
              <a:buNone/>
            </a:pPr>
            <a:r>
              <a:rPr lang="en-US" sz="1650" b="1" dirty="0">
                <a:solidFill>
                  <a:srgbClr val="1F2937"/>
                </a:solidFill>
                <a:latin typeface="Calibri" pitchFamily="34" charset="0"/>
                <a:ea typeface="Calibri" pitchFamily="34" charset="-122"/>
                <a:cs typeface="Calibri" pitchFamily="34" charset="-120"/>
              </a:rPr>
              <a:t>Notices</a:t>
            </a:r>
            <a:endParaRPr lang="en-US" sz="1650" dirty="0"/>
          </a:p>
        </p:txBody>
      </p:sp>
      <p:sp>
        <p:nvSpPr>
          <p:cNvPr id="19" name="Text 14"/>
          <p:cNvSpPr/>
          <p:nvPr/>
        </p:nvSpPr>
        <p:spPr>
          <a:xfrm>
            <a:off x="10850728" y="2185416"/>
            <a:ext cx="640080" cy="320040"/>
          </a:xfrm>
          <a:prstGeom prst="rect">
            <a:avLst/>
          </a:prstGeom>
          <a:noFill/>
          <a:ln/>
        </p:spPr>
        <p:txBody>
          <a:bodyPr wrap="square" lIns="0" tIns="0" rIns="0" bIns="0" rtlCol="0" anchor="ctr"/>
          <a:lstStyle/>
          <a:p>
            <a:pPr algn="r" indent="0" marL="0">
              <a:buNone/>
            </a:pPr>
            <a:r>
              <a:rPr lang="en-US" sz="1300" b="1" dirty="0">
                <a:solidFill>
                  <a:srgbClr val="2E9E5B"/>
                </a:solidFill>
                <a:latin typeface="Cambria" pitchFamily="34" charset="0"/>
                <a:ea typeface="Cambria" pitchFamily="34" charset="-122"/>
                <a:cs typeface="Cambria" pitchFamily="34" charset="-120"/>
              </a:rPr>
              <a:t>M4</a:t>
            </a:r>
            <a:endParaRPr lang="en-US" sz="1300" dirty="0"/>
          </a:p>
        </p:txBody>
      </p:sp>
      <p:sp>
        <p:nvSpPr>
          <p:cNvPr id="20" name="Shape 15"/>
          <p:cNvSpPr/>
          <p:nvPr/>
        </p:nvSpPr>
        <p:spPr>
          <a:xfrm>
            <a:off x="563728" y="3538728"/>
            <a:ext cx="3566160" cy="1280160"/>
          </a:xfrm>
          <a:prstGeom prst="roundRect">
            <a:avLst>
              <a:gd name="adj" fmla="val 6429"/>
            </a:avLst>
          </a:prstGeom>
          <a:solidFill>
            <a:srgbClr val="FFFFFF"/>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21" name="Shape 16"/>
          <p:cNvSpPr/>
          <p:nvPr/>
        </p:nvSpPr>
        <p:spPr>
          <a:xfrm>
            <a:off x="801472" y="3904488"/>
            <a:ext cx="566928" cy="566928"/>
          </a:xfrm>
          <a:prstGeom prst="ellipse">
            <a:avLst/>
          </a:prstGeom>
          <a:solidFill>
            <a:srgbClr val="1F7A3D"/>
          </a:solidFill>
          <a:ln/>
        </p:spPr>
      </p:sp>
      <p:pic>
        <p:nvPicPr>
          <p:cNvPr id="22" name="Image 3" descr="preencoded.png">    </p:cNvPr>
          <p:cNvPicPr>
            <a:picLocks noChangeAspect="1"/>
          </p:cNvPicPr>
          <p:nvPr/>
        </p:nvPicPr>
        <p:blipFill>
          <a:blip r:embed="rId4"/>
          <a:stretch>
            <a:fillRect/>
          </a:stretch>
        </p:blipFill>
        <p:spPr>
          <a:xfrm>
            <a:off x="947776" y="4050792"/>
            <a:ext cx="274320" cy="274320"/>
          </a:xfrm>
          <a:prstGeom prst="rect">
            <a:avLst/>
          </a:prstGeom>
        </p:spPr>
      </p:pic>
      <p:sp>
        <p:nvSpPr>
          <p:cNvPr id="23" name="Text 17"/>
          <p:cNvSpPr/>
          <p:nvPr/>
        </p:nvSpPr>
        <p:spPr>
          <a:xfrm>
            <a:off x="1523848" y="3538728"/>
            <a:ext cx="2468880" cy="1280160"/>
          </a:xfrm>
          <a:prstGeom prst="rect">
            <a:avLst/>
          </a:prstGeom>
          <a:noFill/>
          <a:ln/>
        </p:spPr>
        <p:txBody>
          <a:bodyPr wrap="square" lIns="0" tIns="0" rIns="0" bIns="0" rtlCol="0" anchor="ctr"/>
          <a:lstStyle/>
          <a:p>
            <a:pPr indent="0" marL="0">
              <a:buNone/>
            </a:pPr>
            <a:r>
              <a:rPr lang="en-US" sz="1650" b="1" dirty="0">
                <a:solidFill>
                  <a:srgbClr val="1F2937"/>
                </a:solidFill>
                <a:latin typeface="Calibri" pitchFamily="34" charset="0"/>
                <a:ea typeface="Calibri" pitchFamily="34" charset="-122"/>
                <a:cs typeface="Calibri" pitchFamily="34" charset="-120"/>
              </a:rPr>
              <a:t>Govt. Schemes</a:t>
            </a:r>
            <a:endParaRPr lang="en-US" sz="1650" dirty="0"/>
          </a:p>
        </p:txBody>
      </p:sp>
      <p:sp>
        <p:nvSpPr>
          <p:cNvPr id="24" name="Text 18"/>
          <p:cNvSpPr/>
          <p:nvPr/>
        </p:nvSpPr>
        <p:spPr>
          <a:xfrm>
            <a:off x="3352648" y="3666744"/>
            <a:ext cx="640080" cy="320040"/>
          </a:xfrm>
          <a:prstGeom prst="rect">
            <a:avLst/>
          </a:prstGeom>
          <a:noFill/>
          <a:ln/>
        </p:spPr>
        <p:txBody>
          <a:bodyPr wrap="square" lIns="0" tIns="0" rIns="0" bIns="0" rtlCol="0" anchor="ctr"/>
          <a:lstStyle/>
          <a:p>
            <a:pPr algn="r" indent="0" marL="0">
              <a:buNone/>
            </a:pPr>
            <a:r>
              <a:rPr lang="en-US" sz="1300" b="1" dirty="0">
                <a:solidFill>
                  <a:srgbClr val="2E9E5B"/>
                </a:solidFill>
                <a:latin typeface="Cambria" pitchFamily="34" charset="0"/>
                <a:ea typeface="Cambria" pitchFamily="34" charset="-122"/>
                <a:cs typeface="Cambria" pitchFamily="34" charset="-120"/>
              </a:rPr>
              <a:t>M5</a:t>
            </a:r>
            <a:endParaRPr lang="en-US" sz="1300" dirty="0"/>
          </a:p>
        </p:txBody>
      </p:sp>
      <p:sp>
        <p:nvSpPr>
          <p:cNvPr id="25" name="Shape 19"/>
          <p:cNvSpPr/>
          <p:nvPr/>
        </p:nvSpPr>
        <p:spPr>
          <a:xfrm>
            <a:off x="4312768" y="3538728"/>
            <a:ext cx="3566160" cy="1280160"/>
          </a:xfrm>
          <a:prstGeom prst="roundRect">
            <a:avLst>
              <a:gd name="adj" fmla="val 6429"/>
            </a:avLst>
          </a:prstGeom>
          <a:solidFill>
            <a:srgbClr val="FFFFFF"/>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26" name="Shape 20"/>
          <p:cNvSpPr/>
          <p:nvPr/>
        </p:nvSpPr>
        <p:spPr>
          <a:xfrm>
            <a:off x="4550512" y="3904488"/>
            <a:ext cx="566928" cy="566928"/>
          </a:xfrm>
          <a:prstGeom prst="ellipse">
            <a:avLst/>
          </a:prstGeom>
          <a:solidFill>
            <a:srgbClr val="1F7A3D"/>
          </a:solidFill>
          <a:ln/>
        </p:spPr>
      </p:sp>
      <p:pic>
        <p:nvPicPr>
          <p:cNvPr id="27" name="Image 4" descr="preencoded.png">    </p:cNvPr>
          <p:cNvPicPr>
            <a:picLocks noChangeAspect="1"/>
          </p:cNvPicPr>
          <p:nvPr/>
        </p:nvPicPr>
        <p:blipFill>
          <a:blip r:embed="rId5"/>
          <a:stretch>
            <a:fillRect/>
          </a:stretch>
        </p:blipFill>
        <p:spPr>
          <a:xfrm>
            <a:off x="4696816" y="4050792"/>
            <a:ext cx="274320" cy="274320"/>
          </a:xfrm>
          <a:prstGeom prst="rect">
            <a:avLst/>
          </a:prstGeom>
        </p:spPr>
      </p:pic>
      <p:sp>
        <p:nvSpPr>
          <p:cNvPr id="28" name="Text 21"/>
          <p:cNvSpPr/>
          <p:nvPr/>
        </p:nvSpPr>
        <p:spPr>
          <a:xfrm>
            <a:off x="5272888" y="3538728"/>
            <a:ext cx="2468880" cy="1280160"/>
          </a:xfrm>
          <a:prstGeom prst="rect">
            <a:avLst/>
          </a:prstGeom>
          <a:noFill/>
          <a:ln/>
        </p:spPr>
        <p:txBody>
          <a:bodyPr wrap="square" lIns="0" tIns="0" rIns="0" bIns="0" rtlCol="0" anchor="ctr"/>
          <a:lstStyle/>
          <a:p>
            <a:pPr indent="0" marL="0">
              <a:buNone/>
            </a:pPr>
            <a:r>
              <a:rPr lang="en-US" sz="1650" b="1" dirty="0">
                <a:solidFill>
                  <a:srgbClr val="1F2937"/>
                </a:solidFill>
                <a:latin typeface="Calibri" pitchFamily="34" charset="0"/>
                <a:ea typeface="Calibri" pitchFamily="34" charset="-122"/>
                <a:cs typeface="Calibri" pitchFamily="34" charset="-120"/>
              </a:rPr>
              <a:t>Tax</a:t>
            </a:r>
            <a:endParaRPr lang="en-US" sz="1650" dirty="0"/>
          </a:p>
        </p:txBody>
      </p:sp>
      <p:sp>
        <p:nvSpPr>
          <p:cNvPr id="29" name="Text 22"/>
          <p:cNvSpPr/>
          <p:nvPr/>
        </p:nvSpPr>
        <p:spPr>
          <a:xfrm>
            <a:off x="7101688" y="3666744"/>
            <a:ext cx="640080" cy="320040"/>
          </a:xfrm>
          <a:prstGeom prst="rect">
            <a:avLst/>
          </a:prstGeom>
          <a:noFill/>
          <a:ln/>
        </p:spPr>
        <p:txBody>
          <a:bodyPr wrap="square" lIns="0" tIns="0" rIns="0" bIns="0" rtlCol="0" anchor="ctr"/>
          <a:lstStyle/>
          <a:p>
            <a:pPr algn="r" indent="0" marL="0">
              <a:buNone/>
            </a:pPr>
            <a:r>
              <a:rPr lang="en-US" sz="1300" b="1" dirty="0">
                <a:solidFill>
                  <a:srgbClr val="2E9E5B"/>
                </a:solidFill>
                <a:latin typeface="Cambria" pitchFamily="34" charset="0"/>
                <a:ea typeface="Cambria" pitchFamily="34" charset="-122"/>
                <a:cs typeface="Cambria" pitchFamily="34" charset="-120"/>
              </a:rPr>
              <a:t>M6</a:t>
            </a:r>
            <a:endParaRPr lang="en-US" sz="1300" dirty="0"/>
          </a:p>
        </p:txBody>
      </p:sp>
      <p:sp>
        <p:nvSpPr>
          <p:cNvPr id="30" name="Shape 23"/>
          <p:cNvSpPr/>
          <p:nvPr/>
        </p:nvSpPr>
        <p:spPr>
          <a:xfrm>
            <a:off x="8061808" y="3538728"/>
            <a:ext cx="3566160" cy="1280160"/>
          </a:xfrm>
          <a:prstGeom prst="roundRect">
            <a:avLst>
              <a:gd name="adj" fmla="val 6429"/>
            </a:avLst>
          </a:prstGeom>
          <a:solidFill>
            <a:srgbClr val="FFFFFF"/>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31" name="Shape 24"/>
          <p:cNvSpPr/>
          <p:nvPr/>
        </p:nvSpPr>
        <p:spPr>
          <a:xfrm>
            <a:off x="8299552" y="3904488"/>
            <a:ext cx="566928" cy="566928"/>
          </a:xfrm>
          <a:prstGeom prst="ellipse">
            <a:avLst/>
          </a:prstGeom>
          <a:solidFill>
            <a:srgbClr val="1F7A3D"/>
          </a:solidFill>
          <a:ln/>
        </p:spPr>
      </p:sp>
      <p:pic>
        <p:nvPicPr>
          <p:cNvPr id="32" name="Image 5" descr="preencoded.png">    </p:cNvPr>
          <p:cNvPicPr>
            <a:picLocks noChangeAspect="1"/>
          </p:cNvPicPr>
          <p:nvPr/>
        </p:nvPicPr>
        <p:blipFill>
          <a:blip r:embed="rId6"/>
          <a:stretch>
            <a:fillRect/>
          </a:stretch>
        </p:blipFill>
        <p:spPr>
          <a:xfrm>
            <a:off x="8445856" y="4050792"/>
            <a:ext cx="274320" cy="274320"/>
          </a:xfrm>
          <a:prstGeom prst="rect">
            <a:avLst/>
          </a:prstGeom>
        </p:spPr>
      </p:pic>
      <p:sp>
        <p:nvSpPr>
          <p:cNvPr id="33" name="Text 25"/>
          <p:cNvSpPr/>
          <p:nvPr/>
        </p:nvSpPr>
        <p:spPr>
          <a:xfrm>
            <a:off x="9021928" y="3538728"/>
            <a:ext cx="2468880" cy="1280160"/>
          </a:xfrm>
          <a:prstGeom prst="rect">
            <a:avLst/>
          </a:prstGeom>
          <a:noFill/>
          <a:ln/>
        </p:spPr>
        <p:txBody>
          <a:bodyPr wrap="square" lIns="0" tIns="0" rIns="0" bIns="0" rtlCol="0" anchor="ctr"/>
          <a:lstStyle/>
          <a:p>
            <a:pPr indent="0" marL="0">
              <a:buNone/>
            </a:pPr>
            <a:r>
              <a:rPr lang="en-US" sz="1650" b="1" dirty="0">
                <a:solidFill>
                  <a:srgbClr val="1F2937"/>
                </a:solidFill>
                <a:latin typeface="Calibri" pitchFamily="34" charset="0"/>
                <a:ea typeface="Calibri" pitchFamily="34" charset="-122"/>
                <a:cs typeface="Calibri" pitchFamily="34" charset="-120"/>
              </a:rPr>
              <a:t>Certificates</a:t>
            </a:r>
            <a:endParaRPr lang="en-US" sz="1650" dirty="0"/>
          </a:p>
        </p:txBody>
      </p:sp>
      <p:sp>
        <p:nvSpPr>
          <p:cNvPr id="34" name="Text 26"/>
          <p:cNvSpPr/>
          <p:nvPr/>
        </p:nvSpPr>
        <p:spPr>
          <a:xfrm>
            <a:off x="10850728" y="3666744"/>
            <a:ext cx="640080" cy="320040"/>
          </a:xfrm>
          <a:prstGeom prst="rect">
            <a:avLst/>
          </a:prstGeom>
          <a:noFill/>
          <a:ln/>
        </p:spPr>
        <p:txBody>
          <a:bodyPr wrap="square" lIns="0" tIns="0" rIns="0" bIns="0" rtlCol="0" anchor="ctr"/>
          <a:lstStyle/>
          <a:p>
            <a:pPr algn="r" indent="0" marL="0">
              <a:buNone/>
            </a:pPr>
            <a:r>
              <a:rPr lang="en-US" sz="1300" b="1" dirty="0">
                <a:solidFill>
                  <a:srgbClr val="2E9E5B"/>
                </a:solidFill>
                <a:latin typeface="Cambria" pitchFamily="34" charset="0"/>
                <a:ea typeface="Cambria" pitchFamily="34" charset="-122"/>
                <a:cs typeface="Cambria" pitchFamily="34" charset="-120"/>
              </a:rPr>
              <a:t>M7</a:t>
            </a:r>
            <a:endParaRPr lang="en-US" sz="1300" dirty="0"/>
          </a:p>
        </p:txBody>
      </p:sp>
      <p:sp>
        <p:nvSpPr>
          <p:cNvPr id="35" name="Shape 27"/>
          <p:cNvSpPr/>
          <p:nvPr/>
        </p:nvSpPr>
        <p:spPr>
          <a:xfrm>
            <a:off x="563728" y="5020056"/>
            <a:ext cx="3566160" cy="1280160"/>
          </a:xfrm>
          <a:prstGeom prst="roundRect">
            <a:avLst>
              <a:gd name="adj" fmla="val 6429"/>
            </a:avLst>
          </a:prstGeom>
          <a:solidFill>
            <a:srgbClr val="FFFFFF"/>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36" name="Shape 28"/>
          <p:cNvSpPr/>
          <p:nvPr/>
        </p:nvSpPr>
        <p:spPr>
          <a:xfrm>
            <a:off x="801472" y="5385816"/>
            <a:ext cx="566928" cy="566928"/>
          </a:xfrm>
          <a:prstGeom prst="ellipse">
            <a:avLst/>
          </a:prstGeom>
          <a:solidFill>
            <a:srgbClr val="1F7A3D"/>
          </a:solidFill>
          <a:ln/>
        </p:spPr>
      </p:sp>
      <p:pic>
        <p:nvPicPr>
          <p:cNvPr id="37" name="Image 6" descr="preencoded.png">    </p:cNvPr>
          <p:cNvPicPr>
            <a:picLocks noChangeAspect="1"/>
          </p:cNvPicPr>
          <p:nvPr/>
        </p:nvPicPr>
        <p:blipFill>
          <a:blip r:embed="rId7"/>
          <a:stretch>
            <a:fillRect/>
          </a:stretch>
        </p:blipFill>
        <p:spPr>
          <a:xfrm>
            <a:off x="947776" y="5532120"/>
            <a:ext cx="274320" cy="274320"/>
          </a:xfrm>
          <a:prstGeom prst="rect">
            <a:avLst/>
          </a:prstGeom>
        </p:spPr>
      </p:pic>
      <p:sp>
        <p:nvSpPr>
          <p:cNvPr id="38" name="Text 29"/>
          <p:cNvSpPr/>
          <p:nvPr/>
        </p:nvSpPr>
        <p:spPr>
          <a:xfrm>
            <a:off x="1523848" y="5020056"/>
            <a:ext cx="2468880" cy="1280160"/>
          </a:xfrm>
          <a:prstGeom prst="rect">
            <a:avLst/>
          </a:prstGeom>
          <a:noFill/>
          <a:ln/>
        </p:spPr>
        <p:txBody>
          <a:bodyPr wrap="square" lIns="0" tIns="0" rIns="0" bIns="0" rtlCol="0" anchor="ctr"/>
          <a:lstStyle/>
          <a:p>
            <a:pPr indent="0" marL="0">
              <a:buNone/>
            </a:pPr>
            <a:r>
              <a:rPr lang="en-US" sz="1650" b="1" dirty="0">
                <a:solidFill>
                  <a:srgbClr val="1F2937"/>
                </a:solidFill>
                <a:latin typeface="Calibri" pitchFamily="34" charset="0"/>
                <a:ea typeface="Calibri" pitchFamily="34" charset="-122"/>
                <a:cs typeface="Calibri" pitchFamily="34" charset="-120"/>
              </a:rPr>
              <a:t>Dashboard</a:t>
            </a:r>
            <a:endParaRPr lang="en-US" sz="1650" dirty="0"/>
          </a:p>
        </p:txBody>
      </p:sp>
      <p:sp>
        <p:nvSpPr>
          <p:cNvPr id="39" name="Text 30"/>
          <p:cNvSpPr/>
          <p:nvPr/>
        </p:nvSpPr>
        <p:spPr>
          <a:xfrm>
            <a:off x="3352648" y="5148072"/>
            <a:ext cx="640080" cy="320040"/>
          </a:xfrm>
          <a:prstGeom prst="rect">
            <a:avLst/>
          </a:prstGeom>
          <a:noFill/>
          <a:ln/>
        </p:spPr>
        <p:txBody>
          <a:bodyPr wrap="square" lIns="0" tIns="0" rIns="0" bIns="0" rtlCol="0" anchor="ctr"/>
          <a:lstStyle/>
          <a:p>
            <a:pPr algn="r" indent="0" marL="0">
              <a:buNone/>
            </a:pPr>
            <a:r>
              <a:rPr lang="en-US" sz="1300" b="1" dirty="0">
                <a:solidFill>
                  <a:srgbClr val="2E9E5B"/>
                </a:solidFill>
                <a:latin typeface="Cambria" pitchFamily="34" charset="0"/>
                <a:ea typeface="Cambria" pitchFamily="34" charset="-122"/>
                <a:cs typeface="Cambria" pitchFamily="34" charset="-120"/>
              </a:rPr>
              <a:t>M8</a:t>
            </a:r>
            <a:endParaRPr lang="en-US" sz="1300" dirty="0"/>
          </a:p>
        </p:txBody>
      </p:sp>
      <p:sp>
        <p:nvSpPr>
          <p:cNvPr id="40" name="Shape 31"/>
          <p:cNvSpPr/>
          <p:nvPr/>
        </p:nvSpPr>
        <p:spPr>
          <a:xfrm>
            <a:off x="4312768" y="5020056"/>
            <a:ext cx="3566160" cy="1280160"/>
          </a:xfrm>
          <a:prstGeom prst="roundRect">
            <a:avLst>
              <a:gd name="adj" fmla="val 6429"/>
            </a:avLst>
          </a:prstGeom>
          <a:solidFill>
            <a:srgbClr val="FFFFFF"/>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41" name="Shape 32"/>
          <p:cNvSpPr/>
          <p:nvPr/>
        </p:nvSpPr>
        <p:spPr>
          <a:xfrm>
            <a:off x="4550512" y="5385816"/>
            <a:ext cx="566928" cy="566928"/>
          </a:xfrm>
          <a:prstGeom prst="ellipse">
            <a:avLst/>
          </a:prstGeom>
          <a:solidFill>
            <a:srgbClr val="1F7A3D"/>
          </a:solidFill>
          <a:ln/>
        </p:spPr>
      </p:sp>
      <p:pic>
        <p:nvPicPr>
          <p:cNvPr id="42" name="Image 7" descr="preencoded.png">    </p:cNvPr>
          <p:cNvPicPr>
            <a:picLocks noChangeAspect="1"/>
          </p:cNvPicPr>
          <p:nvPr/>
        </p:nvPicPr>
        <p:blipFill>
          <a:blip r:embed="rId8"/>
          <a:stretch>
            <a:fillRect/>
          </a:stretch>
        </p:blipFill>
        <p:spPr>
          <a:xfrm>
            <a:off x="4696816" y="5532120"/>
            <a:ext cx="274320" cy="274320"/>
          </a:xfrm>
          <a:prstGeom prst="rect">
            <a:avLst/>
          </a:prstGeom>
        </p:spPr>
      </p:pic>
      <p:sp>
        <p:nvSpPr>
          <p:cNvPr id="43" name="Text 33"/>
          <p:cNvSpPr/>
          <p:nvPr/>
        </p:nvSpPr>
        <p:spPr>
          <a:xfrm>
            <a:off x="5272888" y="5020056"/>
            <a:ext cx="2468880" cy="1280160"/>
          </a:xfrm>
          <a:prstGeom prst="rect">
            <a:avLst/>
          </a:prstGeom>
          <a:noFill/>
          <a:ln/>
        </p:spPr>
        <p:txBody>
          <a:bodyPr wrap="square" lIns="0" tIns="0" rIns="0" bIns="0" rtlCol="0" anchor="ctr"/>
          <a:lstStyle/>
          <a:p>
            <a:pPr indent="0" marL="0">
              <a:buNone/>
            </a:pPr>
            <a:r>
              <a:rPr lang="en-US" sz="1650" b="1" dirty="0">
                <a:solidFill>
                  <a:srgbClr val="1F2937"/>
                </a:solidFill>
                <a:latin typeface="Calibri" pitchFamily="34" charset="0"/>
                <a:ea typeface="Calibri" pitchFamily="34" charset="-122"/>
                <a:cs typeface="Calibri" pitchFamily="34" charset="-120"/>
              </a:rPr>
              <a:t>Notifications</a:t>
            </a:r>
            <a:endParaRPr lang="en-US" sz="1650" dirty="0"/>
          </a:p>
        </p:txBody>
      </p:sp>
      <p:sp>
        <p:nvSpPr>
          <p:cNvPr id="44" name="Text 34"/>
          <p:cNvSpPr/>
          <p:nvPr/>
        </p:nvSpPr>
        <p:spPr>
          <a:xfrm>
            <a:off x="7101688" y="5148072"/>
            <a:ext cx="640080" cy="320040"/>
          </a:xfrm>
          <a:prstGeom prst="rect">
            <a:avLst/>
          </a:prstGeom>
          <a:noFill/>
          <a:ln/>
        </p:spPr>
        <p:txBody>
          <a:bodyPr wrap="square" lIns="0" tIns="0" rIns="0" bIns="0" rtlCol="0" anchor="ctr"/>
          <a:lstStyle/>
          <a:p>
            <a:pPr algn="r" indent="0" marL="0">
              <a:buNone/>
            </a:pPr>
            <a:r>
              <a:rPr lang="en-US" sz="1300" b="1" dirty="0">
                <a:solidFill>
                  <a:srgbClr val="2E9E5B"/>
                </a:solidFill>
                <a:latin typeface="Cambria" pitchFamily="34" charset="0"/>
                <a:ea typeface="Cambria" pitchFamily="34" charset="-122"/>
                <a:cs typeface="Cambria" pitchFamily="34" charset="-120"/>
              </a:rPr>
              <a:t>M9</a:t>
            </a:r>
            <a:endParaRPr lang="en-US" sz="1300" dirty="0"/>
          </a:p>
        </p:txBody>
      </p:sp>
      <p:sp>
        <p:nvSpPr>
          <p:cNvPr id="45" name="Shape 35"/>
          <p:cNvSpPr/>
          <p:nvPr/>
        </p:nvSpPr>
        <p:spPr>
          <a:xfrm>
            <a:off x="8061808" y="5020056"/>
            <a:ext cx="3566160" cy="1280160"/>
          </a:xfrm>
          <a:prstGeom prst="roundRect">
            <a:avLst>
              <a:gd name="adj" fmla="val 6429"/>
            </a:avLst>
          </a:prstGeom>
          <a:solidFill>
            <a:srgbClr val="FFFFFF"/>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46" name="Shape 36"/>
          <p:cNvSpPr/>
          <p:nvPr/>
        </p:nvSpPr>
        <p:spPr>
          <a:xfrm>
            <a:off x="8299552" y="5385816"/>
            <a:ext cx="566928" cy="566928"/>
          </a:xfrm>
          <a:prstGeom prst="ellipse">
            <a:avLst/>
          </a:prstGeom>
          <a:solidFill>
            <a:srgbClr val="1F7A3D"/>
          </a:solidFill>
          <a:ln/>
        </p:spPr>
      </p:sp>
      <p:pic>
        <p:nvPicPr>
          <p:cNvPr id="47" name="Image 8" descr="preencoded.png">    </p:cNvPr>
          <p:cNvPicPr>
            <a:picLocks noChangeAspect="1"/>
          </p:cNvPicPr>
          <p:nvPr/>
        </p:nvPicPr>
        <p:blipFill>
          <a:blip r:embed="rId9"/>
          <a:stretch>
            <a:fillRect/>
          </a:stretch>
        </p:blipFill>
        <p:spPr>
          <a:xfrm>
            <a:off x="8445856" y="5532120"/>
            <a:ext cx="274320" cy="274320"/>
          </a:xfrm>
          <a:prstGeom prst="rect">
            <a:avLst/>
          </a:prstGeom>
        </p:spPr>
      </p:pic>
      <p:sp>
        <p:nvSpPr>
          <p:cNvPr id="48" name="Text 37"/>
          <p:cNvSpPr/>
          <p:nvPr/>
        </p:nvSpPr>
        <p:spPr>
          <a:xfrm>
            <a:off x="9021928" y="5020056"/>
            <a:ext cx="2468880" cy="1280160"/>
          </a:xfrm>
          <a:prstGeom prst="rect">
            <a:avLst/>
          </a:prstGeom>
          <a:noFill/>
          <a:ln/>
        </p:spPr>
        <p:txBody>
          <a:bodyPr wrap="square" lIns="0" tIns="0" rIns="0" bIns="0" rtlCol="0" anchor="ctr"/>
          <a:lstStyle/>
          <a:p>
            <a:pPr indent="0" marL="0">
              <a:buNone/>
            </a:pPr>
            <a:r>
              <a:rPr lang="en-US" sz="1650" b="1" dirty="0">
                <a:solidFill>
                  <a:srgbClr val="1F2937"/>
                </a:solidFill>
                <a:latin typeface="Calibri" pitchFamily="34" charset="0"/>
                <a:ea typeface="Calibri" pitchFamily="34" charset="-122"/>
                <a:cs typeface="Calibri" pitchFamily="34" charset="-120"/>
              </a:rPr>
              <a:t>PWA</a:t>
            </a:r>
            <a:endParaRPr lang="en-US" sz="1650" dirty="0"/>
          </a:p>
        </p:txBody>
      </p:sp>
      <p:sp>
        <p:nvSpPr>
          <p:cNvPr id="49" name="Text 38"/>
          <p:cNvSpPr/>
          <p:nvPr/>
        </p:nvSpPr>
        <p:spPr>
          <a:xfrm>
            <a:off x="10850728" y="5148072"/>
            <a:ext cx="640080" cy="320040"/>
          </a:xfrm>
          <a:prstGeom prst="rect">
            <a:avLst/>
          </a:prstGeom>
          <a:noFill/>
          <a:ln/>
        </p:spPr>
        <p:txBody>
          <a:bodyPr wrap="square" lIns="0" tIns="0" rIns="0" bIns="0" rtlCol="0" anchor="ctr"/>
          <a:lstStyle/>
          <a:p>
            <a:pPr algn="r" indent="0" marL="0">
              <a:buNone/>
            </a:pPr>
            <a:r>
              <a:rPr lang="en-US" sz="1300" b="1" dirty="0">
                <a:solidFill>
                  <a:srgbClr val="2E9E5B"/>
                </a:solidFill>
                <a:latin typeface="Cambria" pitchFamily="34" charset="0"/>
                <a:ea typeface="Cambria" pitchFamily="34" charset="-122"/>
                <a:cs typeface="Cambria" pitchFamily="34" charset="-120"/>
              </a:rPr>
              <a:t>M10</a:t>
            </a:r>
            <a:endParaRPr lang="en-US" sz="1300" dirty="0"/>
          </a:p>
        </p:txBody>
      </p:sp>
      <p:sp>
        <p:nvSpPr>
          <p:cNvPr id="50" name="Text 39"/>
          <p:cNvSpPr/>
          <p:nvPr/>
        </p:nvSpPr>
        <p:spPr>
          <a:xfrm>
            <a:off x="548640" y="6510528"/>
            <a:ext cx="54864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Digital Gram Panchayat  ·  v1.0.0</a:t>
            </a:r>
            <a:endParaRPr lang="en-US" sz="900" dirty="0"/>
          </a:p>
        </p:txBody>
      </p:sp>
      <p:sp>
        <p:nvSpPr>
          <p:cNvPr id="51" name="Text 40"/>
          <p:cNvSpPr/>
          <p:nvPr/>
        </p:nvSpPr>
        <p:spPr>
          <a:xfrm>
            <a:off x="11338560" y="6510528"/>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8229600" cy="274320"/>
          </a:xfrm>
          <a:prstGeom prst="rect">
            <a:avLst/>
          </a:prstGeom>
          <a:noFill/>
          <a:ln/>
        </p:spPr>
        <p:txBody>
          <a:bodyPr wrap="square" lIns="0" tIns="0" rIns="0" bIns="0" rtlCol="0" anchor="ctr"/>
          <a:lstStyle/>
          <a:p>
            <a:pPr algn="l" indent="0" marL="0">
              <a:buNone/>
            </a:pPr>
            <a:r>
              <a:rPr lang="en-US" sz="1200" b="1" spc="300" kern="0" dirty="0">
                <a:solidFill>
                  <a:srgbClr val="1F7A3D"/>
                </a:solidFill>
                <a:latin typeface="Calibri" pitchFamily="34" charset="0"/>
                <a:ea typeface="Calibri" pitchFamily="34" charset="-122"/>
                <a:cs typeface="Calibri" pitchFamily="34" charset="-120"/>
              </a:rPr>
              <a:t>MODULE 01</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algn="l" indent="0" marL="0">
              <a:buNone/>
            </a:pPr>
            <a:r>
              <a:rPr lang="en-US" sz="3000" b="1" dirty="0">
                <a:solidFill>
                  <a:srgbClr val="1F2937"/>
                </a:solidFill>
                <a:latin typeface="Cambria" pitchFamily="34" charset="0"/>
                <a:ea typeface="Cambria" pitchFamily="34" charset="-122"/>
                <a:cs typeface="Cambria" pitchFamily="34" charset="-120"/>
              </a:rPr>
              <a:t>Authentication &amp; Access</a:t>
            </a:r>
            <a:endParaRPr lang="en-US" sz="3000" dirty="0"/>
          </a:p>
        </p:txBody>
      </p:sp>
      <p:sp>
        <p:nvSpPr>
          <p:cNvPr id="4" name="Shape 2"/>
          <p:cNvSpPr/>
          <p:nvPr/>
        </p:nvSpPr>
        <p:spPr>
          <a:xfrm>
            <a:off x="566928" y="1783080"/>
            <a:ext cx="6400800" cy="786384"/>
          </a:xfrm>
          <a:prstGeom prst="roundRect">
            <a:avLst>
              <a:gd name="adj" fmla="val 10465"/>
            </a:avLst>
          </a:prstGeom>
          <a:solidFill>
            <a:srgbClr val="F3F9F5"/>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5" name="Shape 3"/>
          <p:cNvSpPr/>
          <p:nvPr/>
        </p:nvSpPr>
        <p:spPr>
          <a:xfrm>
            <a:off x="768096" y="1920240"/>
            <a:ext cx="512064" cy="512064"/>
          </a:xfrm>
          <a:prstGeom prst="ellipse">
            <a:avLst/>
          </a:prstGeom>
          <a:solidFill>
            <a:srgbClr val="1F7A3D"/>
          </a:solidFill>
          <a:ln/>
        </p:spPr>
      </p:sp>
      <p:pic>
        <p:nvPicPr>
          <p:cNvPr id="6" name="Image 0" descr="preencoded.png">    </p:cNvPr>
          <p:cNvPicPr>
            <a:picLocks noChangeAspect="1"/>
          </p:cNvPicPr>
          <p:nvPr/>
        </p:nvPicPr>
        <p:blipFill>
          <a:blip r:embed="rId1"/>
          <a:stretch>
            <a:fillRect/>
          </a:stretch>
        </p:blipFill>
        <p:spPr>
          <a:xfrm>
            <a:off x="905256" y="2057400"/>
            <a:ext cx="237744" cy="237744"/>
          </a:xfrm>
          <a:prstGeom prst="rect">
            <a:avLst/>
          </a:prstGeom>
        </p:spPr>
      </p:pic>
      <p:sp>
        <p:nvSpPr>
          <p:cNvPr id="7" name="Text 4"/>
          <p:cNvSpPr/>
          <p:nvPr/>
        </p:nvSpPr>
        <p:spPr>
          <a:xfrm>
            <a:off x="1463040" y="1901952"/>
            <a:ext cx="5394960" cy="310896"/>
          </a:xfrm>
          <a:prstGeom prst="rect">
            <a:avLst/>
          </a:prstGeom>
          <a:noFill/>
          <a:ln/>
        </p:spPr>
        <p:txBody>
          <a:bodyPr wrap="square" lIns="0" tIns="0" rIns="0" bIns="0" rtlCol="0" anchor="ctr"/>
          <a:lstStyle/>
          <a:p>
            <a:pPr indent="0" marL="0">
              <a:buNone/>
            </a:pPr>
            <a:r>
              <a:rPr lang="en-US" sz="1550" b="1" dirty="0">
                <a:solidFill>
                  <a:srgbClr val="1F2937"/>
                </a:solidFill>
                <a:latin typeface="Calibri" pitchFamily="34" charset="0"/>
                <a:ea typeface="Calibri" pitchFamily="34" charset="-122"/>
                <a:cs typeface="Calibri" pitchFamily="34" charset="-120"/>
              </a:rPr>
              <a:t>Citizen Registration</a:t>
            </a:r>
            <a:endParaRPr lang="en-US" sz="1550" dirty="0"/>
          </a:p>
        </p:txBody>
      </p:sp>
      <p:sp>
        <p:nvSpPr>
          <p:cNvPr id="8" name="Text 5"/>
          <p:cNvSpPr/>
          <p:nvPr/>
        </p:nvSpPr>
        <p:spPr>
          <a:xfrm>
            <a:off x="1463040" y="2203704"/>
            <a:ext cx="5394960" cy="292608"/>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Sign up with mobile number, password and address.</a:t>
            </a:r>
            <a:endParaRPr lang="en-US" sz="1150" dirty="0"/>
          </a:p>
        </p:txBody>
      </p:sp>
      <p:sp>
        <p:nvSpPr>
          <p:cNvPr id="9" name="Shape 6"/>
          <p:cNvSpPr/>
          <p:nvPr/>
        </p:nvSpPr>
        <p:spPr>
          <a:xfrm>
            <a:off x="566928" y="2660904"/>
            <a:ext cx="6400800" cy="786384"/>
          </a:xfrm>
          <a:prstGeom prst="roundRect">
            <a:avLst>
              <a:gd name="adj" fmla="val 10465"/>
            </a:avLst>
          </a:prstGeom>
          <a:solidFill>
            <a:srgbClr val="F3F9F5"/>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10" name="Shape 7"/>
          <p:cNvSpPr/>
          <p:nvPr/>
        </p:nvSpPr>
        <p:spPr>
          <a:xfrm>
            <a:off x="768096" y="2798064"/>
            <a:ext cx="512064" cy="512064"/>
          </a:xfrm>
          <a:prstGeom prst="ellipse">
            <a:avLst/>
          </a:prstGeom>
          <a:solidFill>
            <a:srgbClr val="1F7A3D"/>
          </a:solidFill>
          <a:ln/>
        </p:spPr>
      </p:sp>
      <p:pic>
        <p:nvPicPr>
          <p:cNvPr id="11" name="Image 1" descr="preencoded.png">    </p:cNvPr>
          <p:cNvPicPr>
            <a:picLocks noChangeAspect="1"/>
          </p:cNvPicPr>
          <p:nvPr/>
        </p:nvPicPr>
        <p:blipFill>
          <a:blip r:embed="rId2"/>
          <a:stretch>
            <a:fillRect/>
          </a:stretch>
        </p:blipFill>
        <p:spPr>
          <a:xfrm>
            <a:off x="905256" y="2935224"/>
            <a:ext cx="237744" cy="237744"/>
          </a:xfrm>
          <a:prstGeom prst="rect">
            <a:avLst/>
          </a:prstGeom>
        </p:spPr>
      </p:pic>
      <p:sp>
        <p:nvSpPr>
          <p:cNvPr id="12" name="Text 8"/>
          <p:cNvSpPr/>
          <p:nvPr/>
        </p:nvSpPr>
        <p:spPr>
          <a:xfrm>
            <a:off x="1463040" y="2779776"/>
            <a:ext cx="5394960" cy="310896"/>
          </a:xfrm>
          <a:prstGeom prst="rect">
            <a:avLst/>
          </a:prstGeom>
          <a:noFill/>
          <a:ln/>
        </p:spPr>
        <p:txBody>
          <a:bodyPr wrap="square" lIns="0" tIns="0" rIns="0" bIns="0" rtlCol="0" anchor="ctr"/>
          <a:lstStyle/>
          <a:p>
            <a:pPr indent="0" marL="0">
              <a:buNone/>
            </a:pPr>
            <a:r>
              <a:rPr lang="en-US" sz="1550" b="1" dirty="0">
                <a:solidFill>
                  <a:srgbClr val="1F2937"/>
                </a:solidFill>
                <a:latin typeface="Calibri" pitchFamily="34" charset="0"/>
                <a:ea typeface="Calibri" pitchFamily="34" charset="-122"/>
                <a:cs typeface="Calibri" pitchFamily="34" charset="-120"/>
              </a:rPr>
              <a:t>Citizen Login</a:t>
            </a:r>
            <a:endParaRPr lang="en-US" sz="1550" dirty="0"/>
          </a:p>
        </p:txBody>
      </p:sp>
      <p:sp>
        <p:nvSpPr>
          <p:cNvPr id="13" name="Text 9"/>
          <p:cNvSpPr/>
          <p:nvPr/>
        </p:nvSpPr>
        <p:spPr>
          <a:xfrm>
            <a:off x="1463040" y="3081528"/>
            <a:ext cx="5394960" cy="292608"/>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Mobile + password issues a signed session token.</a:t>
            </a:r>
            <a:endParaRPr lang="en-US" sz="1150" dirty="0"/>
          </a:p>
        </p:txBody>
      </p:sp>
      <p:sp>
        <p:nvSpPr>
          <p:cNvPr id="14" name="Shape 10"/>
          <p:cNvSpPr/>
          <p:nvPr/>
        </p:nvSpPr>
        <p:spPr>
          <a:xfrm>
            <a:off x="566928" y="3538728"/>
            <a:ext cx="6400800" cy="786384"/>
          </a:xfrm>
          <a:prstGeom prst="roundRect">
            <a:avLst>
              <a:gd name="adj" fmla="val 10465"/>
            </a:avLst>
          </a:prstGeom>
          <a:solidFill>
            <a:srgbClr val="F3F9F5"/>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15" name="Shape 11"/>
          <p:cNvSpPr/>
          <p:nvPr/>
        </p:nvSpPr>
        <p:spPr>
          <a:xfrm>
            <a:off x="768096" y="3675888"/>
            <a:ext cx="512064" cy="512064"/>
          </a:xfrm>
          <a:prstGeom prst="ellipse">
            <a:avLst/>
          </a:prstGeom>
          <a:solidFill>
            <a:srgbClr val="1F7A3D"/>
          </a:solidFill>
          <a:ln/>
        </p:spPr>
      </p:sp>
      <p:pic>
        <p:nvPicPr>
          <p:cNvPr id="16" name="Image 2" descr="preencoded.png">    </p:cNvPr>
          <p:cNvPicPr>
            <a:picLocks noChangeAspect="1"/>
          </p:cNvPicPr>
          <p:nvPr/>
        </p:nvPicPr>
        <p:blipFill>
          <a:blip r:embed="rId3"/>
          <a:stretch>
            <a:fillRect/>
          </a:stretch>
        </p:blipFill>
        <p:spPr>
          <a:xfrm>
            <a:off x="905256" y="3813048"/>
            <a:ext cx="237744" cy="237744"/>
          </a:xfrm>
          <a:prstGeom prst="rect">
            <a:avLst/>
          </a:prstGeom>
        </p:spPr>
      </p:pic>
      <p:sp>
        <p:nvSpPr>
          <p:cNvPr id="17" name="Text 12"/>
          <p:cNvSpPr/>
          <p:nvPr/>
        </p:nvSpPr>
        <p:spPr>
          <a:xfrm>
            <a:off x="1463040" y="3657600"/>
            <a:ext cx="5394960" cy="310896"/>
          </a:xfrm>
          <a:prstGeom prst="rect">
            <a:avLst/>
          </a:prstGeom>
          <a:noFill/>
          <a:ln/>
        </p:spPr>
        <p:txBody>
          <a:bodyPr wrap="square" lIns="0" tIns="0" rIns="0" bIns="0" rtlCol="0" anchor="ctr"/>
          <a:lstStyle/>
          <a:p>
            <a:pPr indent="0" marL="0">
              <a:buNone/>
            </a:pPr>
            <a:r>
              <a:rPr lang="en-US" sz="1550" b="1" dirty="0">
                <a:solidFill>
                  <a:srgbClr val="1F2937"/>
                </a:solidFill>
                <a:latin typeface="Calibri" pitchFamily="34" charset="0"/>
                <a:ea typeface="Calibri" pitchFamily="34" charset="-122"/>
                <a:cs typeface="Calibri" pitchFamily="34" charset="-120"/>
              </a:rPr>
              <a:t>Officer Login</a:t>
            </a:r>
            <a:endParaRPr lang="en-US" sz="1550" dirty="0"/>
          </a:p>
        </p:txBody>
      </p:sp>
      <p:sp>
        <p:nvSpPr>
          <p:cNvPr id="18" name="Text 13"/>
          <p:cNvSpPr/>
          <p:nvPr/>
        </p:nvSpPr>
        <p:spPr>
          <a:xfrm>
            <a:off x="1463040" y="3959352"/>
            <a:ext cx="5394960" cy="292608"/>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Separate email-based login for Panchayat staff.</a:t>
            </a:r>
            <a:endParaRPr lang="en-US" sz="1150" dirty="0"/>
          </a:p>
        </p:txBody>
      </p:sp>
      <p:sp>
        <p:nvSpPr>
          <p:cNvPr id="19" name="Shape 14"/>
          <p:cNvSpPr/>
          <p:nvPr/>
        </p:nvSpPr>
        <p:spPr>
          <a:xfrm>
            <a:off x="566928" y="4416552"/>
            <a:ext cx="6400800" cy="786384"/>
          </a:xfrm>
          <a:prstGeom prst="roundRect">
            <a:avLst>
              <a:gd name="adj" fmla="val 10465"/>
            </a:avLst>
          </a:prstGeom>
          <a:solidFill>
            <a:srgbClr val="F3F9F5"/>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20" name="Shape 15"/>
          <p:cNvSpPr/>
          <p:nvPr/>
        </p:nvSpPr>
        <p:spPr>
          <a:xfrm>
            <a:off x="768096" y="4553712"/>
            <a:ext cx="512064" cy="512064"/>
          </a:xfrm>
          <a:prstGeom prst="ellipse">
            <a:avLst/>
          </a:prstGeom>
          <a:solidFill>
            <a:srgbClr val="1F7A3D"/>
          </a:solidFill>
          <a:ln/>
        </p:spPr>
      </p:sp>
      <p:pic>
        <p:nvPicPr>
          <p:cNvPr id="21" name="Image 3" descr="preencoded.png">    </p:cNvPr>
          <p:cNvPicPr>
            <a:picLocks noChangeAspect="1"/>
          </p:cNvPicPr>
          <p:nvPr/>
        </p:nvPicPr>
        <p:blipFill>
          <a:blip r:embed="rId4"/>
          <a:stretch>
            <a:fillRect/>
          </a:stretch>
        </p:blipFill>
        <p:spPr>
          <a:xfrm>
            <a:off x="905256" y="4690872"/>
            <a:ext cx="237744" cy="237744"/>
          </a:xfrm>
          <a:prstGeom prst="rect">
            <a:avLst/>
          </a:prstGeom>
        </p:spPr>
      </p:pic>
      <p:sp>
        <p:nvSpPr>
          <p:cNvPr id="22" name="Text 16"/>
          <p:cNvSpPr/>
          <p:nvPr/>
        </p:nvSpPr>
        <p:spPr>
          <a:xfrm>
            <a:off x="1463040" y="4535424"/>
            <a:ext cx="5394960" cy="310896"/>
          </a:xfrm>
          <a:prstGeom prst="rect">
            <a:avLst/>
          </a:prstGeom>
          <a:noFill/>
          <a:ln/>
        </p:spPr>
        <p:txBody>
          <a:bodyPr wrap="square" lIns="0" tIns="0" rIns="0" bIns="0" rtlCol="0" anchor="ctr"/>
          <a:lstStyle/>
          <a:p>
            <a:pPr indent="0" marL="0">
              <a:buNone/>
            </a:pPr>
            <a:r>
              <a:rPr lang="en-US" sz="1550" b="1" dirty="0">
                <a:solidFill>
                  <a:srgbClr val="1F2937"/>
                </a:solidFill>
                <a:latin typeface="Calibri" pitchFamily="34" charset="0"/>
                <a:ea typeface="Calibri" pitchFamily="34" charset="-122"/>
                <a:cs typeface="Calibri" pitchFamily="34" charset="-120"/>
              </a:rPr>
              <a:t>JWT Authentication</a:t>
            </a:r>
            <a:endParaRPr lang="en-US" sz="1550" dirty="0"/>
          </a:p>
        </p:txBody>
      </p:sp>
      <p:sp>
        <p:nvSpPr>
          <p:cNvPr id="23" name="Text 17"/>
          <p:cNvSpPr/>
          <p:nvPr/>
        </p:nvSpPr>
        <p:spPr>
          <a:xfrm>
            <a:off x="1463040" y="4837176"/>
            <a:ext cx="5394960" cy="292608"/>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Stateless HS256 tokens; bcrypt-hashed passwords.</a:t>
            </a:r>
            <a:endParaRPr lang="en-US" sz="1150" dirty="0"/>
          </a:p>
        </p:txBody>
      </p:sp>
      <p:sp>
        <p:nvSpPr>
          <p:cNvPr id="24" name="Shape 18"/>
          <p:cNvSpPr/>
          <p:nvPr/>
        </p:nvSpPr>
        <p:spPr>
          <a:xfrm>
            <a:off x="566928" y="5294376"/>
            <a:ext cx="6400800" cy="786384"/>
          </a:xfrm>
          <a:prstGeom prst="roundRect">
            <a:avLst>
              <a:gd name="adj" fmla="val 10465"/>
            </a:avLst>
          </a:prstGeom>
          <a:solidFill>
            <a:srgbClr val="F3F9F5"/>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25" name="Shape 19"/>
          <p:cNvSpPr/>
          <p:nvPr/>
        </p:nvSpPr>
        <p:spPr>
          <a:xfrm>
            <a:off x="768096" y="5431536"/>
            <a:ext cx="512064" cy="512064"/>
          </a:xfrm>
          <a:prstGeom prst="ellipse">
            <a:avLst/>
          </a:prstGeom>
          <a:solidFill>
            <a:srgbClr val="1F7A3D"/>
          </a:solidFill>
          <a:ln/>
        </p:spPr>
      </p:sp>
      <p:pic>
        <p:nvPicPr>
          <p:cNvPr id="26" name="Image 4" descr="preencoded.png">    </p:cNvPr>
          <p:cNvPicPr>
            <a:picLocks noChangeAspect="1"/>
          </p:cNvPicPr>
          <p:nvPr/>
        </p:nvPicPr>
        <p:blipFill>
          <a:blip r:embed="rId5"/>
          <a:stretch>
            <a:fillRect/>
          </a:stretch>
        </p:blipFill>
        <p:spPr>
          <a:xfrm>
            <a:off x="905256" y="5568696"/>
            <a:ext cx="237744" cy="237744"/>
          </a:xfrm>
          <a:prstGeom prst="rect">
            <a:avLst/>
          </a:prstGeom>
        </p:spPr>
      </p:pic>
      <p:sp>
        <p:nvSpPr>
          <p:cNvPr id="27" name="Text 20"/>
          <p:cNvSpPr/>
          <p:nvPr/>
        </p:nvSpPr>
        <p:spPr>
          <a:xfrm>
            <a:off x="1463040" y="5413248"/>
            <a:ext cx="5394960" cy="310896"/>
          </a:xfrm>
          <a:prstGeom prst="rect">
            <a:avLst/>
          </a:prstGeom>
          <a:noFill/>
          <a:ln/>
        </p:spPr>
        <p:txBody>
          <a:bodyPr wrap="square" lIns="0" tIns="0" rIns="0" bIns="0" rtlCol="0" anchor="ctr"/>
          <a:lstStyle/>
          <a:p>
            <a:pPr indent="0" marL="0">
              <a:buNone/>
            </a:pPr>
            <a:r>
              <a:rPr lang="en-US" sz="1550" b="1" dirty="0">
                <a:solidFill>
                  <a:srgbClr val="1F2937"/>
                </a:solidFill>
                <a:latin typeface="Calibri" pitchFamily="34" charset="0"/>
                <a:ea typeface="Calibri" pitchFamily="34" charset="-122"/>
                <a:cs typeface="Calibri" pitchFamily="34" charset="-120"/>
              </a:rPr>
              <a:t>Role-Based Access</a:t>
            </a:r>
            <a:endParaRPr lang="en-US" sz="1550" dirty="0"/>
          </a:p>
        </p:txBody>
      </p:sp>
      <p:sp>
        <p:nvSpPr>
          <p:cNvPr id="28" name="Text 21"/>
          <p:cNvSpPr/>
          <p:nvPr/>
        </p:nvSpPr>
        <p:spPr>
          <a:xfrm>
            <a:off x="1463040" y="5715000"/>
            <a:ext cx="5394960" cy="292608"/>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Citizen vs Officer gates + record ownership checks.</a:t>
            </a:r>
            <a:endParaRPr lang="en-US" sz="1150" dirty="0"/>
          </a:p>
        </p:txBody>
      </p:sp>
      <p:sp>
        <p:nvSpPr>
          <p:cNvPr id="29" name="Shape 22"/>
          <p:cNvSpPr/>
          <p:nvPr/>
        </p:nvSpPr>
        <p:spPr>
          <a:xfrm>
            <a:off x="7315200" y="1783080"/>
            <a:ext cx="4297680" cy="4251960"/>
          </a:xfrm>
          <a:prstGeom prst="roundRect">
            <a:avLst>
              <a:gd name="adj" fmla="val 2151"/>
            </a:avLst>
          </a:prstGeom>
          <a:solidFill>
            <a:srgbClr val="123D22"/>
          </a:solidFill>
          <a:ln/>
          <a:effectLst>
            <a:outerShdw sx="100000" sy="100000" kx="0" ky="0" algn="bl" rotWithShape="0" blurRad="101600" dist="38100" dir="5400000">
              <a:srgbClr val="9DB4A6">
                <a:alpha val="35000"/>
              </a:srgbClr>
            </a:outerShdw>
          </a:effectLst>
        </p:spPr>
      </p:sp>
      <p:sp>
        <p:nvSpPr>
          <p:cNvPr id="30" name="Text 23"/>
          <p:cNvSpPr/>
          <p:nvPr/>
        </p:nvSpPr>
        <p:spPr>
          <a:xfrm>
            <a:off x="7589520" y="1965960"/>
            <a:ext cx="365760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Token flow</a:t>
            </a:r>
            <a:endParaRPr lang="en-US" sz="1700" dirty="0"/>
          </a:p>
        </p:txBody>
      </p:sp>
      <p:sp>
        <p:nvSpPr>
          <p:cNvPr id="31" name="Shape 24"/>
          <p:cNvSpPr/>
          <p:nvPr/>
        </p:nvSpPr>
        <p:spPr>
          <a:xfrm>
            <a:off x="7589520" y="2514600"/>
            <a:ext cx="384048" cy="384048"/>
          </a:xfrm>
          <a:prstGeom prst="ellipse">
            <a:avLst/>
          </a:prstGeom>
          <a:solidFill>
            <a:srgbClr val="2E9E5B"/>
          </a:solidFill>
          <a:ln/>
        </p:spPr>
      </p:sp>
      <p:sp>
        <p:nvSpPr>
          <p:cNvPr id="32" name="Text 25"/>
          <p:cNvSpPr/>
          <p:nvPr/>
        </p:nvSpPr>
        <p:spPr>
          <a:xfrm>
            <a:off x="7589520" y="25146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33" name="Text 26"/>
          <p:cNvSpPr/>
          <p:nvPr/>
        </p:nvSpPr>
        <p:spPr>
          <a:xfrm>
            <a:off x="8092440" y="2532888"/>
            <a:ext cx="3383280" cy="365760"/>
          </a:xfrm>
          <a:prstGeom prst="rect">
            <a:avLst/>
          </a:prstGeom>
          <a:noFill/>
          <a:ln/>
        </p:spPr>
        <p:txBody>
          <a:bodyPr wrap="square" lIns="0" tIns="0" rIns="0" bIns="0" rtlCol="0" anchor="ctr"/>
          <a:lstStyle/>
          <a:p>
            <a:pPr indent="0" marL="0">
              <a:buNone/>
            </a:pPr>
            <a:r>
              <a:rPr lang="en-US" sz="1250" dirty="0">
                <a:solidFill>
                  <a:srgbClr val="E4F3EA"/>
                </a:solidFill>
                <a:latin typeface="Calibri" pitchFamily="34" charset="0"/>
                <a:ea typeface="Calibri" pitchFamily="34" charset="-122"/>
                <a:cs typeface="Calibri" pitchFamily="34" charset="-120"/>
              </a:rPr>
              <a:t>Login credentials verified</a:t>
            </a:r>
            <a:endParaRPr lang="en-US" sz="1250" dirty="0"/>
          </a:p>
        </p:txBody>
      </p:sp>
      <p:sp>
        <p:nvSpPr>
          <p:cNvPr id="34" name="Shape 27"/>
          <p:cNvSpPr/>
          <p:nvPr/>
        </p:nvSpPr>
        <p:spPr>
          <a:xfrm>
            <a:off x="7781544" y="2898648"/>
            <a:ext cx="0" cy="292608"/>
          </a:xfrm>
          <a:prstGeom prst="line">
            <a:avLst/>
          </a:prstGeom>
          <a:noFill/>
          <a:ln w="19050">
            <a:solidFill>
              <a:srgbClr val="2E9E5B"/>
            </a:solidFill>
            <a:prstDash val="solid"/>
          </a:ln>
        </p:spPr>
      </p:sp>
      <p:sp>
        <p:nvSpPr>
          <p:cNvPr id="35" name="Shape 28"/>
          <p:cNvSpPr/>
          <p:nvPr/>
        </p:nvSpPr>
        <p:spPr>
          <a:xfrm>
            <a:off x="7589520" y="3191256"/>
            <a:ext cx="384048" cy="384048"/>
          </a:xfrm>
          <a:prstGeom prst="ellipse">
            <a:avLst/>
          </a:prstGeom>
          <a:solidFill>
            <a:srgbClr val="2E9E5B"/>
          </a:solidFill>
          <a:ln/>
        </p:spPr>
      </p:sp>
      <p:sp>
        <p:nvSpPr>
          <p:cNvPr id="36" name="Text 29"/>
          <p:cNvSpPr/>
          <p:nvPr/>
        </p:nvSpPr>
        <p:spPr>
          <a:xfrm>
            <a:off x="7589520" y="31912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37" name="Text 30"/>
          <p:cNvSpPr/>
          <p:nvPr/>
        </p:nvSpPr>
        <p:spPr>
          <a:xfrm>
            <a:off x="8092440" y="3209544"/>
            <a:ext cx="3383280" cy="365760"/>
          </a:xfrm>
          <a:prstGeom prst="rect">
            <a:avLst/>
          </a:prstGeom>
          <a:noFill/>
          <a:ln/>
        </p:spPr>
        <p:txBody>
          <a:bodyPr wrap="square" lIns="0" tIns="0" rIns="0" bIns="0" rtlCol="0" anchor="ctr"/>
          <a:lstStyle/>
          <a:p>
            <a:pPr indent="0" marL="0">
              <a:buNone/>
            </a:pPr>
            <a:r>
              <a:rPr lang="en-US" sz="1250" dirty="0">
                <a:solidFill>
                  <a:srgbClr val="E4F3EA"/>
                </a:solidFill>
                <a:latin typeface="Calibri" pitchFamily="34" charset="0"/>
                <a:ea typeface="Calibri" pitchFamily="34" charset="-122"/>
                <a:cs typeface="Calibri" pitchFamily="34" charset="-120"/>
              </a:rPr>
              <a:t>Signed JWT returned to client</a:t>
            </a:r>
            <a:endParaRPr lang="en-US" sz="1250" dirty="0"/>
          </a:p>
        </p:txBody>
      </p:sp>
      <p:sp>
        <p:nvSpPr>
          <p:cNvPr id="38" name="Shape 31"/>
          <p:cNvSpPr/>
          <p:nvPr/>
        </p:nvSpPr>
        <p:spPr>
          <a:xfrm>
            <a:off x="7781544" y="3575304"/>
            <a:ext cx="0" cy="292608"/>
          </a:xfrm>
          <a:prstGeom prst="line">
            <a:avLst/>
          </a:prstGeom>
          <a:noFill/>
          <a:ln w="19050">
            <a:solidFill>
              <a:srgbClr val="2E9E5B"/>
            </a:solidFill>
            <a:prstDash val="solid"/>
          </a:ln>
        </p:spPr>
      </p:sp>
      <p:sp>
        <p:nvSpPr>
          <p:cNvPr id="39" name="Shape 32"/>
          <p:cNvSpPr/>
          <p:nvPr/>
        </p:nvSpPr>
        <p:spPr>
          <a:xfrm>
            <a:off x="7589520" y="3867912"/>
            <a:ext cx="384048" cy="384048"/>
          </a:xfrm>
          <a:prstGeom prst="ellipse">
            <a:avLst/>
          </a:prstGeom>
          <a:solidFill>
            <a:srgbClr val="2E9E5B"/>
          </a:solidFill>
          <a:ln/>
        </p:spPr>
      </p:sp>
      <p:sp>
        <p:nvSpPr>
          <p:cNvPr id="40" name="Text 33"/>
          <p:cNvSpPr/>
          <p:nvPr/>
        </p:nvSpPr>
        <p:spPr>
          <a:xfrm>
            <a:off x="7589520" y="38679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41" name="Text 34"/>
          <p:cNvSpPr/>
          <p:nvPr/>
        </p:nvSpPr>
        <p:spPr>
          <a:xfrm>
            <a:off x="8092440" y="3886200"/>
            <a:ext cx="3383280" cy="365760"/>
          </a:xfrm>
          <a:prstGeom prst="rect">
            <a:avLst/>
          </a:prstGeom>
          <a:noFill/>
          <a:ln/>
        </p:spPr>
        <p:txBody>
          <a:bodyPr wrap="square" lIns="0" tIns="0" rIns="0" bIns="0" rtlCol="0" anchor="ctr"/>
          <a:lstStyle/>
          <a:p>
            <a:pPr indent="0" marL="0">
              <a:buNone/>
            </a:pPr>
            <a:r>
              <a:rPr lang="en-US" sz="1250" dirty="0">
                <a:solidFill>
                  <a:srgbClr val="E4F3EA"/>
                </a:solidFill>
                <a:latin typeface="Calibri" pitchFamily="34" charset="0"/>
                <a:ea typeface="Calibri" pitchFamily="34" charset="-122"/>
                <a:cs typeface="Calibri" pitchFamily="34" charset="-120"/>
              </a:rPr>
              <a:t>Token sent on every request</a:t>
            </a:r>
            <a:endParaRPr lang="en-US" sz="1250" dirty="0"/>
          </a:p>
        </p:txBody>
      </p:sp>
      <p:sp>
        <p:nvSpPr>
          <p:cNvPr id="42" name="Shape 35"/>
          <p:cNvSpPr/>
          <p:nvPr/>
        </p:nvSpPr>
        <p:spPr>
          <a:xfrm>
            <a:off x="7781544" y="4251960"/>
            <a:ext cx="0" cy="292608"/>
          </a:xfrm>
          <a:prstGeom prst="line">
            <a:avLst/>
          </a:prstGeom>
          <a:noFill/>
          <a:ln w="19050">
            <a:solidFill>
              <a:srgbClr val="2E9E5B"/>
            </a:solidFill>
            <a:prstDash val="solid"/>
          </a:ln>
        </p:spPr>
      </p:sp>
      <p:sp>
        <p:nvSpPr>
          <p:cNvPr id="43" name="Shape 36"/>
          <p:cNvSpPr/>
          <p:nvPr/>
        </p:nvSpPr>
        <p:spPr>
          <a:xfrm>
            <a:off x="7589520" y="4544568"/>
            <a:ext cx="384048" cy="384048"/>
          </a:xfrm>
          <a:prstGeom prst="ellipse">
            <a:avLst/>
          </a:prstGeom>
          <a:solidFill>
            <a:srgbClr val="2E9E5B"/>
          </a:solidFill>
          <a:ln/>
        </p:spPr>
      </p:sp>
      <p:sp>
        <p:nvSpPr>
          <p:cNvPr id="44" name="Text 37"/>
          <p:cNvSpPr/>
          <p:nvPr/>
        </p:nvSpPr>
        <p:spPr>
          <a:xfrm>
            <a:off x="7589520" y="45445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45" name="Text 38"/>
          <p:cNvSpPr/>
          <p:nvPr/>
        </p:nvSpPr>
        <p:spPr>
          <a:xfrm>
            <a:off x="8092440" y="4562856"/>
            <a:ext cx="3383280" cy="365760"/>
          </a:xfrm>
          <a:prstGeom prst="rect">
            <a:avLst/>
          </a:prstGeom>
          <a:noFill/>
          <a:ln/>
        </p:spPr>
        <p:txBody>
          <a:bodyPr wrap="square" lIns="0" tIns="0" rIns="0" bIns="0" rtlCol="0" anchor="ctr"/>
          <a:lstStyle/>
          <a:p>
            <a:pPr indent="0" marL="0">
              <a:buNone/>
            </a:pPr>
            <a:r>
              <a:rPr lang="en-US" sz="1250" dirty="0">
                <a:solidFill>
                  <a:srgbClr val="E4F3EA"/>
                </a:solidFill>
                <a:latin typeface="Calibri" pitchFamily="34" charset="0"/>
                <a:ea typeface="Calibri" pitchFamily="34" charset="-122"/>
                <a:cs typeface="Calibri" pitchFamily="34" charset="-120"/>
              </a:rPr>
              <a:t>Middleware checks role + owner</a:t>
            </a:r>
            <a:endParaRPr lang="en-US" sz="1250" dirty="0"/>
          </a:p>
        </p:txBody>
      </p:sp>
      <p:sp>
        <p:nvSpPr>
          <p:cNvPr id="46" name="Shape 39"/>
          <p:cNvSpPr/>
          <p:nvPr/>
        </p:nvSpPr>
        <p:spPr>
          <a:xfrm>
            <a:off x="7781544" y="4928616"/>
            <a:ext cx="0" cy="292608"/>
          </a:xfrm>
          <a:prstGeom prst="line">
            <a:avLst/>
          </a:prstGeom>
          <a:noFill/>
          <a:ln w="19050">
            <a:solidFill>
              <a:srgbClr val="2E9E5B"/>
            </a:solidFill>
            <a:prstDash val="solid"/>
          </a:ln>
        </p:spPr>
      </p:sp>
      <p:sp>
        <p:nvSpPr>
          <p:cNvPr id="47" name="Shape 40"/>
          <p:cNvSpPr/>
          <p:nvPr/>
        </p:nvSpPr>
        <p:spPr>
          <a:xfrm>
            <a:off x="7589520" y="5221224"/>
            <a:ext cx="384048" cy="384048"/>
          </a:xfrm>
          <a:prstGeom prst="ellipse">
            <a:avLst/>
          </a:prstGeom>
          <a:solidFill>
            <a:srgbClr val="2E9E5B"/>
          </a:solidFill>
          <a:ln/>
        </p:spPr>
      </p:sp>
      <p:sp>
        <p:nvSpPr>
          <p:cNvPr id="48" name="Text 41"/>
          <p:cNvSpPr/>
          <p:nvPr/>
        </p:nvSpPr>
        <p:spPr>
          <a:xfrm>
            <a:off x="7589520" y="52212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49" name="Text 42"/>
          <p:cNvSpPr/>
          <p:nvPr/>
        </p:nvSpPr>
        <p:spPr>
          <a:xfrm>
            <a:off x="8092440" y="5239512"/>
            <a:ext cx="3383280" cy="365760"/>
          </a:xfrm>
          <a:prstGeom prst="rect">
            <a:avLst/>
          </a:prstGeom>
          <a:noFill/>
          <a:ln/>
        </p:spPr>
        <p:txBody>
          <a:bodyPr wrap="square" lIns="0" tIns="0" rIns="0" bIns="0" rtlCol="0" anchor="ctr"/>
          <a:lstStyle/>
          <a:p>
            <a:pPr indent="0" marL="0">
              <a:buNone/>
            </a:pPr>
            <a:r>
              <a:rPr lang="en-US" sz="1250" dirty="0">
                <a:solidFill>
                  <a:srgbClr val="E4F3EA"/>
                </a:solidFill>
                <a:latin typeface="Calibri" pitchFamily="34" charset="0"/>
                <a:ea typeface="Calibri" pitchFamily="34" charset="-122"/>
                <a:cs typeface="Calibri" pitchFamily="34" charset="-120"/>
              </a:rPr>
              <a:t>Access granted or 401 / 403</a:t>
            </a:r>
            <a:endParaRPr lang="en-US" sz="1250" dirty="0"/>
          </a:p>
        </p:txBody>
      </p:sp>
      <p:sp>
        <p:nvSpPr>
          <p:cNvPr id="50" name="Text 43"/>
          <p:cNvSpPr/>
          <p:nvPr/>
        </p:nvSpPr>
        <p:spPr>
          <a:xfrm>
            <a:off x="548640" y="6510528"/>
            <a:ext cx="54864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Digital Gram Panchayat  ·  v1.0.0</a:t>
            </a:r>
            <a:endParaRPr lang="en-US" sz="900" dirty="0"/>
          </a:p>
        </p:txBody>
      </p:sp>
      <p:sp>
        <p:nvSpPr>
          <p:cNvPr id="51" name="Text 44"/>
          <p:cNvSpPr/>
          <p:nvPr/>
        </p:nvSpPr>
        <p:spPr>
          <a:xfrm>
            <a:off x="11338560" y="6510528"/>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8229600" cy="274320"/>
          </a:xfrm>
          <a:prstGeom prst="rect">
            <a:avLst/>
          </a:prstGeom>
          <a:noFill/>
          <a:ln/>
        </p:spPr>
        <p:txBody>
          <a:bodyPr wrap="square" lIns="0" tIns="0" rIns="0" bIns="0" rtlCol="0" anchor="ctr"/>
          <a:lstStyle/>
          <a:p>
            <a:pPr algn="l" indent="0" marL="0">
              <a:buNone/>
            </a:pPr>
            <a:r>
              <a:rPr lang="en-US" sz="1200" b="1" spc="300" kern="0" dirty="0">
                <a:solidFill>
                  <a:srgbClr val="1F7A3D"/>
                </a:solidFill>
                <a:latin typeface="Calibri" pitchFamily="34" charset="0"/>
                <a:ea typeface="Calibri" pitchFamily="34" charset="-122"/>
                <a:cs typeface="Calibri" pitchFamily="34" charset="-120"/>
              </a:rPr>
              <a:t>MODULE 02</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algn="l" indent="0" marL="0">
              <a:buNone/>
            </a:pPr>
            <a:r>
              <a:rPr lang="en-US" sz="3000" b="1" dirty="0">
                <a:solidFill>
                  <a:srgbClr val="1F2937"/>
                </a:solidFill>
                <a:latin typeface="Cambria" pitchFamily="34" charset="0"/>
                <a:ea typeface="Cambria" pitchFamily="34" charset="-122"/>
                <a:cs typeface="Cambria" pitchFamily="34" charset="-120"/>
              </a:rPr>
              <a:t>Complaint Management</a:t>
            </a:r>
            <a:endParaRPr lang="en-US" sz="3000" dirty="0"/>
          </a:p>
        </p:txBody>
      </p:sp>
      <p:sp>
        <p:nvSpPr>
          <p:cNvPr id="4" name="Shape 2"/>
          <p:cNvSpPr/>
          <p:nvPr/>
        </p:nvSpPr>
        <p:spPr>
          <a:xfrm>
            <a:off x="566928" y="1737360"/>
            <a:ext cx="5532120" cy="2468880"/>
          </a:xfrm>
          <a:prstGeom prst="roundRect">
            <a:avLst>
              <a:gd name="adj" fmla="val 3704"/>
            </a:avLst>
          </a:prstGeom>
          <a:solidFill>
            <a:srgbClr val="FFFFFF"/>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5" name="Shape 3"/>
          <p:cNvSpPr/>
          <p:nvPr/>
        </p:nvSpPr>
        <p:spPr>
          <a:xfrm>
            <a:off x="566928" y="1737360"/>
            <a:ext cx="5532120" cy="566928"/>
          </a:xfrm>
          <a:prstGeom prst="roundRect">
            <a:avLst>
              <a:gd name="adj" fmla="val 16129"/>
            </a:avLst>
          </a:prstGeom>
          <a:solidFill>
            <a:srgbClr val="1F7A3D"/>
          </a:solidFill>
          <a:ln/>
        </p:spPr>
      </p:sp>
      <p:sp>
        <p:nvSpPr>
          <p:cNvPr id="6" name="Text 4"/>
          <p:cNvSpPr/>
          <p:nvPr/>
        </p:nvSpPr>
        <p:spPr>
          <a:xfrm>
            <a:off x="795528" y="1737360"/>
            <a:ext cx="5120640" cy="56692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Citizen features</a:t>
            </a:r>
            <a:endParaRPr lang="en-US" sz="1500" dirty="0"/>
          </a:p>
        </p:txBody>
      </p:sp>
      <p:sp>
        <p:nvSpPr>
          <p:cNvPr id="7" name="Shape 5"/>
          <p:cNvSpPr/>
          <p:nvPr/>
        </p:nvSpPr>
        <p:spPr>
          <a:xfrm>
            <a:off x="795528" y="2487168"/>
            <a:ext cx="402336" cy="402336"/>
          </a:xfrm>
          <a:prstGeom prst="ellipse">
            <a:avLst/>
          </a:prstGeom>
          <a:solidFill>
            <a:srgbClr val="E8F3EC"/>
          </a:solidFill>
          <a:ln/>
        </p:spPr>
      </p:sp>
      <p:pic>
        <p:nvPicPr>
          <p:cNvPr id="8" name="Image 0" descr="preencoded.png">    </p:cNvPr>
          <p:cNvPicPr>
            <a:picLocks noChangeAspect="1"/>
          </p:cNvPicPr>
          <p:nvPr/>
        </p:nvPicPr>
        <p:blipFill>
          <a:blip r:embed="rId1"/>
          <a:stretch>
            <a:fillRect/>
          </a:stretch>
        </p:blipFill>
        <p:spPr>
          <a:xfrm>
            <a:off x="905256" y="2596896"/>
            <a:ext cx="182880" cy="182880"/>
          </a:xfrm>
          <a:prstGeom prst="rect">
            <a:avLst/>
          </a:prstGeom>
        </p:spPr>
      </p:pic>
      <p:sp>
        <p:nvSpPr>
          <p:cNvPr id="9" name="Text 6"/>
          <p:cNvSpPr/>
          <p:nvPr/>
        </p:nvSpPr>
        <p:spPr>
          <a:xfrm>
            <a:off x="1316736" y="2487168"/>
            <a:ext cx="4617720" cy="402336"/>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File with category, photos &amp; GPS</a:t>
            </a:r>
            <a:endParaRPr lang="en-US" sz="1250" dirty="0"/>
          </a:p>
        </p:txBody>
      </p:sp>
      <p:sp>
        <p:nvSpPr>
          <p:cNvPr id="10" name="Shape 7"/>
          <p:cNvSpPr/>
          <p:nvPr/>
        </p:nvSpPr>
        <p:spPr>
          <a:xfrm>
            <a:off x="795528" y="2916936"/>
            <a:ext cx="402336" cy="402336"/>
          </a:xfrm>
          <a:prstGeom prst="ellipse">
            <a:avLst/>
          </a:prstGeom>
          <a:solidFill>
            <a:srgbClr val="E8F3EC"/>
          </a:solidFill>
          <a:ln/>
        </p:spPr>
      </p:sp>
      <p:pic>
        <p:nvPicPr>
          <p:cNvPr id="11" name="Image 1" descr="preencoded.png">    </p:cNvPr>
          <p:cNvPicPr>
            <a:picLocks noChangeAspect="1"/>
          </p:cNvPicPr>
          <p:nvPr/>
        </p:nvPicPr>
        <p:blipFill>
          <a:blip r:embed="rId2"/>
          <a:stretch>
            <a:fillRect/>
          </a:stretch>
        </p:blipFill>
        <p:spPr>
          <a:xfrm>
            <a:off x="905256" y="3026664"/>
            <a:ext cx="182880" cy="182880"/>
          </a:xfrm>
          <a:prstGeom prst="rect">
            <a:avLst/>
          </a:prstGeom>
        </p:spPr>
      </p:pic>
      <p:sp>
        <p:nvSpPr>
          <p:cNvPr id="12" name="Text 8"/>
          <p:cNvSpPr/>
          <p:nvPr/>
        </p:nvSpPr>
        <p:spPr>
          <a:xfrm>
            <a:off x="1316736" y="2916936"/>
            <a:ext cx="4617720" cy="402336"/>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Track status &amp; timeline</a:t>
            </a:r>
            <a:endParaRPr lang="en-US" sz="1250" dirty="0"/>
          </a:p>
        </p:txBody>
      </p:sp>
      <p:sp>
        <p:nvSpPr>
          <p:cNvPr id="13" name="Shape 9"/>
          <p:cNvSpPr/>
          <p:nvPr/>
        </p:nvSpPr>
        <p:spPr>
          <a:xfrm>
            <a:off x="795528" y="3346704"/>
            <a:ext cx="402336" cy="402336"/>
          </a:xfrm>
          <a:prstGeom prst="ellipse">
            <a:avLst/>
          </a:prstGeom>
          <a:solidFill>
            <a:srgbClr val="E8F3EC"/>
          </a:solidFill>
          <a:ln/>
        </p:spPr>
      </p:sp>
      <p:pic>
        <p:nvPicPr>
          <p:cNvPr id="14" name="Image 2" descr="preencoded.png">    </p:cNvPr>
          <p:cNvPicPr>
            <a:picLocks noChangeAspect="1"/>
          </p:cNvPicPr>
          <p:nvPr/>
        </p:nvPicPr>
        <p:blipFill>
          <a:blip r:embed="rId3"/>
          <a:stretch>
            <a:fillRect/>
          </a:stretch>
        </p:blipFill>
        <p:spPr>
          <a:xfrm>
            <a:off x="905256" y="3456432"/>
            <a:ext cx="182880" cy="182880"/>
          </a:xfrm>
          <a:prstGeom prst="rect">
            <a:avLst/>
          </a:prstGeom>
        </p:spPr>
      </p:pic>
      <p:sp>
        <p:nvSpPr>
          <p:cNvPr id="15" name="Text 10"/>
          <p:cNvSpPr/>
          <p:nvPr/>
        </p:nvSpPr>
        <p:spPr>
          <a:xfrm>
            <a:off x="1316736" y="3346704"/>
            <a:ext cx="4617720" cy="402336"/>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Get notified on updates</a:t>
            </a:r>
            <a:endParaRPr lang="en-US" sz="1250" dirty="0"/>
          </a:p>
        </p:txBody>
      </p:sp>
      <p:sp>
        <p:nvSpPr>
          <p:cNvPr id="16" name="Shape 11"/>
          <p:cNvSpPr/>
          <p:nvPr/>
        </p:nvSpPr>
        <p:spPr>
          <a:xfrm>
            <a:off x="795528" y="3776472"/>
            <a:ext cx="402336" cy="402336"/>
          </a:xfrm>
          <a:prstGeom prst="ellipse">
            <a:avLst/>
          </a:prstGeom>
          <a:solidFill>
            <a:srgbClr val="E8F3EC"/>
          </a:solidFill>
          <a:ln/>
        </p:spPr>
      </p:sp>
      <p:pic>
        <p:nvPicPr>
          <p:cNvPr id="17" name="Image 3" descr="preencoded.png">    </p:cNvPr>
          <p:cNvPicPr>
            <a:picLocks noChangeAspect="1"/>
          </p:cNvPicPr>
          <p:nvPr/>
        </p:nvPicPr>
        <p:blipFill>
          <a:blip r:embed="rId4"/>
          <a:stretch>
            <a:fillRect/>
          </a:stretch>
        </p:blipFill>
        <p:spPr>
          <a:xfrm>
            <a:off x="905256" y="3886200"/>
            <a:ext cx="182880" cy="182880"/>
          </a:xfrm>
          <a:prstGeom prst="rect">
            <a:avLst/>
          </a:prstGeom>
        </p:spPr>
      </p:pic>
      <p:sp>
        <p:nvSpPr>
          <p:cNvPr id="18" name="Text 12"/>
          <p:cNvSpPr/>
          <p:nvPr/>
        </p:nvSpPr>
        <p:spPr>
          <a:xfrm>
            <a:off x="1316736" y="3776472"/>
            <a:ext cx="4617720" cy="402336"/>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Submit offline — auto-sync later</a:t>
            </a:r>
            <a:endParaRPr lang="en-US" sz="1250" dirty="0"/>
          </a:p>
        </p:txBody>
      </p:sp>
      <p:sp>
        <p:nvSpPr>
          <p:cNvPr id="19" name="Shape 13"/>
          <p:cNvSpPr/>
          <p:nvPr/>
        </p:nvSpPr>
        <p:spPr>
          <a:xfrm>
            <a:off x="6309360" y="1737360"/>
            <a:ext cx="5532120" cy="2468880"/>
          </a:xfrm>
          <a:prstGeom prst="roundRect">
            <a:avLst>
              <a:gd name="adj" fmla="val 3704"/>
            </a:avLst>
          </a:prstGeom>
          <a:solidFill>
            <a:srgbClr val="FFFFFF"/>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20" name="Shape 14"/>
          <p:cNvSpPr/>
          <p:nvPr/>
        </p:nvSpPr>
        <p:spPr>
          <a:xfrm>
            <a:off x="6309360" y="1737360"/>
            <a:ext cx="5532120" cy="566928"/>
          </a:xfrm>
          <a:prstGeom prst="roundRect">
            <a:avLst>
              <a:gd name="adj" fmla="val 16129"/>
            </a:avLst>
          </a:prstGeom>
          <a:solidFill>
            <a:srgbClr val="123D22"/>
          </a:solidFill>
          <a:ln/>
        </p:spPr>
      </p:sp>
      <p:sp>
        <p:nvSpPr>
          <p:cNvPr id="21" name="Text 15"/>
          <p:cNvSpPr/>
          <p:nvPr/>
        </p:nvSpPr>
        <p:spPr>
          <a:xfrm>
            <a:off x="6537960" y="1737360"/>
            <a:ext cx="5120640" cy="56692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Officer features</a:t>
            </a:r>
            <a:endParaRPr lang="en-US" sz="1500" dirty="0"/>
          </a:p>
        </p:txBody>
      </p:sp>
      <p:sp>
        <p:nvSpPr>
          <p:cNvPr id="22" name="Shape 16"/>
          <p:cNvSpPr/>
          <p:nvPr/>
        </p:nvSpPr>
        <p:spPr>
          <a:xfrm>
            <a:off x="6537960" y="2487168"/>
            <a:ext cx="402336" cy="402336"/>
          </a:xfrm>
          <a:prstGeom prst="ellipse">
            <a:avLst/>
          </a:prstGeom>
          <a:solidFill>
            <a:srgbClr val="E8F3EC"/>
          </a:solidFill>
          <a:ln/>
        </p:spPr>
      </p:sp>
      <p:pic>
        <p:nvPicPr>
          <p:cNvPr id="23" name="Image 4" descr="preencoded.png">    </p:cNvPr>
          <p:cNvPicPr>
            <a:picLocks noChangeAspect="1"/>
          </p:cNvPicPr>
          <p:nvPr/>
        </p:nvPicPr>
        <p:blipFill>
          <a:blip r:embed="rId5"/>
          <a:stretch>
            <a:fillRect/>
          </a:stretch>
        </p:blipFill>
        <p:spPr>
          <a:xfrm>
            <a:off x="6647688" y="2596896"/>
            <a:ext cx="182880" cy="182880"/>
          </a:xfrm>
          <a:prstGeom prst="rect">
            <a:avLst/>
          </a:prstGeom>
        </p:spPr>
      </p:pic>
      <p:sp>
        <p:nvSpPr>
          <p:cNvPr id="24" name="Text 17"/>
          <p:cNvSpPr/>
          <p:nvPr/>
        </p:nvSpPr>
        <p:spPr>
          <a:xfrm>
            <a:off x="7059168" y="2487168"/>
            <a:ext cx="4617720" cy="402336"/>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View, search &amp; filter all complaints</a:t>
            </a:r>
            <a:endParaRPr lang="en-US" sz="1250" dirty="0"/>
          </a:p>
        </p:txBody>
      </p:sp>
      <p:sp>
        <p:nvSpPr>
          <p:cNvPr id="25" name="Shape 18"/>
          <p:cNvSpPr/>
          <p:nvPr/>
        </p:nvSpPr>
        <p:spPr>
          <a:xfrm>
            <a:off x="6537960" y="2916936"/>
            <a:ext cx="402336" cy="402336"/>
          </a:xfrm>
          <a:prstGeom prst="ellipse">
            <a:avLst/>
          </a:prstGeom>
          <a:solidFill>
            <a:srgbClr val="E8F3EC"/>
          </a:solidFill>
          <a:ln/>
        </p:spPr>
      </p:sp>
      <p:pic>
        <p:nvPicPr>
          <p:cNvPr id="26" name="Image 5" descr="preencoded.png">    </p:cNvPr>
          <p:cNvPicPr>
            <a:picLocks noChangeAspect="1"/>
          </p:cNvPicPr>
          <p:nvPr/>
        </p:nvPicPr>
        <p:blipFill>
          <a:blip r:embed="rId6"/>
          <a:stretch>
            <a:fillRect/>
          </a:stretch>
        </p:blipFill>
        <p:spPr>
          <a:xfrm>
            <a:off x="6647688" y="3026664"/>
            <a:ext cx="182880" cy="182880"/>
          </a:xfrm>
          <a:prstGeom prst="rect">
            <a:avLst/>
          </a:prstGeom>
        </p:spPr>
      </p:pic>
      <p:sp>
        <p:nvSpPr>
          <p:cNvPr id="27" name="Text 19"/>
          <p:cNvSpPr/>
          <p:nvPr/>
        </p:nvSpPr>
        <p:spPr>
          <a:xfrm>
            <a:off x="7059168" y="2916936"/>
            <a:ext cx="4617720" cy="402336"/>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Update status with remarks</a:t>
            </a:r>
            <a:endParaRPr lang="en-US" sz="1250" dirty="0"/>
          </a:p>
        </p:txBody>
      </p:sp>
      <p:sp>
        <p:nvSpPr>
          <p:cNvPr id="28" name="Shape 20"/>
          <p:cNvSpPr/>
          <p:nvPr/>
        </p:nvSpPr>
        <p:spPr>
          <a:xfrm>
            <a:off x="6537960" y="3346704"/>
            <a:ext cx="402336" cy="402336"/>
          </a:xfrm>
          <a:prstGeom prst="ellipse">
            <a:avLst/>
          </a:prstGeom>
          <a:solidFill>
            <a:srgbClr val="E8F3EC"/>
          </a:solidFill>
          <a:ln/>
        </p:spPr>
      </p:sp>
      <p:pic>
        <p:nvPicPr>
          <p:cNvPr id="29" name="Image 6" descr="preencoded.png">    </p:cNvPr>
          <p:cNvPicPr>
            <a:picLocks noChangeAspect="1"/>
          </p:cNvPicPr>
          <p:nvPr/>
        </p:nvPicPr>
        <p:blipFill>
          <a:blip r:embed="rId7"/>
          <a:stretch>
            <a:fillRect/>
          </a:stretch>
        </p:blipFill>
        <p:spPr>
          <a:xfrm>
            <a:off x="6647688" y="3456432"/>
            <a:ext cx="182880" cy="182880"/>
          </a:xfrm>
          <a:prstGeom prst="rect">
            <a:avLst/>
          </a:prstGeom>
        </p:spPr>
      </p:pic>
      <p:sp>
        <p:nvSpPr>
          <p:cNvPr id="30" name="Text 21"/>
          <p:cNvSpPr/>
          <p:nvPr/>
        </p:nvSpPr>
        <p:spPr>
          <a:xfrm>
            <a:off x="7059168" y="3346704"/>
            <a:ext cx="4617720" cy="402336"/>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Actions recorded in audit log</a:t>
            </a:r>
            <a:endParaRPr lang="en-US" sz="1250" dirty="0"/>
          </a:p>
        </p:txBody>
      </p:sp>
      <p:sp>
        <p:nvSpPr>
          <p:cNvPr id="31" name="Shape 22"/>
          <p:cNvSpPr/>
          <p:nvPr/>
        </p:nvSpPr>
        <p:spPr>
          <a:xfrm>
            <a:off x="6537960" y="3776472"/>
            <a:ext cx="402336" cy="402336"/>
          </a:xfrm>
          <a:prstGeom prst="ellipse">
            <a:avLst/>
          </a:prstGeom>
          <a:solidFill>
            <a:srgbClr val="E8F3EC"/>
          </a:solidFill>
          <a:ln/>
        </p:spPr>
      </p:sp>
      <p:pic>
        <p:nvPicPr>
          <p:cNvPr id="32" name="Image 7" descr="preencoded.png">    </p:cNvPr>
          <p:cNvPicPr>
            <a:picLocks noChangeAspect="1"/>
          </p:cNvPicPr>
          <p:nvPr/>
        </p:nvPicPr>
        <p:blipFill>
          <a:blip r:embed="rId8"/>
          <a:stretch>
            <a:fillRect/>
          </a:stretch>
        </p:blipFill>
        <p:spPr>
          <a:xfrm>
            <a:off x="6647688" y="3886200"/>
            <a:ext cx="182880" cy="182880"/>
          </a:xfrm>
          <a:prstGeom prst="rect">
            <a:avLst/>
          </a:prstGeom>
        </p:spPr>
      </p:pic>
      <p:sp>
        <p:nvSpPr>
          <p:cNvPr id="33" name="Text 23"/>
          <p:cNvSpPr/>
          <p:nvPr/>
        </p:nvSpPr>
        <p:spPr>
          <a:xfrm>
            <a:off x="7059168" y="3776472"/>
            <a:ext cx="4617720" cy="402336"/>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Category &amp; status analytics</a:t>
            </a:r>
            <a:endParaRPr lang="en-US" sz="1250" dirty="0"/>
          </a:p>
        </p:txBody>
      </p:sp>
      <p:sp>
        <p:nvSpPr>
          <p:cNvPr id="34" name="Text 24"/>
          <p:cNvSpPr/>
          <p:nvPr/>
        </p:nvSpPr>
        <p:spPr>
          <a:xfrm>
            <a:off x="566928" y="4526280"/>
            <a:ext cx="5486400" cy="365760"/>
          </a:xfrm>
          <a:prstGeom prst="rect">
            <a:avLst/>
          </a:prstGeom>
          <a:noFill/>
          <a:ln/>
        </p:spPr>
        <p:txBody>
          <a:bodyPr wrap="square" lIns="0" tIns="0" rIns="0" bIns="0" rtlCol="0" anchor="ctr"/>
          <a:lstStyle/>
          <a:p>
            <a:pPr indent="0" marL="0">
              <a:buNone/>
            </a:pPr>
            <a:r>
              <a:rPr lang="en-US" sz="1700" b="1" dirty="0">
                <a:solidFill>
                  <a:srgbClr val="1F7A3D"/>
                </a:solidFill>
                <a:latin typeface="Cambria" pitchFamily="34" charset="0"/>
                <a:ea typeface="Cambria" pitchFamily="34" charset="-122"/>
                <a:cs typeface="Cambria" pitchFamily="34" charset="-120"/>
              </a:rPr>
              <a:t>Complaint lifecycle</a:t>
            </a:r>
            <a:endParaRPr lang="en-US" sz="1700" dirty="0"/>
          </a:p>
        </p:txBody>
      </p:sp>
      <p:sp>
        <p:nvSpPr>
          <p:cNvPr id="35" name="Shape 25"/>
          <p:cNvSpPr/>
          <p:nvPr/>
        </p:nvSpPr>
        <p:spPr>
          <a:xfrm>
            <a:off x="822960" y="4983480"/>
            <a:ext cx="2743200" cy="1005840"/>
          </a:xfrm>
          <a:prstGeom prst="roundRect">
            <a:avLst>
              <a:gd name="adj" fmla="val 8182"/>
            </a:avLst>
          </a:prstGeom>
          <a:solidFill>
            <a:srgbClr val="F3F9F5"/>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36" name="Shape 26"/>
          <p:cNvSpPr/>
          <p:nvPr/>
        </p:nvSpPr>
        <p:spPr>
          <a:xfrm>
            <a:off x="1051560" y="5230368"/>
            <a:ext cx="512064" cy="512064"/>
          </a:xfrm>
          <a:prstGeom prst="ellipse">
            <a:avLst/>
          </a:prstGeom>
          <a:solidFill>
            <a:srgbClr val="C9A227"/>
          </a:solidFill>
          <a:ln/>
        </p:spPr>
      </p:sp>
      <p:pic>
        <p:nvPicPr>
          <p:cNvPr id="37" name="Image 8" descr="preencoded.png">    </p:cNvPr>
          <p:cNvPicPr>
            <a:picLocks noChangeAspect="1"/>
          </p:cNvPicPr>
          <p:nvPr/>
        </p:nvPicPr>
        <p:blipFill>
          <a:blip r:embed="rId9"/>
          <a:stretch>
            <a:fillRect/>
          </a:stretch>
        </p:blipFill>
        <p:spPr>
          <a:xfrm>
            <a:off x="1188720" y="5367528"/>
            <a:ext cx="237744" cy="237744"/>
          </a:xfrm>
          <a:prstGeom prst="rect">
            <a:avLst/>
          </a:prstGeom>
        </p:spPr>
      </p:pic>
      <p:sp>
        <p:nvSpPr>
          <p:cNvPr id="38" name="Text 27"/>
          <p:cNvSpPr/>
          <p:nvPr/>
        </p:nvSpPr>
        <p:spPr>
          <a:xfrm>
            <a:off x="1691640" y="4983480"/>
            <a:ext cx="1737360" cy="1005840"/>
          </a:xfrm>
          <a:prstGeom prst="rect">
            <a:avLst/>
          </a:prstGeom>
          <a:noFill/>
          <a:ln/>
        </p:spPr>
        <p:txBody>
          <a:bodyPr wrap="square" lIns="0" tIns="0" rIns="0" bIns="0" rtlCol="0" anchor="ctr"/>
          <a:lstStyle/>
          <a:p>
            <a:pPr indent="0" marL="0">
              <a:buNone/>
            </a:pPr>
            <a:r>
              <a:rPr lang="en-US" sz="1600" b="1" dirty="0">
                <a:solidFill>
                  <a:srgbClr val="1F2937"/>
                </a:solidFill>
                <a:latin typeface="Calibri" pitchFamily="34" charset="0"/>
                <a:ea typeface="Calibri" pitchFamily="34" charset="-122"/>
                <a:cs typeface="Calibri" pitchFamily="34" charset="-120"/>
              </a:rPr>
              <a:t>Pending</a:t>
            </a:r>
            <a:endParaRPr lang="en-US" sz="1600" dirty="0"/>
          </a:p>
        </p:txBody>
      </p:sp>
      <p:pic>
        <p:nvPicPr>
          <p:cNvPr id="39" name="Image 9" descr="preencoded.png">    </p:cNvPr>
          <p:cNvPicPr>
            <a:picLocks noChangeAspect="1"/>
          </p:cNvPicPr>
          <p:nvPr/>
        </p:nvPicPr>
        <p:blipFill>
          <a:blip r:embed="rId10"/>
          <a:stretch>
            <a:fillRect/>
          </a:stretch>
        </p:blipFill>
        <p:spPr>
          <a:xfrm>
            <a:off x="3794760" y="5257800"/>
            <a:ext cx="457200" cy="457200"/>
          </a:xfrm>
          <a:prstGeom prst="rect">
            <a:avLst/>
          </a:prstGeom>
        </p:spPr>
      </p:pic>
      <p:sp>
        <p:nvSpPr>
          <p:cNvPr id="40" name="Shape 28"/>
          <p:cNvSpPr/>
          <p:nvPr/>
        </p:nvSpPr>
        <p:spPr>
          <a:xfrm>
            <a:off x="4480560" y="4983480"/>
            <a:ext cx="2743200" cy="1005840"/>
          </a:xfrm>
          <a:prstGeom prst="roundRect">
            <a:avLst>
              <a:gd name="adj" fmla="val 8182"/>
            </a:avLst>
          </a:prstGeom>
          <a:solidFill>
            <a:srgbClr val="F3F9F5"/>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41" name="Shape 29"/>
          <p:cNvSpPr/>
          <p:nvPr/>
        </p:nvSpPr>
        <p:spPr>
          <a:xfrm>
            <a:off x="4709160" y="5230368"/>
            <a:ext cx="512064" cy="512064"/>
          </a:xfrm>
          <a:prstGeom prst="ellipse">
            <a:avLst/>
          </a:prstGeom>
          <a:solidFill>
            <a:srgbClr val="2E9E5B"/>
          </a:solidFill>
          <a:ln/>
        </p:spPr>
      </p:sp>
      <p:pic>
        <p:nvPicPr>
          <p:cNvPr id="42" name="Image 10" descr="preencoded.png">    </p:cNvPr>
          <p:cNvPicPr>
            <a:picLocks noChangeAspect="1"/>
          </p:cNvPicPr>
          <p:nvPr/>
        </p:nvPicPr>
        <p:blipFill>
          <a:blip r:embed="rId11"/>
          <a:stretch>
            <a:fillRect/>
          </a:stretch>
        </p:blipFill>
        <p:spPr>
          <a:xfrm>
            <a:off x="4846320" y="5367528"/>
            <a:ext cx="237744" cy="237744"/>
          </a:xfrm>
          <a:prstGeom prst="rect">
            <a:avLst/>
          </a:prstGeom>
        </p:spPr>
      </p:pic>
      <p:sp>
        <p:nvSpPr>
          <p:cNvPr id="43" name="Text 30"/>
          <p:cNvSpPr/>
          <p:nvPr/>
        </p:nvSpPr>
        <p:spPr>
          <a:xfrm>
            <a:off x="5349240" y="4983480"/>
            <a:ext cx="1737360" cy="1005840"/>
          </a:xfrm>
          <a:prstGeom prst="rect">
            <a:avLst/>
          </a:prstGeom>
          <a:noFill/>
          <a:ln/>
        </p:spPr>
        <p:txBody>
          <a:bodyPr wrap="square" lIns="0" tIns="0" rIns="0" bIns="0" rtlCol="0" anchor="ctr"/>
          <a:lstStyle/>
          <a:p>
            <a:pPr indent="0" marL="0">
              <a:buNone/>
            </a:pPr>
            <a:r>
              <a:rPr lang="en-US" sz="1600" b="1" dirty="0">
                <a:solidFill>
                  <a:srgbClr val="1F2937"/>
                </a:solidFill>
                <a:latin typeface="Calibri" pitchFamily="34" charset="0"/>
                <a:ea typeface="Calibri" pitchFamily="34" charset="-122"/>
                <a:cs typeface="Calibri" pitchFamily="34" charset="-120"/>
              </a:rPr>
              <a:t>In Progress</a:t>
            </a:r>
            <a:endParaRPr lang="en-US" sz="1600" dirty="0"/>
          </a:p>
        </p:txBody>
      </p:sp>
      <p:pic>
        <p:nvPicPr>
          <p:cNvPr id="44" name="Image 11" descr="preencoded.png">    </p:cNvPr>
          <p:cNvPicPr>
            <a:picLocks noChangeAspect="1"/>
          </p:cNvPicPr>
          <p:nvPr/>
        </p:nvPicPr>
        <p:blipFill>
          <a:blip r:embed="rId12"/>
          <a:stretch>
            <a:fillRect/>
          </a:stretch>
        </p:blipFill>
        <p:spPr>
          <a:xfrm>
            <a:off x="7452360" y="5257800"/>
            <a:ext cx="457200" cy="457200"/>
          </a:xfrm>
          <a:prstGeom prst="rect">
            <a:avLst/>
          </a:prstGeom>
        </p:spPr>
      </p:pic>
      <p:sp>
        <p:nvSpPr>
          <p:cNvPr id="45" name="Shape 31"/>
          <p:cNvSpPr/>
          <p:nvPr/>
        </p:nvSpPr>
        <p:spPr>
          <a:xfrm>
            <a:off x="8138160" y="4983480"/>
            <a:ext cx="2743200" cy="1005840"/>
          </a:xfrm>
          <a:prstGeom prst="roundRect">
            <a:avLst>
              <a:gd name="adj" fmla="val 8182"/>
            </a:avLst>
          </a:prstGeom>
          <a:solidFill>
            <a:srgbClr val="F3F9F5"/>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46" name="Shape 32"/>
          <p:cNvSpPr/>
          <p:nvPr/>
        </p:nvSpPr>
        <p:spPr>
          <a:xfrm>
            <a:off x="8366760" y="5230368"/>
            <a:ext cx="512064" cy="512064"/>
          </a:xfrm>
          <a:prstGeom prst="ellipse">
            <a:avLst/>
          </a:prstGeom>
          <a:solidFill>
            <a:srgbClr val="1F7A3D"/>
          </a:solidFill>
          <a:ln/>
        </p:spPr>
      </p:sp>
      <p:pic>
        <p:nvPicPr>
          <p:cNvPr id="47" name="Image 12" descr="preencoded.png">    </p:cNvPr>
          <p:cNvPicPr>
            <a:picLocks noChangeAspect="1"/>
          </p:cNvPicPr>
          <p:nvPr/>
        </p:nvPicPr>
        <p:blipFill>
          <a:blip r:embed="rId13"/>
          <a:stretch>
            <a:fillRect/>
          </a:stretch>
        </p:blipFill>
        <p:spPr>
          <a:xfrm>
            <a:off x="8503920" y="5367528"/>
            <a:ext cx="237744" cy="237744"/>
          </a:xfrm>
          <a:prstGeom prst="rect">
            <a:avLst/>
          </a:prstGeom>
        </p:spPr>
      </p:pic>
      <p:sp>
        <p:nvSpPr>
          <p:cNvPr id="48" name="Text 33"/>
          <p:cNvSpPr/>
          <p:nvPr/>
        </p:nvSpPr>
        <p:spPr>
          <a:xfrm>
            <a:off x="9006840" y="4983480"/>
            <a:ext cx="1737360" cy="1005840"/>
          </a:xfrm>
          <a:prstGeom prst="rect">
            <a:avLst/>
          </a:prstGeom>
          <a:noFill/>
          <a:ln/>
        </p:spPr>
        <p:txBody>
          <a:bodyPr wrap="square" lIns="0" tIns="0" rIns="0" bIns="0" rtlCol="0" anchor="ctr"/>
          <a:lstStyle/>
          <a:p>
            <a:pPr indent="0" marL="0">
              <a:buNone/>
            </a:pPr>
            <a:r>
              <a:rPr lang="en-US" sz="1600" b="1" dirty="0">
                <a:solidFill>
                  <a:srgbClr val="1F2937"/>
                </a:solidFill>
                <a:latin typeface="Calibri" pitchFamily="34" charset="0"/>
                <a:ea typeface="Calibri" pitchFamily="34" charset="-122"/>
                <a:cs typeface="Calibri" pitchFamily="34" charset="-120"/>
              </a:rPr>
              <a:t>Resolved</a:t>
            </a:r>
            <a:endParaRPr lang="en-US" sz="1600" dirty="0"/>
          </a:p>
        </p:txBody>
      </p:sp>
      <p:sp>
        <p:nvSpPr>
          <p:cNvPr id="49" name="Text 34"/>
          <p:cNvSpPr/>
          <p:nvPr/>
        </p:nvSpPr>
        <p:spPr>
          <a:xfrm>
            <a:off x="548640" y="6510528"/>
            <a:ext cx="54864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Digital Gram Panchayat  ·  v1.0.0</a:t>
            </a:r>
            <a:endParaRPr lang="en-US" sz="900" dirty="0"/>
          </a:p>
        </p:txBody>
      </p:sp>
      <p:sp>
        <p:nvSpPr>
          <p:cNvPr id="50" name="Text 35"/>
          <p:cNvSpPr/>
          <p:nvPr/>
        </p:nvSpPr>
        <p:spPr>
          <a:xfrm>
            <a:off x="11338560" y="6510528"/>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8229600" cy="274320"/>
          </a:xfrm>
          <a:prstGeom prst="rect">
            <a:avLst/>
          </a:prstGeom>
          <a:noFill/>
          <a:ln/>
        </p:spPr>
        <p:txBody>
          <a:bodyPr wrap="square" lIns="0" tIns="0" rIns="0" bIns="0" rtlCol="0" anchor="ctr"/>
          <a:lstStyle/>
          <a:p>
            <a:pPr algn="l" indent="0" marL="0">
              <a:buNone/>
            </a:pPr>
            <a:r>
              <a:rPr lang="en-US" sz="1200" b="1" spc="300" kern="0" dirty="0">
                <a:solidFill>
                  <a:srgbClr val="1F7A3D"/>
                </a:solidFill>
                <a:latin typeface="Calibri" pitchFamily="34" charset="0"/>
                <a:ea typeface="Calibri" pitchFamily="34" charset="-122"/>
                <a:cs typeface="Calibri" pitchFamily="34" charset="-120"/>
              </a:rPr>
              <a:t>MODULE 03</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algn="l" indent="0" marL="0">
              <a:buNone/>
            </a:pPr>
            <a:r>
              <a:rPr lang="en-US" sz="3000" b="1" dirty="0">
                <a:solidFill>
                  <a:srgbClr val="1F2937"/>
                </a:solidFill>
                <a:latin typeface="Cambria" pitchFamily="34" charset="0"/>
                <a:ea typeface="Cambria" pitchFamily="34" charset="-122"/>
                <a:cs typeface="Cambria" pitchFamily="34" charset="-120"/>
              </a:rPr>
              <a:t>Government Schemes</a:t>
            </a:r>
            <a:endParaRPr lang="en-US" sz="3000" dirty="0"/>
          </a:p>
        </p:txBody>
      </p:sp>
      <p:sp>
        <p:nvSpPr>
          <p:cNvPr id="4" name="Text 2"/>
          <p:cNvSpPr/>
          <p:nvPr/>
        </p:nvSpPr>
        <p:spPr>
          <a:xfrm>
            <a:off x="566928" y="1417320"/>
            <a:ext cx="10972800" cy="457200"/>
          </a:xfrm>
          <a:prstGeom prst="rect">
            <a:avLst/>
          </a:prstGeom>
          <a:noFill/>
          <a:ln/>
        </p:spPr>
        <p:txBody>
          <a:bodyPr wrap="square" lIns="0" tIns="0" rIns="0" bIns="0" rtlCol="0" anchor="ctr"/>
          <a:lstStyle/>
          <a:p>
            <a:pPr indent="0" marL="0">
              <a:buNone/>
            </a:pPr>
            <a:r>
              <a:rPr lang="en-US" sz="1500" dirty="0">
                <a:solidFill>
                  <a:srgbClr val="6B7280"/>
                </a:solidFill>
                <a:latin typeface="Calibri" pitchFamily="34" charset="0"/>
                <a:ea typeface="Calibri" pitchFamily="34" charset="-122"/>
                <a:cs typeface="Calibri" pitchFamily="34" charset="-120"/>
              </a:rPr>
              <a:t>A searchable directory that connects citizens to the welfare schemes they are eligible for.</a:t>
            </a:r>
            <a:endParaRPr lang="en-US" sz="1500" dirty="0"/>
          </a:p>
        </p:txBody>
      </p:sp>
      <p:sp>
        <p:nvSpPr>
          <p:cNvPr id="5" name="Shape 3"/>
          <p:cNvSpPr/>
          <p:nvPr/>
        </p:nvSpPr>
        <p:spPr>
          <a:xfrm>
            <a:off x="563728" y="2148840"/>
            <a:ext cx="3566160" cy="1600200"/>
          </a:xfrm>
          <a:prstGeom prst="roundRect">
            <a:avLst>
              <a:gd name="adj" fmla="val 5143"/>
            </a:avLst>
          </a:prstGeom>
          <a:solidFill>
            <a:srgbClr val="FFFFFF"/>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6" name="Shape 4"/>
          <p:cNvSpPr/>
          <p:nvPr/>
        </p:nvSpPr>
        <p:spPr>
          <a:xfrm>
            <a:off x="819760" y="2423160"/>
            <a:ext cx="713232" cy="713232"/>
          </a:xfrm>
          <a:prstGeom prst="ellipse">
            <a:avLst/>
          </a:prstGeom>
          <a:solidFill>
            <a:srgbClr val="E8F3EC"/>
          </a:solidFill>
          <a:ln/>
        </p:spPr>
      </p:sp>
      <p:pic>
        <p:nvPicPr>
          <p:cNvPr id="7" name="Image 0" descr="preencoded.png">    </p:cNvPr>
          <p:cNvPicPr>
            <a:picLocks noChangeAspect="1"/>
          </p:cNvPicPr>
          <p:nvPr/>
        </p:nvPicPr>
        <p:blipFill>
          <a:blip r:embed="rId1"/>
          <a:stretch>
            <a:fillRect/>
          </a:stretch>
        </p:blipFill>
        <p:spPr>
          <a:xfrm>
            <a:off x="1002640" y="2606040"/>
            <a:ext cx="347472" cy="347472"/>
          </a:xfrm>
          <a:prstGeom prst="rect">
            <a:avLst/>
          </a:prstGeom>
        </p:spPr>
      </p:pic>
      <p:sp>
        <p:nvSpPr>
          <p:cNvPr id="8" name="Text 5"/>
          <p:cNvSpPr/>
          <p:nvPr/>
        </p:nvSpPr>
        <p:spPr>
          <a:xfrm>
            <a:off x="1661008" y="2459736"/>
            <a:ext cx="2286000" cy="365760"/>
          </a:xfrm>
          <a:prstGeom prst="rect">
            <a:avLst/>
          </a:prstGeom>
          <a:noFill/>
          <a:ln/>
        </p:spPr>
        <p:txBody>
          <a:bodyPr wrap="square" lIns="0" tIns="0" rIns="0" bIns="0" rtlCol="0" anchor="ctr"/>
          <a:lstStyle/>
          <a:p>
            <a:pPr indent="0" marL="0">
              <a:buNone/>
            </a:pPr>
            <a:r>
              <a:rPr lang="en-US" sz="1600" b="1" dirty="0">
                <a:solidFill>
                  <a:srgbClr val="1F2937"/>
                </a:solidFill>
                <a:latin typeface="Calibri" pitchFamily="34" charset="0"/>
                <a:ea typeface="Calibri" pitchFamily="34" charset="-122"/>
                <a:cs typeface="Calibri" pitchFamily="34" charset="-120"/>
              </a:rPr>
              <a:t>Search</a:t>
            </a:r>
            <a:endParaRPr lang="en-US" sz="1600" dirty="0"/>
          </a:p>
        </p:txBody>
      </p:sp>
      <p:sp>
        <p:nvSpPr>
          <p:cNvPr id="9" name="Text 6"/>
          <p:cNvSpPr/>
          <p:nvPr/>
        </p:nvSpPr>
        <p:spPr>
          <a:xfrm>
            <a:off x="819760" y="3172968"/>
            <a:ext cx="3108960" cy="50292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Find schemes by keyword instantly.</a:t>
            </a:r>
            <a:endParaRPr lang="en-US" sz="1150" dirty="0"/>
          </a:p>
        </p:txBody>
      </p:sp>
      <p:sp>
        <p:nvSpPr>
          <p:cNvPr id="10" name="Shape 7"/>
          <p:cNvSpPr/>
          <p:nvPr/>
        </p:nvSpPr>
        <p:spPr>
          <a:xfrm>
            <a:off x="4312768" y="2148840"/>
            <a:ext cx="3566160" cy="1600200"/>
          </a:xfrm>
          <a:prstGeom prst="roundRect">
            <a:avLst>
              <a:gd name="adj" fmla="val 5143"/>
            </a:avLst>
          </a:prstGeom>
          <a:solidFill>
            <a:srgbClr val="FFFFFF"/>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11" name="Shape 8"/>
          <p:cNvSpPr/>
          <p:nvPr/>
        </p:nvSpPr>
        <p:spPr>
          <a:xfrm>
            <a:off x="4568800" y="2423160"/>
            <a:ext cx="713232" cy="713232"/>
          </a:xfrm>
          <a:prstGeom prst="ellipse">
            <a:avLst/>
          </a:prstGeom>
          <a:solidFill>
            <a:srgbClr val="E8F3EC"/>
          </a:solidFill>
          <a:ln/>
        </p:spPr>
      </p:sp>
      <p:pic>
        <p:nvPicPr>
          <p:cNvPr id="12" name="Image 1" descr="preencoded.png">    </p:cNvPr>
          <p:cNvPicPr>
            <a:picLocks noChangeAspect="1"/>
          </p:cNvPicPr>
          <p:nvPr/>
        </p:nvPicPr>
        <p:blipFill>
          <a:blip r:embed="rId2"/>
          <a:stretch>
            <a:fillRect/>
          </a:stretch>
        </p:blipFill>
        <p:spPr>
          <a:xfrm>
            <a:off x="4751680" y="2606040"/>
            <a:ext cx="347472" cy="347472"/>
          </a:xfrm>
          <a:prstGeom prst="rect">
            <a:avLst/>
          </a:prstGeom>
        </p:spPr>
      </p:pic>
      <p:sp>
        <p:nvSpPr>
          <p:cNvPr id="13" name="Text 9"/>
          <p:cNvSpPr/>
          <p:nvPr/>
        </p:nvSpPr>
        <p:spPr>
          <a:xfrm>
            <a:off x="5410048" y="2459736"/>
            <a:ext cx="2286000" cy="365760"/>
          </a:xfrm>
          <a:prstGeom prst="rect">
            <a:avLst/>
          </a:prstGeom>
          <a:noFill/>
          <a:ln/>
        </p:spPr>
        <p:txBody>
          <a:bodyPr wrap="square" lIns="0" tIns="0" rIns="0" bIns="0" rtlCol="0" anchor="ctr"/>
          <a:lstStyle/>
          <a:p>
            <a:pPr indent="0" marL="0">
              <a:buNone/>
            </a:pPr>
            <a:r>
              <a:rPr lang="en-US" sz="1600" b="1" dirty="0">
                <a:solidFill>
                  <a:srgbClr val="1F2937"/>
                </a:solidFill>
                <a:latin typeface="Calibri" pitchFamily="34" charset="0"/>
                <a:ea typeface="Calibri" pitchFamily="34" charset="-122"/>
                <a:cs typeface="Calibri" pitchFamily="34" charset="-120"/>
              </a:rPr>
              <a:t>Filter</a:t>
            </a:r>
            <a:endParaRPr lang="en-US" sz="1600" dirty="0"/>
          </a:p>
        </p:txBody>
      </p:sp>
      <p:sp>
        <p:nvSpPr>
          <p:cNvPr id="14" name="Text 10"/>
          <p:cNvSpPr/>
          <p:nvPr/>
        </p:nvSpPr>
        <p:spPr>
          <a:xfrm>
            <a:off x="4568800" y="3172968"/>
            <a:ext cx="3108960" cy="50292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Narrow by category — Agriculture, Health, Education and more.</a:t>
            </a:r>
            <a:endParaRPr lang="en-US" sz="1150" dirty="0"/>
          </a:p>
        </p:txBody>
      </p:sp>
      <p:sp>
        <p:nvSpPr>
          <p:cNvPr id="15" name="Shape 11"/>
          <p:cNvSpPr/>
          <p:nvPr/>
        </p:nvSpPr>
        <p:spPr>
          <a:xfrm>
            <a:off x="8061808" y="2148840"/>
            <a:ext cx="3566160" cy="1600200"/>
          </a:xfrm>
          <a:prstGeom prst="roundRect">
            <a:avLst>
              <a:gd name="adj" fmla="val 5143"/>
            </a:avLst>
          </a:prstGeom>
          <a:solidFill>
            <a:srgbClr val="FFFFFF"/>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16" name="Shape 12"/>
          <p:cNvSpPr/>
          <p:nvPr/>
        </p:nvSpPr>
        <p:spPr>
          <a:xfrm>
            <a:off x="8317840" y="2423160"/>
            <a:ext cx="713232" cy="713232"/>
          </a:xfrm>
          <a:prstGeom prst="ellipse">
            <a:avLst/>
          </a:prstGeom>
          <a:solidFill>
            <a:srgbClr val="E8F3EC"/>
          </a:solidFill>
          <a:ln/>
        </p:spPr>
      </p:sp>
      <p:pic>
        <p:nvPicPr>
          <p:cNvPr id="17" name="Image 2" descr="preencoded.png">    </p:cNvPr>
          <p:cNvPicPr>
            <a:picLocks noChangeAspect="1"/>
          </p:cNvPicPr>
          <p:nvPr/>
        </p:nvPicPr>
        <p:blipFill>
          <a:blip r:embed="rId3"/>
          <a:stretch>
            <a:fillRect/>
          </a:stretch>
        </p:blipFill>
        <p:spPr>
          <a:xfrm>
            <a:off x="8500720" y="2606040"/>
            <a:ext cx="347472" cy="347472"/>
          </a:xfrm>
          <a:prstGeom prst="rect">
            <a:avLst/>
          </a:prstGeom>
        </p:spPr>
      </p:pic>
      <p:sp>
        <p:nvSpPr>
          <p:cNvPr id="18" name="Text 13"/>
          <p:cNvSpPr/>
          <p:nvPr/>
        </p:nvSpPr>
        <p:spPr>
          <a:xfrm>
            <a:off x="9159088" y="2459736"/>
            <a:ext cx="2286000" cy="365760"/>
          </a:xfrm>
          <a:prstGeom prst="rect">
            <a:avLst/>
          </a:prstGeom>
          <a:noFill/>
          <a:ln/>
        </p:spPr>
        <p:txBody>
          <a:bodyPr wrap="square" lIns="0" tIns="0" rIns="0" bIns="0" rtlCol="0" anchor="ctr"/>
          <a:lstStyle/>
          <a:p>
            <a:pPr indent="0" marL="0">
              <a:buNone/>
            </a:pPr>
            <a:r>
              <a:rPr lang="en-US" sz="1600" b="1" dirty="0">
                <a:solidFill>
                  <a:srgbClr val="1F2937"/>
                </a:solidFill>
                <a:latin typeface="Calibri" pitchFamily="34" charset="0"/>
                <a:ea typeface="Calibri" pitchFamily="34" charset="-122"/>
                <a:cs typeface="Calibri" pitchFamily="34" charset="-120"/>
              </a:rPr>
              <a:t>Eligibility</a:t>
            </a:r>
            <a:endParaRPr lang="en-US" sz="1600" dirty="0"/>
          </a:p>
        </p:txBody>
      </p:sp>
      <p:sp>
        <p:nvSpPr>
          <p:cNvPr id="19" name="Text 14"/>
          <p:cNvSpPr/>
          <p:nvPr/>
        </p:nvSpPr>
        <p:spPr>
          <a:xfrm>
            <a:off x="8317840" y="3172968"/>
            <a:ext cx="3108960" cy="50292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Clear criteria and required documents for each scheme.</a:t>
            </a:r>
            <a:endParaRPr lang="en-US" sz="1150" dirty="0"/>
          </a:p>
        </p:txBody>
      </p:sp>
      <p:sp>
        <p:nvSpPr>
          <p:cNvPr id="20" name="Shape 15"/>
          <p:cNvSpPr/>
          <p:nvPr/>
        </p:nvSpPr>
        <p:spPr>
          <a:xfrm>
            <a:off x="563728" y="3968496"/>
            <a:ext cx="3566160" cy="1600200"/>
          </a:xfrm>
          <a:prstGeom prst="roundRect">
            <a:avLst>
              <a:gd name="adj" fmla="val 5143"/>
            </a:avLst>
          </a:prstGeom>
          <a:solidFill>
            <a:srgbClr val="FFFFFF"/>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21" name="Shape 16"/>
          <p:cNvSpPr/>
          <p:nvPr/>
        </p:nvSpPr>
        <p:spPr>
          <a:xfrm>
            <a:off x="819760" y="4242816"/>
            <a:ext cx="713232" cy="713232"/>
          </a:xfrm>
          <a:prstGeom prst="ellipse">
            <a:avLst/>
          </a:prstGeom>
          <a:solidFill>
            <a:srgbClr val="E8F3EC"/>
          </a:solidFill>
          <a:ln/>
        </p:spPr>
      </p:sp>
      <p:pic>
        <p:nvPicPr>
          <p:cNvPr id="22" name="Image 3" descr="preencoded.png">    </p:cNvPr>
          <p:cNvPicPr>
            <a:picLocks noChangeAspect="1"/>
          </p:cNvPicPr>
          <p:nvPr/>
        </p:nvPicPr>
        <p:blipFill>
          <a:blip r:embed="rId4"/>
          <a:stretch>
            <a:fillRect/>
          </a:stretch>
        </p:blipFill>
        <p:spPr>
          <a:xfrm>
            <a:off x="1002640" y="4425696"/>
            <a:ext cx="347472" cy="347472"/>
          </a:xfrm>
          <a:prstGeom prst="rect">
            <a:avLst/>
          </a:prstGeom>
        </p:spPr>
      </p:pic>
      <p:sp>
        <p:nvSpPr>
          <p:cNvPr id="23" name="Text 17"/>
          <p:cNvSpPr/>
          <p:nvPr/>
        </p:nvSpPr>
        <p:spPr>
          <a:xfrm>
            <a:off x="1661008" y="4279392"/>
            <a:ext cx="2286000" cy="365760"/>
          </a:xfrm>
          <a:prstGeom prst="rect">
            <a:avLst/>
          </a:prstGeom>
          <a:noFill/>
          <a:ln/>
        </p:spPr>
        <p:txBody>
          <a:bodyPr wrap="square" lIns="0" tIns="0" rIns="0" bIns="0" rtlCol="0" anchor="ctr"/>
          <a:lstStyle/>
          <a:p>
            <a:pPr indent="0" marL="0">
              <a:buNone/>
            </a:pPr>
            <a:r>
              <a:rPr lang="en-US" sz="1600" b="1" dirty="0">
                <a:solidFill>
                  <a:srgbClr val="1F2937"/>
                </a:solidFill>
                <a:latin typeface="Calibri" pitchFamily="34" charset="0"/>
                <a:ea typeface="Calibri" pitchFamily="34" charset="-122"/>
                <a:cs typeface="Calibri" pitchFamily="34" charset="-120"/>
              </a:rPr>
              <a:t>Benefits</a:t>
            </a:r>
            <a:endParaRPr lang="en-US" sz="1600" dirty="0"/>
          </a:p>
        </p:txBody>
      </p:sp>
      <p:sp>
        <p:nvSpPr>
          <p:cNvPr id="24" name="Text 18"/>
          <p:cNvSpPr/>
          <p:nvPr/>
        </p:nvSpPr>
        <p:spPr>
          <a:xfrm>
            <a:off x="819760" y="4992624"/>
            <a:ext cx="3108960" cy="50292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Exactly what the citizen receives, in plain language.</a:t>
            </a:r>
            <a:endParaRPr lang="en-US" sz="1150" dirty="0"/>
          </a:p>
        </p:txBody>
      </p:sp>
      <p:sp>
        <p:nvSpPr>
          <p:cNvPr id="25" name="Shape 19"/>
          <p:cNvSpPr/>
          <p:nvPr/>
        </p:nvSpPr>
        <p:spPr>
          <a:xfrm>
            <a:off x="4312768" y="3968496"/>
            <a:ext cx="3566160" cy="1600200"/>
          </a:xfrm>
          <a:prstGeom prst="roundRect">
            <a:avLst>
              <a:gd name="adj" fmla="val 5143"/>
            </a:avLst>
          </a:prstGeom>
          <a:solidFill>
            <a:srgbClr val="FFFFFF"/>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26" name="Shape 20"/>
          <p:cNvSpPr/>
          <p:nvPr/>
        </p:nvSpPr>
        <p:spPr>
          <a:xfrm>
            <a:off x="4568800" y="4242816"/>
            <a:ext cx="713232" cy="713232"/>
          </a:xfrm>
          <a:prstGeom prst="ellipse">
            <a:avLst/>
          </a:prstGeom>
          <a:solidFill>
            <a:srgbClr val="E8F3EC"/>
          </a:solidFill>
          <a:ln/>
        </p:spPr>
      </p:sp>
      <p:pic>
        <p:nvPicPr>
          <p:cNvPr id="27" name="Image 4" descr="preencoded.png">    </p:cNvPr>
          <p:cNvPicPr>
            <a:picLocks noChangeAspect="1"/>
          </p:cNvPicPr>
          <p:nvPr/>
        </p:nvPicPr>
        <p:blipFill>
          <a:blip r:embed="rId5"/>
          <a:stretch>
            <a:fillRect/>
          </a:stretch>
        </p:blipFill>
        <p:spPr>
          <a:xfrm>
            <a:off x="4751680" y="4425696"/>
            <a:ext cx="347472" cy="347472"/>
          </a:xfrm>
          <a:prstGeom prst="rect">
            <a:avLst/>
          </a:prstGeom>
        </p:spPr>
      </p:pic>
      <p:sp>
        <p:nvSpPr>
          <p:cNvPr id="28" name="Text 21"/>
          <p:cNvSpPr/>
          <p:nvPr/>
        </p:nvSpPr>
        <p:spPr>
          <a:xfrm>
            <a:off x="5410048" y="4279392"/>
            <a:ext cx="2286000" cy="365760"/>
          </a:xfrm>
          <a:prstGeom prst="rect">
            <a:avLst/>
          </a:prstGeom>
          <a:noFill/>
          <a:ln/>
        </p:spPr>
        <p:txBody>
          <a:bodyPr wrap="square" lIns="0" tIns="0" rIns="0" bIns="0" rtlCol="0" anchor="ctr"/>
          <a:lstStyle/>
          <a:p>
            <a:pPr indent="0" marL="0">
              <a:buNone/>
            </a:pPr>
            <a:r>
              <a:rPr lang="en-US" sz="1600" b="1" dirty="0">
                <a:solidFill>
                  <a:srgbClr val="1F2937"/>
                </a:solidFill>
                <a:latin typeface="Calibri" pitchFamily="34" charset="0"/>
                <a:ea typeface="Calibri" pitchFamily="34" charset="-122"/>
                <a:cs typeface="Calibri" pitchFamily="34" charset="-120"/>
              </a:rPr>
              <a:t>Official Website</a:t>
            </a:r>
            <a:endParaRPr lang="en-US" sz="1600" dirty="0"/>
          </a:p>
        </p:txBody>
      </p:sp>
      <p:sp>
        <p:nvSpPr>
          <p:cNvPr id="29" name="Text 22"/>
          <p:cNvSpPr/>
          <p:nvPr/>
        </p:nvSpPr>
        <p:spPr>
          <a:xfrm>
            <a:off x="4568800" y="4992624"/>
            <a:ext cx="3108960" cy="50292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Deep link to the government portal to apply.</a:t>
            </a:r>
            <a:endParaRPr lang="en-US" sz="1150" dirty="0"/>
          </a:p>
        </p:txBody>
      </p:sp>
      <p:sp>
        <p:nvSpPr>
          <p:cNvPr id="30" name="Text 23"/>
          <p:cNvSpPr/>
          <p:nvPr/>
        </p:nvSpPr>
        <p:spPr>
          <a:xfrm>
            <a:off x="548640" y="6510528"/>
            <a:ext cx="54864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Digital Gram Panchayat  ·  v1.0.0</a:t>
            </a:r>
            <a:endParaRPr lang="en-US" sz="900" dirty="0"/>
          </a:p>
        </p:txBody>
      </p:sp>
      <p:sp>
        <p:nvSpPr>
          <p:cNvPr id="31" name="Text 24"/>
          <p:cNvSpPr/>
          <p:nvPr/>
        </p:nvSpPr>
        <p:spPr>
          <a:xfrm>
            <a:off x="11338560" y="6510528"/>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8229600" cy="274320"/>
          </a:xfrm>
          <a:prstGeom prst="rect">
            <a:avLst/>
          </a:prstGeom>
          <a:noFill/>
          <a:ln/>
        </p:spPr>
        <p:txBody>
          <a:bodyPr wrap="square" lIns="0" tIns="0" rIns="0" bIns="0" rtlCol="0" anchor="ctr"/>
          <a:lstStyle/>
          <a:p>
            <a:pPr algn="l" indent="0" marL="0">
              <a:buNone/>
            </a:pPr>
            <a:r>
              <a:rPr lang="en-US" sz="1200" b="1" spc="300" kern="0" dirty="0">
                <a:solidFill>
                  <a:srgbClr val="1F7A3D"/>
                </a:solidFill>
                <a:latin typeface="Calibri" pitchFamily="34" charset="0"/>
                <a:ea typeface="Calibri" pitchFamily="34" charset="-122"/>
                <a:cs typeface="Calibri" pitchFamily="34" charset="-120"/>
              </a:rPr>
              <a:t>MODULE 04</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algn="l" indent="0" marL="0">
              <a:buNone/>
            </a:pPr>
            <a:r>
              <a:rPr lang="en-US" sz="3000" b="1" dirty="0">
                <a:solidFill>
                  <a:srgbClr val="1F2937"/>
                </a:solidFill>
                <a:latin typeface="Cambria" pitchFamily="34" charset="0"/>
                <a:ea typeface="Cambria" pitchFamily="34" charset="-122"/>
                <a:cs typeface="Cambria" pitchFamily="34" charset="-120"/>
              </a:rPr>
              <a:t>Tax Management</a:t>
            </a:r>
            <a:endParaRPr lang="en-US" sz="3000" dirty="0"/>
          </a:p>
        </p:txBody>
      </p:sp>
      <p:sp>
        <p:nvSpPr>
          <p:cNvPr id="4" name="Shape 2"/>
          <p:cNvSpPr/>
          <p:nvPr/>
        </p:nvSpPr>
        <p:spPr>
          <a:xfrm>
            <a:off x="566928" y="1783080"/>
            <a:ext cx="6492240" cy="786384"/>
          </a:xfrm>
          <a:prstGeom prst="roundRect">
            <a:avLst>
              <a:gd name="adj" fmla="val 10465"/>
            </a:avLst>
          </a:prstGeom>
          <a:solidFill>
            <a:srgbClr val="F3F9F5"/>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5" name="Shape 3"/>
          <p:cNvSpPr/>
          <p:nvPr/>
        </p:nvSpPr>
        <p:spPr>
          <a:xfrm>
            <a:off x="768096" y="1920240"/>
            <a:ext cx="512064" cy="512064"/>
          </a:xfrm>
          <a:prstGeom prst="ellipse">
            <a:avLst/>
          </a:prstGeom>
          <a:solidFill>
            <a:srgbClr val="1F7A3D"/>
          </a:solidFill>
          <a:ln/>
        </p:spPr>
      </p:sp>
      <p:pic>
        <p:nvPicPr>
          <p:cNvPr id="6" name="Image 0" descr="preencoded.png">    </p:cNvPr>
          <p:cNvPicPr>
            <a:picLocks noChangeAspect="1"/>
          </p:cNvPicPr>
          <p:nvPr/>
        </p:nvPicPr>
        <p:blipFill>
          <a:blip r:embed="rId1"/>
          <a:stretch>
            <a:fillRect/>
          </a:stretch>
        </p:blipFill>
        <p:spPr>
          <a:xfrm>
            <a:off x="905256" y="2057400"/>
            <a:ext cx="237744" cy="237744"/>
          </a:xfrm>
          <a:prstGeom prst="rect">
            <a:avLst/>
          </a:prstGeom>
        </p:spPr>
      </p:pic>
      <p:sp>
        <p:nvSpPr>
          <p:cNvPr id="7" name="Text 4"/>
          <p:cNvSpPr/>
          <p:nvPr/>
        </p:nvSpPr>
        <p:spPr>
          <a:xfrm>
            <a:off x="1463040" y="1901952"/>
            <a:ext cx="5486400" cy="310896"/>
          </a:xfrm>
          <a:prstGeom prst="rect">
            <a:avLst/>
          </a:prstGeom>
          <a:noFill/>
          <a:ln/>
        </p:spPr>
        <p:txBody>
          <a:bodyPr wrap="square" lIns="0" tIns="0" rIns="0" bIns="0" rtlCol="0" anchor="ctr"/>
          <a:lstStyle/>
          <a:p>
            <a:pPr indent="0" marL="0">
              <a:buNone/>
            </a:pPr>
            <a:r>
              <a:rPr lang="en-US" sz="1550" b="1" dirty="0">
                <a:solidFill>
                  <a:srgbClr val="1F2937"/>
                </a:solidFill>
                <a:latin typeface="Calibri" pitchFamily="34" charset="0"/>
                <a:ea typeface="Calibri" pitchFamily="34" charset="-122"/>
                <a:cs typeface="Calibri" pitchFamily="34" charset="-120"/>
              </a:rPr>
              <a:t>Property Tax</a:t>
            </a:r>
            <a:endParaRPr lang="en-US" sz="1550" dirty="0"/>
          </a:p>
        </p:txBody>
      </p:sp>
      <p:sp>
        <p:nvSpPr>
          <p:cNvPr id="8" name="Text 5"/>
          <p:cNvSpPr/>
          <p:nvPr/>
        </p:nvSpPr>
        <p:spPr>
          <a:xfrm>
            <a:off x="1463040" y="2203704"/>
            <a:ext cx="5486400" cy="292608"/>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Gharpatti assessed per property, per year.</a:t>
            </a:r>
            <a:endParaRPr lang="en-US" sz="1150" dirty="0"/>
          </a:p>
        </p:txBody>
      </p:sp>
      <p:sp>
        <p:nvSpPr>
          <p:cNvPr id="9" name="Shape 6"/>
          <p:cNvSpPr/>
          <p:nvPr/>
        </p:nvSpPr>
        <p:spPr>
          <a:xfrm>
            <a:off x="566928" y="2660904"/>
            <a:ext cx="6492240" cy="786384"/>
          </a:xfrm>
          <a:prstGeom prst="roundRect">
            <a:avLst>
              <a:gd name="adj" fmla="val 10465"/>
            </a:avLst>
          </a:prstGeom>
          <a:solidFill>
            <a:srgbClr val="F3F9F5"/>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10" name="Shape 7"/>
          <p:cNvSpPr/>
          <p:nvPr/>
        </p:nvSpPr>
        <p:spPr>
          <a:xfrm>
            <a:off x="768096" y="2798064"/>
            <a:ext cx="512064" cy="512064"/>
          </a:xfrm>
          <a:prstGeom prst="ellipse">
            <a:avLst/>
          </a:prstGeom>
          <a:solidFill>
            <a:srgbClr val="1F7A3D"/>
          </a:solidFill>
          <a:ln/>
        </p:spPr>
      </p:sp>
      <p:pic>
        <p:nvPicPr>
          <p:cNvPr id="11" name="Image 1" descr="preencoded.png">    </p:cNvPr>
          <p:cNvPicPr>
            <a:picLocks noChangeAspect="1"/>
          </p:cNvPicPr>
          <p:nvPr/>
        </p:nvPicPr>
        <p:blipFill>
          <a:blip r:embed="rId2"/>
          <a:stretch>
            <a:fillRect/>
          </a:stretch>
        </p:blipFill>
        <p:spPr>
          <a:xfrm>
            <a:off x="905256" y="2935224"/>
            <a:ext cx="237744" cy="237744"/>
          </a:xfrm>
          <a:prstGeom prst="rect">
            <a:avLst/>
          </a:prstGeom>
        </p:spPr>
      </p:pic>
      <p:sp>
        <p:nvSpPr>
          <p:cNvPr id="12" name="Text 8"/>
          <p:cNvSpPr/>
          <p:nvPr/>
        </p:nvSpPr>
        <p:spPr>
          <a:xfrm>
            <a:off x="1463040" y="2779776"/>
            <a:ext cx="5486400" cy="310896"/>
          </a:xfrm>
          <a:prstGeom prst="rect">
            <a:avLst/>
          </a:prstGeom>
          <a:noFill/>
          <a:ln/>
        </p:spPr>
        <p:txBody>
          <a:bodyPr wrap="square" lIns="0" tIns="0" rIns="0" bIns="0" rtlCol="0" anchor="ctr"/>
          <a:lstStyle/>
          <a:p>
            <a:pPr indent="0" marL="0">
              <a:buNone/>
            </a:pPr>
            <a:r>
              <a:rPr lang="en-US" sz="1550" b="1" dirty="0">
                <a:solidFill>
                  <a:srgbClr val="1F2937"/>
                </a:solidFill>
                <a:latin typeface="Calibri" pitchFamily="34" charset="0"/>
                <a:ea typeface="Calibri" pitchFamily="34" charset="-122"/>
                <a:cs typeface="Calibri" pitchFamily="34" charset="-120"/>
              </a:rPr>
              <a:t>Water Tax</a:t>
            </a:r>
            <a:endParaRPr lang="en-US" sz="1550" dirty="0"/>
          </a:p>
        </p:txBody>
      </p:sp>
      <p:sp>
        <p:nvSpPr>
          <p:cNvPr id="13" name="Text 9"/>
          <p:cNvSpPr/>
          <p:nvPr/>
        </p:nvSpPr>
        <p:spPr>
          <a:xfrm>
            <a:off x="1463040" y="3081528"/>
            <a:ext cx="5486400" cy="292608"/>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Panipatti tracked alongside property dues.</a:t>
            </a:r>
            <a:endParaRPr lang="en-US" sz="1150" dirty="0"/>
          </a:p>
        </p:txBody>
      </p:sp>
      <p:sp>
        <p:nvSpPr>
          <p:cNvPr id="14" name="Shape 10"/>
          <p:cNvSpPr/>
          <p:nvPr/>
        </p:nvSpPr>
        <p:spPr>
          <a:xfrm>
            <a:off x="566928" y="3538728"/>
            <a:ext cx="6492240" cy="786384"/>
          </a:xfrm>
          <a:prstGeom prst="roundRect">
            <a:avLst>
              <a:gd name="adj" fmla="val 10465"/>
            </a:avLst>
          </a:prstGeom>
          <a:solidFill>
            <a:srgbClr val="F3F9F5"/>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15" name="Shape 11"/>
          <p:cNvSpPr/>
          <p:nvPr/>
        </p:nvSpPr>
        <p:spPr>
          <a:xfrm>
            <a:off x="768096" y="3675888"/>
            <a:ext cx="512064" cy="512064"/>
          </a:xfrm>
          <a:prstGeom prst="ellipse">
            <a:avLst/>
          </a:prstGeom>
          <a:solidFill>
            <a:srgbClr val="1F7A3D"/>
          </a:solidFill>
          <a:ln/>
        </p:spPr>
      </p:sp>
      <p:pic>
        <p:nvPicPr>
          <p:cNvPr id="16" name="Image 2" descr="preencoded.png">    </p:cNvPr>
          <p:cNvPicPr>
            <a:picLocks noChangeAspect="1"/>
          </p:cNvPicPr>
          <p:nvPr/>
        </p:nvPicPr>
        <p:blipFill>
          <a:blip r:embed="rId3"/>
          <a:stretch>
            <a:fillRect/>
          </a:stretch>
        </p:blipFill>
        <p:spPr>
          <a:xfrm>
            <a:off x="905256" y="3813048"/>
            <a:ext cx="237744" cy="237744"/>
          </a:xfrm>
          <a:prstGeom prst="rect">
            <a:avLst/>
          </a:prstGeom>
        </p:spPr>
      </p:pic>
      <p:sp>
        <p:nvSpPr>
          <p:cNvPr id="17" name="Text 12"/>
          <p:cNvSpPr/>
          <p:nvPr/>
        </p:nvSpPr>
        <p:spPr>
          <a:xfrm>
            <a:off x="1463040" y="3657600"/>
            <a:ext cx="5486400" cy="310896"/>
          </a:xfrm>
          <a:prstGeom prst="rect">
            <a:avLst/>
          </a:prstGeom>
          <a:noFill/>
          <a:ln/>
        </p:spPr>
        <p:txBody>
          <a:bodyPr wrap="square" lIns="0" tIns="0" rIns="0" bIns="0" rtlCol="0" anchor="ctr"/>
          <a:lstStyle/>
          <a:p>
            <a:pPr indent="0" marL="0">
              <a:buNone/>
            </a:pPr>
            <a:r>
              <a:rPr lang="en-US" sz="1550" b="1" dirty="0">
                <a:solidFill>
                  <a:srgbClr val="1F2937"/>
                </a:solidFill>
                <a:latin typeface="Calibri" pitchFamily="34" charset="0"/>
                <a:ea typeface="Calibri" pitchFamily="34" charset="-122"/>
                <a:cs typeface="Calibri" pitchFamily="34" charset="-120"/>
              </a:rPr>
              <a:t>Outstanding Dues</a:t>
            </a:r>
            <a:endParaRPr lang="en-US" sz="1550" dirty="0"/>
          </a:p>
        </p:txBody>
      </p:sp>
      <p:sp>
        <p:nvSpPr>
          <p:cNvPr id="18" name="Text 13"/>
          <p:cNvSpPr/>
          <p:nvPr/>
        </p:nvSpPr>
        <p:spPr>
          <a:xfrm>
            <a:off x="1463040" y="3959352"/>
            <a:ext cx="5486400" cy="292608"/>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Live balance = assessed minus paid, per record.</a:t>
            </a:r>
            <a:endParaRPr lang="en-US" sz="1150" dirty="0"/>
          </a:p>
        </p:txBody>
      </p:sp>
      <p:sp>
        <p:nvSpPr>
          <p:cNvPr id="19" name="Shape 14"/>
          <p:cNvSpPr/>
          <p:nvPr/>
        </p:nvSpPr>
        <p:spPr>
          <a:xfrm>
            <a:off x="566928" y="4416552"/>
            <a:ext cx="6492240" cy="786384"/>
          </a:xfrm>
          <a:prstGeom prst="roundRect">
            <a:avLst>
              <a:gd name="adj" fmla="val 10465"/>
            </a:avLst>
          </a:prstGeom>
          <a:solidFill>
            <a:srgbClr val="F3F9F5"/>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20" name="Shape 15"/>
          <p:cNvSpPr/>
          <p:nvPr/>
        </p:nvSpPr>
        <p:spPr>
          <a:xfrm>
            <a:off x="768096" y="4553712"/>
            <a:ext cx="512064" cy="512064"/>
          </a:xfrm>
          <a:prstGeom prst="ellipse">
            <a:avLst/>
          </a:prstGeom>
          <a:solidFill>
            <a:srgbClr val="1F7A3D"/>
          </a:solidFill>
          <a:ln/>
        </p:spPr>
      </p:sp>
      <p:pic>
        <p:nvPicPr>
          <p:cNvPr id="21" name="Image 3" descr="preencoded.png">    </p:cNvPr>
          <p:cNvPicPr>
            <a:picLocks noChangeAspect="1"/>
          </p:cNvPicPr>
          <p:nvPr/>
        </p:nvPicPr>
        <p:blipFill>
          <a:blip r:embed="rId4"/>
          <a:stretch>
            <a:fillRect/>
          </a:stretch>
        </p:blipFill>
        <p:spPr>
          <a:xfrm>
            <a:off x="905256" y="4690872"/>
            <a:ext cx="237744" cy="237744"/>
          </a:xfrm>
          <a:prstGeom prst="rect">
            <a:avLst/>
          </a:prstGeom>
        </p:spPr>
      </p:pic>
      <p:sp>
        <p:nvSpPr>
          <p:cNvPr id="22" name="Text 16"/>
          <p:cNvSpPr/>
          <p:nvPr/>
        </p:nvSpPr>
        <p:spPr>
          <a:xfrm>
            <a:off x="1463040" y="4535424"/>
            <a:ext cx="5486400" cy="310896"/>
          </a:xfrm>
          <a:prstGeom prst="rect">
            <a:avLst/>
          </a:prstGeom>
          <a:noFill/>
          <a:ln/>
        </p:spPr>
        <p:txBody>
          <a:bodyPr wrap="square" lIns="0" tIns="0" rIns="0" bIns="0" rtlCol="0" anchor="ctr"/>
          <a:lstStyle/>
          <a:p>
            <a:pPr indent="0" marL="0">
              <a:buNone/>
            </a:pPr>
            <a:r>
              <a:rPr lang="en-US" sz="1550" b="1" dirty="0">
                <a:solidFill>
                  <a:srgbClr val="1F2937"/>
                </a:solidFill>
                <a:latin typeface="Calibri" pitchFamily="34" charset="0"/>
                <a:ea typeface="Calibri" pitchFamily="34" charset="-122"/>
                <a:cs typeface="Calibri" pitchFamily="34" charset="-120"/>
              </a:rPr>
              <a:t>Payment History</a:t>
            </a:r>
            <a:endParaRPr lang="en-US" sz="1550" dirty="0"/>
          </a:p>
        </p:txBody>
      </p:sp>
      <p:sp>
        <p:nvSpPr>
          <p:cNvPr id="23" name="Text 17"/>
          <p:cNvSpPr/>
          <p:nvPr/>
        </p:nvSpPr>
        <p:spPr>
          <a:xfrm>
            <a:off x="1463040" y="4837176"/>
            <a:ext cx="5486400" cy="292608"/>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Every payment logged with receipt and date.</a:t>
            </a:r>
            <a:endParaRPr lang="en-US" sz="1150" dirty="0"/>
          </a:p>
        </p:txBody>
      </p:sp>
      <p:sp>
        <p:nvSpPr>
          <p:cNvPr id="24" name="Shape 18"/>
          <p:cNvSpPr/>
          <p:nvPr/>
        </p:nvSpPr>
        <p:spPr>
          <a:xfrm>
            <a:off x="566928" y="5294376"/>
            <a:ext cx="6492240" cy="786384"/>
          </a:xfrm>
          <a:prstGeom prst="roundRect">
            <a:avLst>
              <a:gd name="adj" fmla="val 10465"/>
            </a:avLst>
          </a:prstGeom>
          <a:solidFill>
            <a:srgbClr val="F3F9F5"/>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25" name="Shape 19"/>
          <p:cNvSpPr/>
          <p:nvPr/>
        </p:nvSpPr>
        <p:spPr>
          <a:xfrm>
            <a:off x="768096" y="5431536"/>
            <a:ext cx="512064" cy="512064"/>
          </a:xfrm>
          <a:prstGeom prst="ellipse">
            <a:avLst/>
          </a:prstGeom>
          <a:solidFill>
            <a:srgbClr val="1F7A3D"/>
          </a:solidFill>
          <a:ln/>
        </p:spPr>
      </p:sp>
      <p:pic>
        <p:nvPicPr>
          <p:cNvPr id="26" name="Image 4" descr="preencoded.png">    </p:cNvPr>
          <p:cNvPicPr>
            <a:picLocks noChangeAspect="1"/>
          </p:cNvPicPr>
          <p:nvPr/>
        </p:nvPicPr>
        <p:blipFill>
          <a:blip r:embed="rId5"/>
          <a:stretch>
            <a:fillRect/>
          </a:stretch>
        </p:blipFill>
        <p:spPr>
          <a:xfrm>
            <a:off x="905256" y="5568696"/>
            <a:ext cx="237744" cy="237744"/>
          </a:xfrm>
          <a:prstGeom prst="rect">
            <a:avLst/>
          </a:prstGeom>
        </p:spPr>
      </p:pic>
      <p:sp>
        <p:nvSpPr>
          <p:cNvPr id="27" name="Text 20"/>
          <p:cNvSpPr/>
          <p:nvPr/>
        </p:nvSpPr>
        <p:spPr>
          <a:xfrm>
            <a:off x="1463040" y="5413248"/>
            <a:ext cx="5486400" cy="310896"/>
          </a:xfrm>
          <a:prstGeom prst="rect">
            <a:avLst/>
          </a:prstGeom>
          <a:noFill/>
          <a:ln/>
        </p:spPr>
        <p:txBody>
          <a:bodyPr wrap="square" lIns="0" tIns="0" rIns="0" bIns="0" rtlCol="0" anchor="ctr"/>
          <a:lstStyle/>
          <a:p>
            <a:pPr indent="0" marL="0">
              <a:buNone/>
            </a:pPr>
            <a:r>
              <a:rPr lang="en-US" sz="1550" b="1" dirty="0">
                <a:solidFill>
                  <a:srgbClr val="1F2937"/>
                </a:solidFill>
                <a:latin typeface="Calibri" pitchFamily="34" charset="0"/>
                <a:ea typeface="Calibri" pitchFamily="34" charset="-122"/>
                <a:cs typeface="Calibri" pitchFamily="34" charset="-120"/>
              </a:rPr>
              <a:t>Admin Management</a:t>
            </a:r>
            <a:endParaRPr lang="en-US" sz="1550" dirty="0"/>
          </a:p>
        </p:txBody>
      </p:sp>
      <p:sp>
        <p:nvSpPr>
          <p:cNvPr id="28" name="Text 21"/>
          <p:cNvSpPr/>
          <p:nvPr/>
        </p:nvSpPr>
        <p:spPr>
          <a:xfrm>
            <a:off x="1463040" y="5715000"/>
            <a:ext cx="5486400" cy="292608"/>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Officers create records and register payments.</a:t>
            </a:r>
            <a:endParaRPr lang="en-US" sz="1150" dirty="0"/>
          </a:p>
        </p:txBody>
      </p:sp>
      <p:sp>
        <p:nvSpPr>
          <p:cNvPr id="29" name="Shape 22"/>
          <p:cNvSpPr/>
          <p:nvPr/>
        </p:nvSpPr>
        <p:spPr>
          <a:xfrm>
            <a:off x="7406640" y="1783080"/>
            <a:ext cx="4206240" cy="4251960"/>
          </a:xfrm>
          <a:prstGeom prst="roundRect">
            <a:avLst>
              <a:gd name="adj" fmla="val 2174"/>
            </a:avLst>
          </a:prstGeom>
          <a:solidFill>
            <a:srgbClr val="F3F9F5"/>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30" name="Text 23"/>
          <p:cNvSpPr/>
          <p:nvPr/>
        </p:nvSpPr>
        <p:spPr>
          <a:xfrm>
            <a:off x="7680960" y="1965960"/>
            <a:ext cx="3657600" cy="365760"/>
          </a:xfrm>
          <a:prstGeom prst="rect">
            <a:avLst/>
          </a:prstGeom>
          <a:noFill/>
          <a:ln/>
        </p:spPr>
        <p:txBody>
          <a:bodyPr wrap="square" lIns="0" tIns="0" rIns="0" bIns="0" rtlCol="0" anchor="ctr"/>
          <a:lstStyle/>
          <a:p>
            <a:pPr indent="0" marL="0">
              <a:buNone/>
            </a:pPr>
            <a:r>
              <a:rPr lang="en-US" sz="1700" b="1" dirty="0">
                <a:solidFill>
                  <a:srgbClr val="1F7A3D"/>
                </a:solidFill>
                <a:latin typeface="Cambria" pitchFamily="34" charset="0"/>
                <a:ea typeface="Cambria" pitchFamily="34" charset="-122"/>
                <a:cs typeface="Cambria" pitchFamily="34" charset="-120"/>
              </a:rPr>
              <a:t>Payment status</a:t>
            </a:r>
            <a:endParaRPr lang="en-US" sz="1700" dirty="0"/>
          </a:p>
        </p:txBody>
      </p:sp>
      <p:sp>
        <p:nvSpPr>
          <p:cNvPr id="31" name="Shape 24"/>
          <p:cNvSpPr/>
          <p:nvPr/>
        </p:nvSpPr>
        <p:spPr>
          <a:xfrm>
            <a:off x="7680960" y="2560320"/>
            <a:ext cx="3611880" cy="932688"/>
          </a:xfrm>
          <a:prstGeom prst="roundRect">
            <a:avLst>
              <a:gd name="adj" fmla="val 7843"/>
            </a:avLst>
          </a:prstGeom>
          <a:solidFill>
            <a:srgbClr val="FFFFFF"/>
          </a:solidFill>
          <a:ln w="12700">
            <a:solidFill>
              <a:srgbClr val="DCE9E1"/>
            </a:solidFill>
            <a:prstDash val="solid"/>
          </a:ln>
        </p:spPr>
      </p:sp>
      <p:sp>
        <p:nvSpPr>
          <p:cNvPr id="32" name="Shape 25"/>
          <p:cNvSpPr/>
          <p:nvPr/>
        </p:nvSpPr>
        <p:spPr>
          <a:xfrm>
            <a:off x="7882128" y="2852928"/>
            <a:ext cx="329184" cy="329184"/>
          </a:xfrm>
          <a:prstGeom prst="ellipse">
            <a:avLst/>
          </a:prstGeom>
          <a:solidFill>
            <a:srgbClr val="C0392B"/>
          </a:solidFill>
          <a:ln/>
        </p:spPr>
      </p:sp>
      <p:sp>
        <p:nvSpPr>
          <p:cNvPr id="33" name="Text 26"/>
          <p:cNvSpPr/>
          <p:nvPr/>
        </p:nvSpPr>
        <p:spPr>
          <a:xfrm>
            <a:off x="8366760" y="2688336"/>
            <a:ext cx="2743200" cy="329184"/>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Unpaid</a:t>
            </a:r>
            <a:endParaRPr lang="en-US" sz="1500" dirty="0"/>
          </a:p>
        </p:txBody>
      </p:sp>
      <p:sp>
        <p:nvSpPr>
          <p:cNvPr id="34" name="Text 27"/>
          <p:cNvSpPr/>
          <p:nvPr/>
        </p:nvSpPr>
        <p:spPr>
          <a:xfrm>
            <a:off x="8366760" y="3017520"/>
            <a:ext cx="2743200" cy="310896"/>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Nothing paid yet</a:t>
            </a:r>
            <a:endParaRPr lang="en-US" sz="1150" dirty="0"/>
          </a:p>
        </p:txBody>
      </p:sp>
      <p:sp>
        <p:nvSpPr>
          <p:cNvPr id="35" name="Shape 28"/>
          <p:cNvSpPr/>
          <p:nvPr/>
        </p:nvSpPr>
        <p:spPr>
          <a:xfrm>
            <a:off x="7680960" y="3621024"/>
            <a:ext cx="3611880" cy="932688"/>
          </a:xfrm>
          <a:prstGeom prst="roundRect">
            <a:avLst>
              <a:gd name="adj" fmla="val 7843"/>
            </a:avLst>
          </a:prstGeom>
          <a:solidFill>
            <a:srgbClr val="FFFFFF"/>
          </a:solidFill>
          <a:ln w="12700">
            <a:solidFill>
              <a:srgbClr val="DCE9E1"/>
            </a:solidFill>
            <a:prstDash val="solid"/>
          </a:ln>
        </p:spPr>
      </p:sp>
      <p:sp>
        <p:nvSpPr>
          <p:cNvPr id="36" name="Shape 29"/>
          <p:cNvSpPr/>
          <p:nvPr/>
        </p:nvSpPr>
        <p:spPr>
          <a:xfrm>
            <a:off x="7882128" y="3913632"/>
            <a:ext cx="329184" cy="329184"/>
          </a:xfrm>
          <a:prstGeom prst="ellipse">
            <a:avLst/>
          </a:prstGeom>
          <a:solidFill>
            <a:srgbClr val="C9A227"/>
          </a:solidFill>
          <a:ln/>
        </p:spPr>
      </p:sp>
      <p:sp>
        <p:nvSpPr>
          <p:cNvPr id="37" name="Text 30"/>
          <p:cNvSpPr/>
          <p:nvPr/>
        </p:nvSpPr>
        <p:spPr>
          <a:xfrm>
            <a:off x="8366760" y="3749040"/>
            <a:ext cx="2743200" cy="329184"/>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Partial</a:t>
            </a:r>
            <a:endParaRPr lang="en-US" sz="1500" dirty="0"/>
          </a:p>
        </p:txBody>
      </p:sp>
      <p:sp>
        <p:nvSpPr>
          <p:cNvPr id="38" name="Text 31"/>
          <p:cNvSpPr/>
          <p:nvPr/>
        </p:nvSpPr>
        <p:spPr>
          <a:xfrm>
            <a:off x="8366760" y="4078224"/>
            <a:ext cx="2743200" cy="310896"/>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Some balance remains</a:t>
            </a:r>
            <a:endParaRPr lang="en-US" sz="1150" dirty="0"/>
          </a:p>
        </p:txBody>
      </p:sp>
      <p:sp>
        <p:nvSpPr>
          <p:cNvPr id="39" name="Shape 32"/>
          <p:cNvSpPr/>
          <p:nvPr/>
        </p:nvSpPr>
        <p:spPr>
          <a:xfrm>
            <a:off x="7680960" y="4681728"/>
            <a:ext cx="3611880" cy="932688"/>
          </a:xfrm>
          <a:prstGeom prst="roundRect">
            <a:avLst>
              <a:gd name="adj" fmla="val 7843"/>
            </a:avLst>
          </a:prstGeom>
          <a:solidFill>
            <a:srgbClr val="FFFFFF"/>
          </a:solidFill>
          <a:ln w="12700">
            <a:solidFill>
              <a:srgbClr val="DCE9E1"/>
            </a:solidFill>
            <a:prstDash val="solid"/>
          </a:ln>
        </p:spPr>
      </p:sp>
      <p:sp>
        <p:nvSpPr>
          <p:cNvPr id="40" name="Shape 33"/>
          <p:cNvSpPr/>
          <p:nvPr/>
        </p:nvSpPr>
        <p:spPr>
          <a:xfrm>
            <a:off x="7882128" y="4974336"/>
            <a:ext cx="329184" cy="329184"/>
          </a:xfrm>
          <a:prstGeom prst="ellipse">
            <a:avLst/>
          </a:prstGeom>
          <a:solidFill>
            <a:srgbClr val="1F7A3D"/>
          </a:solidFill>
          <a:ln/>
        </p:spPr>
      </p:sp>
      <p:sp>
        <p:nvSpPr>
          <p:cNvPr id="41" name="Text 34"/>
          <p:cNvSpPr/>
          <p:nvPr/>
        </p:nvSpPr>
        <p:spPr>
          <a:xfrm>
            <a:off x="8366760" y="4809744"/>
            <a:ext cx="2743200" cy="329184"/>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Paid</a:t>
            </a:r>
            <a:endParaRPr lang="en-US" sz="1500" dirty="0"/>
          </a:p>
        </p:txBody>
      </p:sp>
      <p:sp>
        <p:nvSpPr>
          <p:cNvPr id="42" name="Text 35"/>
          <p:cNvSpPr/>
          <p:nvPr/>
        </p:nvSpPr>
        <p:spPr>
          <a:xfrm>
            <a:off x="8366760" y="5138928"/>
            <a:ext cx="2743200" cy="310896"/>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Fully cleared</a:t>
            </a:r>
            <a:endParaRPr lang="en-US" sz="1150" dirty="0"/>
          </a:p>
        </p:txBody>
      </p:sp>
      <p:sp>
        <p:nvSpPr>
          <p:cNvPr id="43" name="Text 36"/>
          <p:cNvSpPr/>
          <p:nvPr/>
        </p:nvSpPr>
        <p:spPr>
          <a:xfrm>
            <a:off x="548640" y="6510528"/>
            <a:ext cx="54864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Digital Gram Panchayat  ·  v1.0.0</a:t>
            </a:r>
            <a:endParaRPr lang="en-US" sz="900" dirty="0"/>
          </a:p>
        </p:txBody>
      </p:sp>
      <p:sp>
        <p:nvSpPr>
          <p:cNvPr id="44" name="Text 37"/>
          <p:cNvSpPr/>
          <p:nvPr/>
        </p:nvSpPr>
        <p:spPr>
          <a:xfrm>
            <a:off x="11338560" y="6510528"/>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8229600" cy="274320"/>
          </a:xfrm>
          <a:prstGeom prst="rect">
            <a:avLst/>
          </a:prstGeom>
          <a:noFill/>
          <a:ln/>
        </p:spPr>
        <p:txBody>
          <a:bodyPr wrap="square" lIns="0" tIns="0" rIns="0" bIns="0" rtlCol="0" anchor="ctr"/>
          <a:lstStyle/>
          <a:p>
            <a:pPr algn="l" indent="0" marL="0">
              <a:buNone/>
            </a:pPr>
            <a:r>
              <a:rPr lang="en-US" sz="1200" b="1" spc="300" kern="0" dirty="0">
                <a:solidFill>
                  <a:srgbClr val="1F7A3D"/>
                </a:solidFill>
                <a:latin typeface="Calibri" pitchFamily="34" charset="0"/>
                <a:ea typeface="Calibri" pitchFamily="34" charset="-122"/>
                <a:cs typeface="Calibri" pitchFamily="34" charset="-120"/>
              </a:rPr>
              <a:t>MODULE 05</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algn="l" indent="0" marL="0">
              <a:buNone/>
            </a:pPr>
            <a:r>
              <a:rPr lang="en-US" sz="3000" b="1" dirty="0">
                <a:solidFill>
                  <a:srgbClr val="1F2937"/>
                </a:solidFill>
                <a:latin typeface="Cambria" pitchFamily="34" charset="0"/>
                <a:ea typeface="Cambria" pitchFamily="34" charset="-122"/>
                <a:cs typeface="Cambria" pitchFamily="34" charset="-120"/>
              </a:rPr>
              <a:t>Certificates (Dakhala)</a:t>
            </a:r>
            <a:endParaRPr lang="en-US" sz="3000" dirty="0"/>
          </a:p>
        </p:txBody>
      </p:sp>
      <p:sp>
        <p:nvSpPr>
          <p:cNvPr id="4" name="Text 2"/>
          <p:cNvSpPr/>
          <p:nvPr/>
        </p:nvSpPr>
        <p:spPr>
          <a:xfrm>
            <a:off x="566928" y="1417320"/>
            <a:ext cx="10972800" cy="457200"/>
          </a:xfrm>
          <a:prstGeom prst="rect">
            <a:avLst/>
          </a:prstGeom>
          <a:noFill/>
          <a:ln/>
        </p:spPr>
        <p:txBody>
          <a:bodyPr wrap="square" lIns="0" tIns="0" rIns="0" bIns="0" rtlCol="0" anchor="ctr"/>
          <a:lstStyle/>
          <a:p>
            <a:pPr indent="0" marL="0">
              <a:buNone/>
            </a:pPr>
            <a:r>
              <a:rPr lang="en-US" sz="1500" dirty="0">
                <a:solidFill>
                  <a:srgbClr val="6B7280"/>
                </a:solidFill>
                <a:latin typeface="Calibri" pitchFamily="34" charset="0"/>
                <a:ea typeface="Calibri" pitchFamily="34" charset="-122"/>
                <a:cs typeface="Calibri" pitchFamily="34" charset="-120"/>
              </a:rPr>
              <a:t>End-to-end certificate issuance — from application to a signed, downloadable PDF.</a:t>
            </a:r>
            <a:endParaRPr lang="en-US" sz="1500" dirty="0"/>
          </a:p>
        </p:txBody>
      </p:sp>
      <p:sp>
        <p:nvSpPr>
          <p:cNvPr id="5" name="Shape 3"/>
          <p:cNvSpPr/>
          <p:nvPr/>
        </p:nvSpPr>
        <p:spPr>
          <a:xfrm>
            <a:off x="632308" y="2148840"/>
            <a:ext cx="3520440" cy="1600200"/>
          </a:xfrm>
          <a:prstGeom prst="roundRect">
            <a:avLst>
              <a:gd name="adj" fmla="val 5143"/>
            </a:avLst>
          </a:prstGeom>
          <a:solidFill>
            <a:srgbClr val="F3F9F5"/>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6" name="Shape 4"/>
          <p:cNvSpPr/>
          <p:nvPr/>
        </p:nvSpPr>
        <p:spPr>
          <a:xfrm>
            <a:off x="870052" y="2404872"/>
            <a:ext cx="658368" cy="658368"/>
          </a:xfrm>
          <a:prstGeom prst="ellipse">
            <a:avLst/>
          </a:prstGeom>
          <a:solidFill>
            <a:srgbClr val="1F7A3D"/>
          </a:solidFill>
          <a:ln/>
        </p:spPr>
      </p:sp>
      <p:pic>
        <p:nvPicPr>
          <p:cNvPr id="7" name="Image 0" descr="preencoded.png">    </p:cNvPr>
          <p:cNvPicPr>
            <a:picLocks noChangeAspect="1"/>
          </p:cNvPicPr>
          <p:nvPr/>
        </p:nvPicPr>
        <p:blipFill>
          <a:blip r:embed="rId1"/>
          <a:stretch>
            <a:fillRect/>
          </a:stretch>
        </p:blipFill>
        <p:spPr>
          <a:xfrm>
            <a:off x="1043788" y="2578608"/>
            <a:ext cx="310896" cy="310896"/>
          </a:xfrm>
          <a:prstGeom prst="rect">
            <a:avLst/>
          </a:prstGeom>
        </p:spPr>
      </p:pic>
      <p:sp>
        <p:nvSpPr>
          <p:cNvPr id="8" name="Text 5"/>
          <p:cNvSpPr/>
          <p:nvPr/>
        </p:nvSpPr>
        <p:spPr>
          <a:xfrm>
            <a:off x="3101188" y="2331720"/>
            <a:ext cx="914400" cy="274320"/>
          </a:xfrm>
          <a:prstGeom prst="rect">
            <a:avLst/>
          </a:prstGeom>
          <a:noFill/>
          <a:ln/>
        </p:spPr>
        <p:txBody>
          <a:bodyPr wrap="square" lIns="0" tIns="0" rIns="0" bIns="0" rtlCol="0" anchor="ctr"/>
          <a:lstStyle/>
          <a:p>
            <a:pPr algn="r" indent="0" marL="0">
              <a:buNone/>
            </a:pPr>
            <a:r>
              <a:rPr lang="en-US" sz="1050" b="1" spc="100" kern="0" dirty="0">
                <a:solidFill>
                  <a:srgbClr val="2E9E5B"/>
                </a:solidFill>
                <a:latin typeface="Calibri" pitchFamily="34" charset="0"/>
                <a:ea typeface="Calibri" pitchFamily="34" charset="-122"/>
                <a:cs typeface="Calibri" pitchFamily="34" charset="-120"/>
              </a:rPr>
              <a:t>Step 1</a:t>
            </a:r>
            <a:endParaRPr lang="en-US" sz="1050" dirty="0"/>
          </a:p>
        </p:txBody>
      </p:sp>
      <p:sp>
        <p:nvSpPr>
          <p:cNvPr id="9" name="Text 6"/>
          <p:cNvSpPr/>
          <p:nvPr/>
        </p:nvSpPr>
        <p:spPr>
          <a:xfrm>
            <a:off x="1638148" y="2459736"/>
            <a:ext cx="2331720" cy="36576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Application</a:t>
            </a:r>
            <a:endParaRPr lang="en-US" sz="1500" dirty="0"/>
          </a:p>
        </p:txBody>
      </p:sp>
      <p:sp>
        <p:nvSpPr>
          <p:cNvPr id="10" name="Text 7"/>
          <p:cNvSpPr/>
          <p:nvPr/>
        </p:nvSpPr>
        <p:spPr>
          <a:xfrm>
            <a:off x="870052" y="3172968"/>
            <a:ext cx="3063240" cy="50292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Citizen picks a type and fills the form</a:t>
            </a:r>
            <a:endParaRPr lang="en-US" sz="1150" dirty="0"/>
          </a:p>
        </p:txBody>
      </p:sp>
      <p:pic>
        <p:nvPicPr>
          <p:cNvPr id="11" name="Image 1" descr="preencoded.png">    </p:cNvPr>
          <p:cNvPicPr>
            <a:picLocks noChangeAspect="1"/>
          </p:cNvPicPr>
          <p:nvPr/>
        </p:nvPicPr>
        <p:blipFill>
          <a:blip r:embed="rId2"/>
          <a:stretch>
            <a:fillRect/>
          </a:stretch>
        </p:blipFill>
        <p:spPr>
          <a:xfrm>
            <a:off x="4143604" y="2848356"/>
            <a:ext cx="201168" cy="201168"/>
          </a:xfrm>
          <a:prstGeom prst="rect">
            <a:avLst/>
          </a:prstGeom>
        </p:spPr>
      </p:pic>
      <p:sp>
        <p:nvSpPr>
          <p:cNvPr id="12" name="Shape 8"/>
          <p:cNvSpPr/>
          <p:nvPr/>
        </p:nvSpPr>
        <p:spPr>
          <a:xfrm>
            <a:off x="4335628" y="2148840"/>
            <a:ext cx="3520440" cy="1600200"/>
          </a:xfrm>
          <a:prstGeom prst="roundRect">
            <a:avLst>
              <a:gd name="adj" fmla="val 5143"/>
            </a:avLst>
          </a:prstGeom>
          <a:solidFill>
            <a:srgbClr val="F3F9F5"/>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13" name="Shape 9"/>
          <p:cNvSpPr/>
          <p:nvPr/>
        </p:nvSpPr>
        <p:spPr>
          <a:xfrm>
            <a:off x="4573372" y="2404872"/>
            <a:ext cx="658368" cy="658368"/>
          </a:xfrm>
          <a:prstGeom prst="ellipse">
            <a:avLst/>
          </a:prstGeom>
          <a:solidFill>
            <a:srgbClr val="1F7A3D"/>
          </a:solidFill>
          <a:ln/>
        </p:spPr>
      </p:sp>
      <p:pic>
        <p:nvPicPr>
          <p:cNvPr id="14" name="Image 2" descr="preencoded.png">    </p:cNvPr>
          <p:cNvPicPr>
            <a:picLocks noChangeAspect="1"/>
          </p:cNvPicPr>
          <p:nvPr/>
        </p:nvPicPr>
        <p:blipFill>
          <a:blip r:embed="rId3"/>
          <a:stretch>
            <a:fillRect/>
          </a:stretch>
        </p:blipFill>
        <p:spPr>
          <a:xfrm>
            <a:off x="4747108" y="2578608"/>
            <a:ext cx="310896" cy="310896"/>
          </a:xfrm>
          <a:prstGeom prst="rect">
            <a:avLst/>
          </a:prstGeom>
        </p:spPr>
      </p:pic>
      <p:sp>
        <p:nvSpPr>
          <p:cNvPr id="15" name="Text 10"/>
          <p:cNvSpPr/>
          <p:nvPr/>
        </p:nvSpPr>
        <p:spPr>
          <a:xfrm>
            <a:off x="6804508" y="2331720"/>
            <a:ext cx="914400" cy="274320"/>
          </a:xfrm>
          <a:prstGeom prst="rect">
            <a:avLst/>
          </a:prstGeom>
          <a:noFill/>
          <a:ln/>
        </p:spPr>
        <p:txBody>
          <a:bodyPr wrap="square" lIns="0" tIns="0" rIns="0" bIns="0" rtlCol="0" anchor="ctr"/>
          <a:lstStyle/>
          <a:p>
            <a:pPr algn="r" indent="0" marL="0">
              <a:buNone/>
            </a:pPr>
            <a:r>
              <a:rPr lang="en-US" sz="1050" b="1" spc="100" kern="0" dirty="0">
                <a:solidFill>
                  <a:srgbClr val="2E9E5B"/>
                </a:solidFill>
                <a:latin typeface="Calibri" pitchFamily="34" charset="0"/>
                <a:ea typeface="Calibri" pitchFamily="34" charset="-122"/>
                <a:cs typeface="Calibri" pitchFamily="34" charset="-120"/>
              </a:rPr>
              <a:t>Step 2</a:t>
            </a:r>
            <a:endParaRPr lang="en-US" sz="1050" dirty="0"/>
          </a:p>
        </p:txBody>
      </p:sp>
      <p:sp>
        <p:nvSpPr>
          <p:cNvPr id="16" name="Text 11"/>
          <p:cNvSpPr/>
          <p:nvPr/>
        </p:nvSpPr>
        <p:spPr>
          <a:xfrm>
            <a:off x="5341468" y="2459736"/>
            <a:ext cx="2331720" cy="36576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Document Upload</a:t>
            </a:r>
            <a:endParaRPr lang="en-US" sz="1500" dirty="0"/>
          </a:p>
        </p:txBody>
      </p:sp>
      <p:sp>
        <p:nvSpPr>
          <p:cNvPr id="17" name="Text 12"/>
          <p:cNvSpPr/>
          <p:nvPr/>
        </p:nvSpPr>
        <p:spPr>
          <a:xfrm>
            <a:off x="4573372" y="3172968"/>
            <a:ext cx="3063240" cy="50292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Supporting documents attached</a:t>
            </a:r>
            <a:endParaRPr lang="en-US" sz="1150" dirty="0"/>
          </a:p>
        </p:txBody>
      </p:sp>
      <p:pic>
        <p:nvPicPr>
          <p:cNvPr id="18" name="Image 3" descr="preencoded.png">    </p:cNvPr>
          <p:cNvPicPr>
            <a:picLocks noChangeAspect="1"/>
          </p:cNvPicPr>
          <p:nvPr/>
        </p:nvPicPr>
        <p:blipFill>
          <a:blip r:embed="rId4"/>
          <a:stretch>
            <a:fillRect/>
          </a:stretch>
        </p:blipFill>
        <p:spPr>
          <a:xfrm>
            <a:off x="7846924" y="2848356"/>
            <a:ext cx="201168" cy="201168"/>
          </a:xfrm>
          <a:prstGeom prst="rect">
            <a:avLst/>
          </a:prstGeom>
        </p:spPr>
      </p:pic>
      <p:sp>
        <p:nvSpPr>
          <p:cNvPr id="19" name="Shape 13"/>
          <p:cNvSpPr/>
          <p:nvPr/>
        </p:nvSpPr>
        <p:spPr>
          <a:xfrm>
            <a:off x="8038948" y="2148840"/>
            <a:ext cx="3520440" cy="1600200"/>
          </a:xfrm>
          <a:prstGeom prst="roundRect">
            <a:avLst>
              <a:gd name="adj" fmla="val 5143"/>
            </a:avLst>
          </a:prstGeom>
          <a:solidFill>
            <a:srgbClr val="F3F9F5"/>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20" name="Shape 14"/>
          <p:cNvSpPr/>
          <p:nvPr/>
        </p:nvSpPr>
        <p:spPr>
          <a:xfrm>
            <a:off x="8276692" y="2404872"/>
            <a:ext cx="658368" cy="658368"/>
          </a:xfrm>
          <a:prstGeom prst="ellipse">
            <a:avLst/>
          </a:prstGeom>
          <a:solidFill>
            <a:srgbClr val="1F7A3D"/>
          </a:solidFill>
          <a:ln/>
        </p:spPr>
      </p:sp>
      <p:pic>
        <p:nvPicPr>
          <p:cNvPr id="21" name="Image 4" descr="preencoded.png">    </p:cNvPr>
          <p:cNvPicPr>
            <a:picLocks noChangeAspect="1"/>
          </p:cNvPicPr>
          <p:nvPr/>
        </p:nvPicPr>
        <p:blipFill>
          <a:blip r:embed="rId5"/>
          <a:stretch>
            <a:fillRect/>
          </a:stretch>
        </p:blipFill>
        <p:spPr>
          <a:xfrm>
            <a:off x="8450428" y="2578608"/>
            <a:ext cx="310896" cy="310896"/>
          </a:xfrm>
          <a:prstGeom prst="rect">
            <a:avLst/>
          </a:prstGeom>
        </p:spPr>
      </p:pic>
      <p:sp>
        <p:nvSpPr>
          <p:cNvPr id="22" name="Text 15"/>
          <p:cNvSpPr/>
          <p:nvPr/>
        </p:nvSpPr>
        <p:spPr>
          <a:xfrm>
            <a:off x="10507828" y="2331720"/>
            <a:ext cx="914400" cy="274320"/>
          </a:xfrm>
          <a:prstGeom prst="rect">
            <a:avLst/>
          </a:prstGeom>
          <a:noFill/>
          <a:ln/>
        </p:spPr>
        <p:txBody>
          <a:bodyPr wrap="square" lIns="0" tIns="0" rIns="0" bIns="0" rtlCol="0" anchor="ctr"/>
          <a:lstStyle/>
          <a:p>
            <a:pPr algn="r" indent="0" marL="0">
              <a:buNone/>
            </a:pPr>
            <a:r>
              <a:rPr lang="en-US" sz="1050" b="1" spc="100" kern="0" dirty="0">
                <a:solidFill>
                  <a:srgbClr val="2E9E5B"/>
                </a:solidFill>
                <a:latin typeface="Calibri" pitchFamily="34" charset="0"/>
                <a:ea typeface="Calibri" pitchFamily="34" charset="-122"/>
                <a:cs typeface="Calibri" pitchFamily="34" charset="-120"/>
              </a:rPr>
              <a:t>Step 3</a:t>
            </a:r>
            <a:endParaRPr lang="en-US" sz="1050" dirty="0"/>
          </a:p>
        </p:txBody>
      </p:sp>
      <p:sp>
        <p:nvSpPr>
          <p:cNvPr id="23" name="Text 16"/>
          <p:cNvSpPr/>
          <p:nvPr/>
        </p:nvSpPr>
        <p:spPr>
          <a:xfrm>
            <a:off x="9044788" y="2459736"/>
            <a:ext cx="2331720" cy="36576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Verification</a:t>
            </a:r>
            <a:endParaRPr lang="en-US" sz="1500" dirty="0"/>
          </a:p>
        </p:txBody>
      </p:sp>
      <p:sp>
        <p:nvSpPr>
          <p:cNvPr id="24" name="Text 17"/>
          <p:cNvSpPr/>
          <p:nvPr/>
        </p:nvSpPr>
        <p:spPr>
          <a:xfrm>
            <a:off x="8276692" y="3172968"/>
            <a:ext cx="3063240" cy="50292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Officer reviews the application</a:t>
            </a:r>
            <a:endParaRPr lang="en-US" sz="1150" dirty="0"/>
          </a:p>
        </p:txBody>
      </p:sp>
      <p:sp>
        <p:nvSpPr>
          <p:cNvPr id="25" name="Shape 18"/>
          <p:cNvSpPr/>
          <p:nvPr/>
        </p:nvSpPr>
        <p:spPr>
          <a:xfrm>
            <a:off x="632308" y="4023360"/>
            <a:ext cx="3520440" cy="1600200"/>
          </a:xfrm>
          <a:prstGeom prst="roundRect">
            <a:avLst>
              <a:gd name="adj" fmla="val 5143"/>
            </a:avLst>
          </a:prstGeom>
          <a:solidFill>
            <a:srgbClr val="FFFFFF"/>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26" name="Shape 19"/>
          <p:cNvSpPr/>
          <p:nvPr/>
        </p:nvSpPr>
        <p:spPr>
          <a:xfrm>
            <a:off x="870052" y="4279392"/>
            <a:ext cx="658368" cy="658368"/>
          </a:xfrm>
          <a:prstGeom prst="ellipse">
            <a:avLst/>
          </a:prstGeom>
          <a:solidFill>
            <a:srgbClr val="1F7A3D"/>
          </a:solidFill>
          <a:ln/>
        </p:spPr>
      </p:sp>
      <p:pic>
        <p:nvPicPr>
          <p:cNvPr id="27" name="Image 5" descr="preencoded.png">    </p:cNvPr>
          <p:cNvPicPr>
            <a:picLocks noChangeAspect="1"/>
          </p:cNvPicPr>
          <p:nvPr/>
        </p:nvPicPr>
        <p:blipFill>
          <a:blip r:embed="rId6"/>
          <a:stretch>
            <a:fillRect/>
          </a:stretch>
        </p:blipFill>
        <p:spPr>
          <a:xfrm>
            <a:off x="1043788" y="4453128"/>
            <a:ext cx="310896" cy="310896"/>
          </a:xfrm>
          <a:prstGeom prst="rect">
            <a:avLst/>
          </a:prstGeom>
        </p:spPr>
      </p:pic>
      <p:sp>
        <p:nvSpPr>
          <p:cNvPr id="28" name="Text 20"/>
          <p:cNvSpPr/>
          <p:nvPr/>
        </p:nvSpPr>
        <p:spPr>
          <a:xfrm>
            <a:off x="3101188" y="4206240"/>
            <a:ext cx="914400" cy="274320"/>
          </a:xfrm>
          <a:prstGeom prst="rect">
            <a:avLst/>
          </a:prstGeom>
          <a:noFill/>
          <a:ln/>
        </p:spPr>
        <p:txBody>
          <a:bodyPr wrap="square" lIns="0" tIns="0" rIns="0" bIns="0" rtlCol="0" anchor="ctr"/>
          <a:lstStyle/>
          <a:p>
            <a:pPr algn="r" indent="0" marL="0">
              <a:buNone/>
            </a:pPr>
            <a:r>
              <a:rPr lang="en-US" sz="1050" b="1" spc="100" kern="0" dirty="0">
                <a:solidFill>
                  <a:srgbClr val="2E9E5B"/>
                </a:solidFill>
                <a:latin typeface="Calibri" pitchFamily="34" charset="0"/>
                <a:ea typeface="Calibri" pitchFamily="34" charset="-122"/>
                <a:cs typeface="Calibri" pitchFamily="34" charset="-120"/>
              </a:rPr>
              <a:t>Step 4</a:t>
            </a:r>
            <a:endParaRPr lang="en-US" sz="1050" dirty="0"/>
          </a:p>
        </p:txBody>
      </p:sp>
      <p:sp>
        <p:nvSpPr>
          <p:cNvPr id="29" name="Text 21"/>
          <p:cNvSpPr/>
          <p:nvPr/>
        </p:nvSpPr>
        <p:spPr>
          <a:xfrm>
            <a:off x="1638148" y="4334256"/>
            <a:ext cx="2331720" cy="36576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Approval</a:t>
            </a:r>
            <a:endParaRPr lang="en-US" sz="1500" dirty="0"/>
          </a:p>
        </p:txBody>
      </p:sp>
      <p:sp>
        <p:nvSpPr>
          <p:cNvPr id="30" name="Text 22"/>
          <p:cNvSpPr/>
          <p:nvPr/>
        </p:nvSpPr>
        <p:spPr>
          <a:xfrm>
            <a:off x="870052" y="5047488"/>
            <a:ext cx="3063240" cy="50292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Officer approves or rejects with reason</a:t>
            </a:r>
            <a:endParaRPr lang="en-US" sz="1150" dirty="0"/>
          </a:p>
        </p:txBody>
      </p:sp>
      <p:pic>
        <p:nvPicPr>
          <p:cNvPr id="31" name="Image 6" descr="preencoded.png">    </p:cNvPr>
          <p:cNvPicPr>
            <a:picLocks noChangeAspect="1"/>
          </p:cNvPicPr>
          <p:nvPr/>
        </p:nvPicPr>
        <p:blipFill>
          <a:blip r:embed="rId7"/>
          <a:stretch>
            <a:fillRect/>
          </a:stretch>
        </p:blipFill>
        <p:spPr>
          <a:xfrm>
            <a:off x="4143604" y="4722876"/>
            <a:ext cx="201168" cy="201168"/>
          </a:xfrm>
          <a:prstGeom prst="rect">
            <a:avLst/>
          </a:prstGeom>
        </p:spPr>
      </p:pic>
      <p:sp>
        <p:nvSpPr>
          <p:cNvPr id="32" name="Shape 23"/>
          <p:cNvSpPr/>
          <p:nvPr/>
        </p:nvSpPr>
        <p:spPr>
          <a:xfrm>
            <a:off x="4335628" y="4023360"/>
            <a:ext cx="3520440" cy="1600200"/>
          </a:xfrm>
          <a:prstGeom prst="roundRect">
            <a:avLst>
              <a:gd name="adj" fmla="val 5143"/>
            </a:avLst>
          </a:prstGeom>
          <a:solidFill>
            <a:srgbClr val="FFFFFF"/>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33" name="Shape 24"/>
          <p:cNvSpPr/>
          <p:nvPr/>
        </p:nvSpPr>
        <p:spPr>
          <a:xfrm>
            <a:off x="4573372" y="4279392"/>
            <a:ext cx="658368" cy="658368"/>
          </a:xfrm>
          <a:prstGeom prst="ellipse">
            <a:avLst/>
          </a:prstGeom>
          <a:solidFill>
            <a:srgbClr val="1F7A3D"/>
          </a:solidFill>
          <a:ln/>
        </p:spPr>
      </p:sp>
      <p:pic>
        <p:nvPicPr>
          <p:cNvPr id="34" name="Image 7" descr="preencoded.png">    </p:cNvPr>
          <p:cNvPicPr>
            <a:picLocks noChangeAspect="1"/>
          </p:cNvPicPr>
          <p:nvPr/>
        </p:nvPicPr>
        <p:blipFill>
          <a:blip r:embed="rId8"/>
          <a:stretch>
            <a:fillRect/>
          </a:stretch>
        </p:blipFill>
        <p:spPr>
          <a:xfrm>
            <a:off x="4747108" y="4453128"/>
            <a:ext cx="310896" cy="310896"/>
          </a:xfrm>
          <a:prstGeom prst="rect">
            <a:avLst/>
          </a:prstGeom>
        </p:spPr>
      </p:pic>
      <p:sp>
        <p:nvSpPr>
          <p:cNvPr id="35" name="Text 25"/>
          <p:cNvSpPr/>
          <p:nvPr/>
        </p:nvSpPr>
        <p:spPr>
          <a:xfrm>
            <a:off x="6804508" y="4206240"/>
            <a:ext cx="914400" cy="274320"/>
          </a:xfrm>
          <a:prstGeom prst="rect">
            <a:avLst/>
          </a:prstGeom>
          <a:noFill/>
          <a:ln/>
        </p:spPr>
        <p:txBody>
          <a:bodyPr wrap="square" lIns="0" tIns="0" rIns="0" bIns="0" rtlCol="0" anchor="ctr"/>
          <a:lstStyle/>
          <a:p>
            <a:pPr algn="r" indent="0" marL="0">
              <a:buNone/>
            </a:pPr>
            <a:r>
              <a:rPr lang="en-US" sz="1050" b="1" spc="100" kern="0" dirty="0">
                <a:solidFill>
                  <a:srgbClr val="2E9E5B"/>
                </a:solidFill>
                <a:latin typeface="Calibri" pitchFamily="34" charset="0"/>
                <a:ea typeface="Calibri" pitchFamily="34" charset="-122"/>
                <a:cs typeface="Calibri" pitchFamily="34" charset="-120"/>
              </a:rPr>
              <a:t>Step 5</a:t>
            </a:r>
            <a:endParaRPr lang="en-US" sz="1050" dirty="0"/>
          </a:p>
        </p:txBody>
      </p:sp>
      <p:sp>
        <p:nvSpPr>
          <p:cNvPr id="36" name="Text 26"/>
          <p:cNvSpPr/>
          <p:nvPr/>
        </p:nvSpPr>
        <p:spPr>
          <a:xfrm>
            <a:off x="5341468" y="4334256"/>
            <a:ext cx="2331720" cy="36576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PDF Generation</a:t>
            </a:r>
            <a:endParaRPr lang="en-US" sz="1500" dirty="0"/>
          </a:p>
        </p:txBody>
      </p:sp>
      <p:sp>
        <p:nvSpPr>
          <p:cNvPr id="37" name="Text 27"/>
          <p:cNvSpPr/>
          <p:nvPr/>
        </p:nvSpPr>
        <p:spPr>
          <a:xfrm>
            <a:off x="4573372" y="5047488"/>
            <a:ext cx="3063240" cy="50292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Certificate auto-generated with PDFKit</a:t>
            </a:r>
            <a:endParaRPr lang="en-US" sz="1150" dirty="0"/>
          </a:p>
        </p:txBody>
      </p:sp>
      <p:pic>
        <p:nvPicPr>
          <p:cNvPr id="38" name="Image 8" descr="preencoded.png">    </p:cNvPr>
          <p:cNvPicPr>
            <a:picLocks noChangeAspect="1"/>
          </p:cNvPicPr>
          <p:nvPr/>
        </p:nvPicPr>
        <p:blipFill>
          <a:blip r:embed="rId9"/>
          <a:stretch>
            <a:fillRect/>
          </a:stretch>
        </p:blipFill>
        <p:spPr>
          <a:xfrm>
            <a:off x="7846924" y="4722876"/>
            <a:ext cx="201168" cy="201168"/>
          </a:xfrm>
          <a:prstGeom prst="rect">
            <a:avLst/>
          </a:prstGeom>
        </p:spPr>
      </p:pic>
      <p:sp>
        <p:nvSpPr>
          <p:cNvPr id="39" name="Shape 28"/>
          <p:cNvSpPr/>
          <p:nvPr/>
        </p:nvSpPr>
        <p:spPr>
          <a:xfrm>
            <a:off x="8038948" y="4023360"/>
            <a:ext cx="3520440" cy="1600200"/>
          </a:xfrm>
          <a:prstGeom prst="roundRect">
            <a:avLst>
              <a:gd name="adj" fmla="val 5143"/>
            </a:avLst>
          </a:prstGeom>
          <a:solidFill>
            <a:srgbClr val="FFFFFF"/>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40" name="Shape 29"/>
          <p:cNvSpPr/>
          <p:nvPr/>
        </p:nvSpPr>
        <p:spPr>
          <a:xfrm>
            <a:off x="8276692" y="4279392"/>
            <a:ext cx="658368" cy="658368"/>
          </a:xfrm>
          <a:prstGeom prst="ellipse">
            <a:avLst/>
          </a:prstGeom>
          <a:solidFill>
            <a:srgbClr val="1F7A3D"/>
          </a:solidFill>
          <a:ln/>
        </p:spPr>
      </p:sp>
      <p:pic>
        <p:nvPicPr>
          <p:cNvPr id="41" name="Image 9" descr="preencoded.png">    </p:cNvPr>
          <p:cNvPicPr>
            <a:picLocks noChangeAspect="1"/>
          </p:cNvPicPr>
          <p:nvPr/>
        </p:nvPicPr>
        <p:blipFill>
          <a:blip r:embed="rId10"/>
          <a:stretch>
            <a:fillRect/>
          </a:stretch>
        </p:blipFill>
        <p:spPr>
          <a:xfrm>
            <a:off x="8450428" y="4453128"/>
            <a:ext cx="310896" cy="310896"/>
          </a:xfrm>
          <a:prstGeom prst="rect">
            <a:avLst/>
          </a:prstGeom>
        </p:spPr>
      </p:pic>
      <p:sp>
        <p:nvSpPr>
          <p:cNvPr id="42" name="Text 30"/>
          <p:cNvSpPr/>
          <p:nvPr/>
        </p:nvSpPr>
        <p:spPr>
          <a:xfrm>
            <a:off x="10507828" y="4206240"/>
            <a:ext cx="914400" cy="274320"/>
          </a:xfrm>
          <a:prstGeom prst="rect">
            <a:avLst/>
          </a:prstGeom>
          <a:noFill/>
          <a:ln/>
        </p:spPr>
        <p:txBody>
          <a:bodyPr wrap="square" lIns="0" tIns="0" rIns="0" bIns="0" rtlCol="0" anchor="ctr"/>
          <a:lstStyle/>
          <a:p>
            <a:pPr algn="r" indent="0" marL="0">
              <a:buNone/>
            </a:pPr>
            <a:r>
              <a:rPr lang="en-US" sz="1050" b="1" spc="100" kern="0" dirty="0">
                <a:solidFill>
                  <a:srgbClr val="2E9E5B"/>
                </a:solidFill>
                <a:latin typeface="Calibri" pitchFamily="34" charset="0"/>
                <a:ea typeface="Calibri" pitchFamily="34" charset="-122"/>
                <a:cs typeface="Calibri" pitchFamily="34" charset="-120"/>
              </a:rPr>
              <a:t>Step 6</a:t>
            </a:r>
            <a:endParaRPr lang="en-US" sz="1050" dirty="0"/>
          </a:p>
        </p:txBody>
      </p:sp>
      <p:sp>
        <p:nvSpPr>
          <p:cNvPr id="43" name="Text 31"/>
          <p:cNvSpPr/>
          <p:nvPr/>
        </p:nvSpPr>
        <p:spPr>
          <a:xfrm>
            <a:off x="9044788" y="4334256"/>
            <a:ext cx="2331720" cy="36576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Download</a:t>
            </a:r>
            <a:endParaRPr lang="en-US" sz="1500" dirty="0"/>
          </a:p>
        </p:txBody>
      </p:sp>
      <p:sp>
        <p:nvSpPr>
          <p:cNvPr id="44" name="Text 32"/>
          <p:cNvSpPr/>
          <p:nvPr/>
        </p:nvSpPr>
        <p:spPr>
          <a:xfrm>
            <a:off x="8276692" y="5047488"/>
            <a:ext cx="3063240" cy="50292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Citizen downloads the signed PDF</a:t>
            </a:r>
            <a:endParaRPr lang="en-US" sz="1150" dirty="0"/>
          </a:p>
        </p:txBody>
      </p:sp>
      <p:sp>
        <p:nvSpPr>
          <p:cNvPr id="45" name="Text 33"/>
          <p:cNvSpPr/>
          <p:nvPr/>
        </p:nvSpPr>
        <p:spPr>
          <a:xfrm>
            <a:off x="548640" y="6510528"/>
            <a:ext cx="54864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Digital Gram Panchayat  ·  v1.0.0</a:t>
            </a:r>
            <a:endParaRPr lang="en-US" sz="900" dirty="0"/>
          </a:p>
        </p:txBody>
      </p:sp>
      <p:sp>
        <p:nvSpPr>
          <p:cNvPr id="46" name="Text 34"/>
          <p:cNvSpPr/>
          <p:nvPr/>
        </p:nvSpPr>
        <p:spPr>
          <a:xfrm>
            <a:off x="11338560" y="6510528"/>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8229600" cy="274320"/>
          </a:xfrm>
          <a:prstGeom prst="rect">
            <a:avLst/>
          </a:prstGeom>
          <a:noFill/>
          <a:ln/>
        </p:spPr>
        <p:txBody>
          <a:bodyPr wrap="square" lIns="0" tIns="0" rIns="0" bIns="0" rtlCol="0" anchor="ctr"/>
          <a:lstStyle/>
          <a:p>
            <a:pPr algn="l" indent="0" marL="0">
              <a:buNone/>
            </a:pPr>
            <a:r>
              <a:rPr lang="en-US" sz="1200" b="1" spc="300" kern="0" dirty="0">
                <a:solidFill>
                  <a:srgbClr val="1F7A3D"/>
                </a:solidFill>
                <a:latin typeface="Calibri" pitchFamily="34" charset="0"/>
                <a:ea typeface="Calibri" pitchFamily="34" charset="-122"/>
                <a:cs typeface="Calibri" pitchFamily="34" charset="-120"/>
              </a:rPr>
              <a:t>MODULE 06</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algn="l" indent="0" marL="0">
              <a:buNone/>
            </a:pPr>
            <a:r>
              <a:rPr lang="en-US" sz="3000" b="1" dirty="0">
                <a:solidFill>
                  <a:srgbClr val="1F2937"/>
                </a:solidFill>
                <a:latin typeface="Cambria" pitchFamily="34" charset="0"/>
                <a:ea typeface="Cambria" pitchFamily="34" charset="-122"/>
                <a:cs typeface="Cambria" pitchFamily="34" charset="-120"/>
              </a:rPr>
              <a:t>Dashboards &amp; Insights</a:t>
            </a:r>
            <a:endParaRPr lang="en-US" sz="3000" dirty="0"/>
          </a:p>
        </p:txBody>
      </p:sp>
      <p:sp>
        <p:nvSpPr>
          <p:cNvPr id="4" name="Shape 2"/>
          <p:cNvSpPr/>
          <p:nvPr/>
        </p:nvSpPr>
        <p:spPr>
          <a:xfrm>
            <a:off x="640080" y="1783080"/>
            <a:ext cx="512064" cy="512064"/>
          </a:xfrm>
          <a:prstGeom prst="ellipse">
            <a:avLst/>
          </a:prstGeom>
          <a:solidFill>
            <a:srgbClr val="E8F3EC"/>
          </a:solidFill>
          <a:ln/>
        </p:spPr>
      </p:sp>
      <p:pic>
        <p:nvPicPr>
          <p:cNvPr id="5" name="Image 0" descr="preencoded.png">    </p:cNvPr>
          <p:cNvPicPr>
            <a:picLocks noChangeAspect="1"/>
          </p:cNvPicPr>
          <p:nvPr/>
        </p:nvPicPr>
        <p:blipFill>
          <a:blip r:embed="rId1"/>
          <a:stretch>
            <a:fillRect/>
          </a:stretch>
        </p:blipFill>
        <p:spPr>
          <a:xfrm>
            <a:off x="777240" y="1920240"/>
            <a:ext cx="237744" cy="237744"/>
          </a:xfrm>
          <a:prstGeom prst="rect">
            <a:avLst/>
          </a:prstGeom>
        </p:spPr>
      </p:pic>
      <p:sp>
        <p:nvSpPr>
          <p:cNvPr id="6" name="Text 3"/>
          <p:cNvSpPr/>
          <p:nvPr/>
        </p:nvSpPr>
        <p:spPr>
          <a:xfrm>
            <a:off x="1325880" y="1764792"/>
            <a:ext cx="4937760" cy="310896"/>
          </a:xfrm>
          <a:prstGeom prst="rect">
            <a:avLst/>
          </a:prstGeom>
          <a:noFill/>
          <a:ln/>
        </p:spPr>
        <p:txBody>
          <a:bodyPr wrap="square" lIns="0" tIns="0" rIns="0" bIns="0" rtlCol="0" anchor="ctr"/>
          <a:lstStyle/>
          <a:p>
            <a:pPr indent="0" marL="0">
              <a:buNone/>
            </a:pPr>
            <a:r>
              <a:rPr lang="en-US" sz="1550" b="1" dirty="0">
                <a:solidFill>
                  <a:srgbClr val="1F2937"/>
                </a:solidFill>
                <a:latin typeface="Calibri" pitchFamily="34" charset="0"/>
                <a:ea typeface="Calibri" pitchFamily="34" charset="-122"/>
                <a:cs typeface="Calibri" pitchFamily="34" charset="-120"/>
              </a:rPr>
              <a:t>Citizen Dashboard</a:t>
            </a:r>
            <a:endParaRPr lang="en-US" sz="1550" dirty="0"/>
          </a:p>
        </p:txBody>
      </p:sp>
      <p:sp>
        <p:nvSpPr>
          <p:cNvPr id="7" name="Text 4"/>
          <p:cNvSpPr/>
          <p:nvPr/>
        </p:nvSpPr>
        <p:spPr>
          <a:xfrm>
            <a:off x="1325880" y="2075688"/>
            <a:ext cx="5120640" cy="45720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Personalized home: active complaints, dues, latest notices.</a:t>
            </a:r>
            <a:endParaRPr lang="en-US" sz="1150" dirty="0"/>
          </a:p>
        </p:txBody>
      </p:sp>
      <p:sp>
        <p:nvSpPr>
          <p:cNvPr id="8" name="Shape 5"/>
          <p:cNvSpPr/>
          <p:nvPr/>
        </p:nvSpPr>
        <p:spPr>
          <a:xfrm>
            <a:off x="640080" y="2679192"/>
            <a:ext cx="512064" cy="512064"/>
          </a:xfrm>
          <a:prstGeom prst="ellipse">
            <a:avLst/>
          </a:prstGeom>
          <a:solidFill>
            <a:srgbClr val="E8F3EC"/>
          </a:solidFill>
          <a:ln/>
        </p:spPr>
      </p:sp>
      <p:pic>
        <p:nvPicPr>
          <p:cNvPr id="9" name="Image 1" descr="preencoded.png">    </p:cNvPr>
          <p:cNvPicPr>
            <a:picLocks noChangeAspect="1"/>
          </p:cNvPicPr>
          <p:nvPr/>
        </p:nvPicPr>
        <p:blipFill>
          <a:blip r:embed="rId2"/>
          <a:stretch>
            <a:fillRect/>
          </a:stretch>
        </p:blipFill>
        <p:spPr>
          <a:xfrm>
            <a:off x="777240" y="2816352"/>
            <a:ext cx="237744" cy="237744"/>
          </a:xfrm>
          <a:prstGeom prst="rect">
            <a:avLst/>
          </a:prstGeom>
        </p:spPr>
      </p:pic>
      <p:sp>
        <p:nvSpPr>
          <p:cNvPr id="10" name="Text 6"/>
          <p:cNvSpPr/>
          <p:nvPr/>
        </p:nvSpPr>
        <p:spPr>
          <a:xfrm>
            <a:off x="1325880" y="2660904"/>
            <a:ext cx="4937760" cy="310896"/>
          </a:xfrm>
          <a:prstGeom prst="rect">
            <a:avLst/>
          </a:prstGeom>
          <a:noFill/>
          <a:ln/>
        </p:spPr>
        <p:txBody>
          <a:bodyPr wrap="square" lIns="0" tIns="0" rIns="0" bIns="0" rtlCol="0" anchor="ctr"/>
          <a:lstStyle/>
          <a:p>
            <a:pPr indent="0" marL="0">
              <a:buNone/>
            </a:pPr>
            <a:r>
              <a:rPr lang="en-US" sz="1550" b="1" dirty="0">
                <a:solidFill>
                  <a:srgbClr val="1F2937"/>
                </a:solidFill>
                <a:latin typeface="Calibri" pitchFamily="34" charset="0"/>
                <a:ea typeface="Calibri" pitchFamily="34" charset="-122"/>
                <a:cs typeface="Calibri" pitchFamily="34" charset="-120"/>
              </a:rPr>
              <a:t>Admin Dashboard</a:t>
            </a:r>
            <a:endParaRPr lang="en-US" sz="1550" dirty="0"/>
          </a:p>
        </p:txBody>
      </p:sp>
      <p:sp>
        <p:nvSpPr>
          <p:cNvPr id="11" name="Text 7"/>
          <p:cNvSpPr/>
          <p:nvPr/>
        </p:nvSpPr>
        <p:spPr>
          <a:xfrm>
            <a:off x="1325880" y="2971800"/>
            <a:ext cx="5120640" cy="45720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Live metrics across every module at a glance.</a:t>
            </a:r>
            <a:endParaRPr lang="en-US" sz="1150" dirty="0"/>
          </a:p>
        </p:txBody>
      </p:sp>
      <p:sp>
        <p:nvSpPr>
          <p:cNvPr id="12" name="Shape 8"/>
          <p:cNvSpPr/>
          <p:nvPr/>
        </p:nvSpPr>
        <p:spPr>
          <a:xfrm>
            <a:off x="640080" y="3575304"/>
            <a:ext cx="512064" cy="512064"/>
          </a:xfrm>
          <a:prstGeom prst="ellipse">
            <a:avLst/>
          </a:prstGeom>
          <a:solidFill>
            <a:srgbClr val="E8F3EC"/>
          </a:solidFill>
          <a:ln/>
        </p:spPr>
      </p:sp>
      <p:pic>
        <p:nvPicPr>
          <p:cNvPr id="13" name="Image 2" descr="preencoded.png">    </p:cNvPr>
          <p:cNvPicPr>
            <a:picLocks noChangeAspect="1"/>
          </p:cNvPicPr>
          <p:nvPr/>
        </p:nvPicPr>
        <p:blipFill>
          <a:blip r:embed="rId3"/>
          <a:stretch>
            <a:fillRect/>
          </a:stretch>
        </p:blipFill>
        <p:spPr>
          <a:xfrm>
            <a:off x="777240" y="3712464"/>
            <a:ext cx="237744" cy="237744"/>
          </a:xfrm>
          <a:prstGeom prst="rect">
            <a:avLst/>
          </a:prstGeom>
        </p:spPr>
      </p:pic>
      <p:sp>
        <p:nvSpPr>
          <p:cNvPr id="14" name="Text 9"/>
          <p:cNvSpPr/>
          <p:nvPr/>
        </p:nvSpPr>
        <p:spPr>
          <a:xfrm>
            <a:off x="1325880" y="3557016"/>
            <a:ext cx="4937760" cy="310896"/>
          </a:xfrm>
          <a:prstGeom prst="rect">
            <a:avLst/>
          </a:prstGeom>
          <a:noFill/>
          <a:ln/>
        </p:spPr>
        <p:txBody>
          <a:bodyPr wrap="square" lIns="0" tIns="0" rIns="0" bIns="0" rtlCol="0" anchor="ctr"/>
          <a:lstStyle/>
          <a:p>
            <a:pPr indent="0" marL="0">
              <a:buNone/>
            </a:pPr>
            <a:r>
              <a:rPr lang="en-US" sz="1550" b="1" dirty="0">
                <a:solidFill>
                  <a:srgbClr val="1F2937"/>
                </a:solidFill>
                <a:latin typeface="Calibri" pitchFamily="34" charset="0"/>
                <a:ea typeface="Calibri" pitchFamily="34" charset="-122"/>
                <a:cs typeface="Calibri" pitchFamily="34" charset="-120"/>
              </a:rPr>
              <a:t>Charts</a:t>
            </a:r>
            <a:endParaRPr lang="en-US" sz="1550" dirty="0"/>
          </a:p>
        </p:txBody>
      </p:sp>
      <p:sp>
        <p:nvSpPr>
          <p:cNvPr id="15" name="Text 10"/>
          <p:cNvSpPr/>
          <p:nvPr/>
        </p:nvSpPr>
        <p:spPr>
          <a:xfrm>
            <a:off x="1325880" y="3867912"/>
            <a:ext cx="5120640" cy="45720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Complaints by category and status, rendered live.</a:t>
            </a:r>
            <a:endParaRPr lang="en-US" sz="1150" dirty="0"/>
          </a:p>
        </p:txBody>
      </p:sp>
      <p:sp>
        <p:nvSpPr>
          <p:cNvPr id="16" name="Shape 11"/>
          <p:cNvSpPr/>
          <p:nvPr/>
        </p:nvSpPr>
        <p:spPr>
          <a:xfrm>
            <a:off x="640080" y="4471416"/>
            <a:ext cx="512064" cy="512064"/>
          </a:xfrm>
          <a:prstGeom prst="ellipse">
            <a:avLst/>
          </a:prstGeom>
          <a:solidFill>
            <a:srgbClr val="E8F3EC"/>
          </a:solidFill>
          <a:ln/>
        </p:spPr>
      </p:sp>
      <p:pic>
        <p:nvPicPr>
          <p:cNvPr id="17" name="Image 3" descr="preencoded.png">    </p:cNvPr>
          <p:cNvPicPr>
            <a:picLocks noChangeAspect="1"/>
          </p:cNvPicPr>
          <p:nvPr/>
        </p:nvPicPr>
        <p:blipFill>
          <a:blip r:embed="rId4"/>
          <a:stretch>
            <a:fillRect/>
          </a:stretch>
        </p:blipFill>
        <p:spPr>
          <a:xfrm>
            <a:off x="777240" y="4608576"/>
            <a:ext cx="237744" cy="237744"/>
          </a:xfrm>
          <a:prstGeom prst="rect">
            <a:avLst/>
          </a:prstGeom>
        </p:spPr>
      </p:pic>
      <p:sp>
        <p:nvSpPr>
          <p:cNvPr id="18" name="Text 12"/>
          <p:cNvSpPr/>
          <p:nvPr/>
        </p:nvSpPr>
        <p:spPr>
          <a:xfrm>
            <a:off x="1325880" y="4453128"/>
            <a:ext cx="4937760" cy="310896"/>
          </a:xfrm>
          <a:prstGeom prst="rect">
            <a:avLst/>
          </a:prstGeom>
          <a:noFill/>
          <a:ln/>
        </p:spPr>
        <p:txBody>
          <a:bodyPr wrap="square" lIns="0" tIns="0" rIns="0" bIns="0" rtlCol="0" anchor="ctr"/>
          <a:lstStyle/>
          <a:p>
            <a:pPr indent="0" marL="0">
              <a:buNone/>
            </a:pPr>
            <a:r>
              <a:rPr lang="en-US" sz="1550" b="1" dirty="0">
                <a:solidFill>
                  <a:srgbClr val="1F2937"/>
                </a:solidFill>
                <a:latin typeface="Calibri" pitchFamily="34" charset="0"/>
                <a:ea typeface="Calibri" pitchFamily="34" charset="-122"/>
                <a:cs typeface="Calibri" pitchFamily="34" charset="-120"/>
              </a:rPr>
              <a:t>Statistics</a:t>
            </a:r>
            <a:endParaRPr lang="en-US" sz="1550" dirty="0"/>
          </a:p>
        </p:txBody>
      </p:sp>
      <p:sp>
        <p:nvSpPr>
          <p:cNvPr id="19" name="Text 13"/>
          <p:cNvSpPr/>
          <p:nvPr/>
        </p:nvSpPr>
        <p:spPr>
          <a:xfrm>
            <a:off x="1325880" y="4764024"/>
            <a:ext cx="5120640" cy="45720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Citizens, certificates, tax dues, resolution counts.</a:t>
            </a:r>
            <a:endParaRPr lang="en-US" sz="1150" dirty="0"/>
          </a:p>
        </p:txBody>
      </p:sp>
      <p:sp>
        <p:nvSpPr>
          <p:cNvPr id="20" name="Shape 14"/>
          <p:cNvSpPr/>
          <p:nvPr/>
        </p:nvSpPr>
        <p:spPr>
          <a:xfrm>
            <a:off x="640080" y="5367528"/>
            <a:ext cx="512064" cy="512064"/>
          </a:xfrm>
          <a:prstGeom prst="ellipse">
            <a:avLst/>
          </a:prstGeom>
          <a:solidFill>
            <a:srgbClr val="E8F3EC"/>
          </a:solidFill>
          <a:ln/>
        </p:spPr>
      </p:sp>
      <p:pic>
        <p:nvPicPr>
          <p:cNvPr id="21" name="Image 4" descr="preencoded.png">    </p:cNvPr>
          <p:cNvPicPr>
            <a:picLocks noChangeAspect="1"/>
          </p:cNvPicPr>
          <p:nvPr/>
        </p:nvPicPr>
        <p:blipFill>
          <a:blip r:embed="rId5"/>
          <a:stretch>
            <a:fillRect/>
          </a:stretch>
        </p:blipFill>
        <p:spPr>
          <a:xfrm>
            <a:off x="777240" y="5504688"/>
            <a:ext cx="237744" cy="237744"/>
          </a:xfrm>
          <a:prstGeom prst="rect">
            <a:avLst/>
          </a:prstGeom>
        </p:spPr>
      </p:pic>
      <p:sp>
        <p:nvSpPr>
          <p:cNvPr id="22" name="Text 15"/>
          <p:cNvSpPr/>
          <p:nvPr/>
        </p:nvSpPr>
        <p:spPr>
          <a:xfrm>
            <a:off x="1325880" y="5349240"/>
            <a:ext cx="4937760" cy="310896"/>
          </a:xfrm>
          <a:prstGeom prst="rect">
            <a:avLst/>
          </a:prstGeom>
          <a:noFill/>
          <a:ln/>
        </p:spPr>
        <p:txBody>
          <a:bodyPr wrap="square" lIns="0" tIns="0" rIns="0" bIns="0" rtlCol="0" anchor="ctr"/>
          <a:lstStyle/>
          <a:p>
            <a:pPr indent="0" marL="0">
              <a:buNone/>
            </a:pPr>
            <a:r>
              <a:rPr lang="en-US" sz="1550" b="1" dirty="0">
                <a:solidFill>
                  <a:srgbClr val="1F2937"/>
                </a:solidFill>
                <a:latin typeface="Calibri" pitchFamily="34" charset="0"/>
                <a:ea typeface="Calibri" pitchFamily="34" charset="-122"/>
                <a:cs typeface="Calibri" pitchFamily="34" charset="-120"/>
              </a:rPr>
              <a:t>User Management</a:t>
            </a:r>
            <a:endParaRPr lang="en-US" sz="1550" dirty="0"/>
          </a:p>
        </p:txBody>
      </p:sp>
      <p:sp>
        <p:nvSpPr>
          <p:cNvPr id="23" name="Text 16"/>
          <p:cNvSpPr/>
          <p:nvPr/>
        </p:nvSpPr>
        <p:spPr>
          <a:xfrm>
            <a:off x="1325880" y="5660136"/>
            <a:ext cx="5120640" cy="45720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Activate or deactivate citizen and officer accounts.</a:t>
            </a:r>
            <a:endParaRPr lang="en-US" sz="1150" dirty="0"/>
          </a:p>
        </p:txBody>
      </p:sp>
      <p:sp>
        <p:nvSpPr>
          <p:cNvPr id="24" name="Shape 17"/>
          <p:cNvSpPr/>
          <p:nvPr/>
        </p:nvSpPr>
        <p:spPr>
          <a:xfrm>
            <a:off x="6858000" y="1737360"/>
            <a:ext cx="4754880" cy="4343400"/>
          </a:xfrm>
          <a:prstGeom prst="roundRect">
            <a:avLst>
              <a:gd name="adj" fmla="val 2105"/>
            </a:avLst>
          </a:prstGeom>
          <a:solidFill>
            <a:srgbClr val="FFFFFF"/>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25" name="Text 18"/>
          <p:cNvSpPr/>
          <p:nvPr/>
        </p:nvSpPr>
        <p:spPr>
          <a:xfrm>
            <a:off x="7086600" y="1874520"/>
            <a:ext cx="4297680" cy="365760"/>
          </a:xfrm>
          <a:prstGeom prst="rect">
            <a:avLst/>
          </a:prstGeom>
          <a:noFill/>
          <a:ln/>
        </p:spPr>
        <p:txBody>
          <a:bodyPr wrap="square" lIns="0" tIns="0" rIns="0" bIns="0" rtlCol="0" anchor="ctr"/>
          <a:lstStyle/>
          <a:p>
            <a:pPr indent="0" marL="0">
              <a:buNone/>
            </a:pPr>
            <a:r>
              <a:rPr lang="en-US" sz="1350" b="1" dirty="0">
                <a:solidFill>
                  <a:srgbClr val="1F2937"/>
                </a:solidFill>
                <a:latin typeface="Calibri" pitchFamily="34" charset="0"/>
                <a:ea typeface="Calibri" pitchFamily="34" charset="-122"/>
                <a:cs typeface="Calibri" pitchFamily="34" charset="-120"/>
              </a:rPr>
              <a:t>Complaints by category (live)</a:t>
            </a:r>
            <a:endParaRPr lang="en-US" sz="1350" dirty="0"/>
          </a:p>
        </p:txBody>
      </p:sp>
      <p:graphicFrame>
        <p:nvGraphicFramePr>
          <p:cNvPr id="26" name="Chart 0" descr=""/>
          <p:cNvGraphicFramePr/>
          <p:nvPr/>
        </p:nvGraphicFramePr>
        <p:xfrm>
          <a:off x="6949440" y="2286000"/>
          <a:ext cx="4572000" cy="3657600"/>
        </p:xfrm>
        <a:graphic xmlns:a="http://schemas.openxmlformats.org/drawingml/2006/main">
          <a:graphicData uri="http://schemas.openxmlformats.org/drawingml/2006/chart">
            <c:chart xmlns:c="http://schemas.openxmlformats.org/drawingml/2006/chart" r:id="rId6"/>
          </a:graphicData>
        </a:graphic>
      </p:graphicFrame>
      <p:sp>
        <p:nvSpPr>
          <p:cNvPr id="27" name="Text 19"/>
          <p:cNvSpPr/>
          <p:nvPr/>
        </p:nvSpPr>
        <p:spPr>
          <a:xfrm>
            <a:off x="548640" y="6510528"/>
            <a:ext cx="54864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Digital Gram Panchayat  ·  v1.0.0</a:t>
            </a:r>
            <a:endParaRPr lang="en-US" sz="900" dirty="0"/>
          </a:p>
        </p:txBody>
      </p:sp>
      <p:sp>
        <p:nvSpPr>
          <p:cNvPr id="28" name="Text 20"/>
          <p:cNvSpPr/>
          <p:nvPr/>
        </p:nvSpPr>
        <p:spPr>
          <a:xfrm>
            <a:off x="11338560" y="6510528"/>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8229600" cy="274320"/>
          </a:xfrm>
          <a:prstGeom prst="rect">
            <a:avLst/>
          </a:prstGeom>
          <a:noFill/>
          <a:ln/>
        </p:spPr>
        <p:txBody>
          <a:bodyPr wrap="square" lIns="0" tIns="0" rIns="0" bIns="0" rtlCol="0" anchor="ctr"/>
          <a:lstStyle/>
          <a:p>
            <a:pPr algn="l" indent="0" marL="0">
              <a:buNone/>
            </a:pPr>
            <a:r>
              <a:rPr lang="en-US" sz="1200" b="1" spc="300" kern="0" dirty="0">
                <a:solidFill>
                  <a:srgbClr val="1F7A3D"/>
                </a:solidFill>
                <a:latin typeface="Calibri" pitchFamily="34" charset="0"/>
                <a:ea typeface="Calibri" pitchFamily="34" charset="-122"/>
                <a:cs typeface="Calibri" pitchFamily="34" charset="-120"/>
              </a:rPr>
              <a:t>MODULE 07</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algn="l" indent="0" marL="0">
              <a:buNone/>
            </a:pPr>
            <a:r>
              <a:rPr lang="en-US" sz="3000" b="1" dirty="0">
                <a:solidFill>
                  <a:srgbClr val="1F2937"/>
                </a:solidFill>
                <a:latin typeface="Cambria" pitchFamily="34" charset="0"/>
                <a:ea typeface="Cambria" pitchFamily="34" charset="-122"/>
                <a:cs typeface="Cambria" pitchFamily="34" charset="-120"/>
              </a:rPr>
              <a:t>Notification System</a:t>
            </a:r>
            <a:endParaRPr lang="en-US" sz="3000" dirty="0"/>
          </a:p>
        </p:txBody>
      </p:sp>
      <p:sp>
        <p:nvSpPr>
          <p:cNvPr id="4" name="Shape 2"/>
          <p:cNvSpPr/>
          <p:nvPr/>
        </p:nvSpPr>
        <p:spPr>
          <a:xfrm>
            <a:off x="563728" y="1828800"/>
            <a:ext cx="5394960" cy="1783080"/>
          </a:xfrm>
          <a:prstGeom prst="roundRect">
            <a:avLst>
              <a:gd name="adj" fmla="val 4615"/>
            </a:avLst>
          </a:prstGeom>
          <a:solidFill>
            <a:srgbClr val="FFFFFF"/>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5" name="Shape 3"/>
          <p:cNvSpPr/>
          <p:nvPr/>
        </p:nvSpPr>
        <p:spPr>
          <a:xfrm>
            <a:off x="838048" y="2121408"/>
            <a:ext cx="777240" cy="777240"/>
          </a:xfrm>
          <a:prstGeom prst="ellipse">
            <a:avLst/>
          </a:prstGeom>
          <a:solidFill>
            <a:srgbClr val="1F7A3D"/>
          </a:solidFill>
          <a:ln/>
        </p:spPr>
      </p:sp>
      <p:pic>
        <p:nvPicPr>
          <p:cNvPr id="6" name="Image 0" descr="preencoded.png">    </p:cNvPr>
          <p:cNvPicPr>
            <a:picLocks noChangeAspect="1"/>
          </p:cNvPicPr>
          <p:nvPr/>
        </p:nvPicPr>
        <p:blipFill>
          <a:blip r:embed="rId1"/>
          <a:stretch>
            <a:fillRect/>
          </a:stretch>
        </p:blipFill>
        <p:spPr>
          <a:xfrm>
            <a:off x="1048360" y="2331720"/>
            <a:ext cx="356616" cy="356616"/>
          </a:xfrm>
          <a:prstGeom prst="rect">
            <a:avLst/>
          </a:prstGeom>
        </p:spPr>
      </p:pic>
      <p:sp>
        <p:nvSpPr>
          <p:cNvPr id="7" name="Text 4"/>
          <p:cNvSpPr/>
          <p:nvPr/>
        </p:nvSpPr>
        <p:spPr>
          <a:xfrm>
            <a:off x="1798168" y="2157984"/>
            <a:ext cx="3931920" cy="411480"/>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In-app Notifications</a:t>
            </a:r>
            <a:endParaRPr lang="en-US" sz="1700" dirty="0"/>
          </a:p>
        </p:txBody>
      </p:sp>
      <p:sp>
        <p:nvSpPr>
          <p:cNvPr id="8" name="Text 5"/>
          <p:cNvSpPr/>
          <p:nvPr/>
        </p:nvSpPr>
        <p:spPr>
          <a:xfrm>
            <a:off x="1798168" y="2670048"/>
            <a:ext cx="3931920" cy="777240"/>
          </a:xfrm>
          <a:prstGeom prst="rect">
            <a:avLst/>
          </a:prstGeom>
          <a:noFill/>
          <a:ln/>
        </p:spPr>
        <p:txBody>
          <a:bodyPr wrap="square" lIns="0" tIns="0" rIns="0" bIns="0" rtlCol="0" anchor="t"/>
          <a:lstStyle/>
          <a:p>
            <a:pPr indent="0" marL="0">
              <a:buNone/>
            </a:pPr>
            <a:r>
              <a:rPr lang="en-US" sz="1250" dirty="0">
                <a:solidFill>
                  <a:srgbClr val="6B7280"/>
                </a:solidFill>
                <a:latin typeface="Calibri" pitchFamily="34" charset="0"/>
                <a:ea typeface="Calibri" pitchFamily="34" charset="-122"/>
                <a:cs typeface="Calibri" pitchFamily="34" charset="-120"/>
              </a:rPr>
              <a:t>Every status change reaches the citizen instantly, in-app.</a:t>
            </a:r>
            <a:endParaRPr lang="en-US" sz="1250" dirty="0"/>
          </a:p>
        </p:txBody>
      </p:sp>
      <p:sp>
        <p:nvSpPr>
          <p:cNvPr id="9" name="Shape 6"/>
          <p:cNvSpPr/>
          <p:nvPr/>
        </p:nvSpPr>
        <p:spPr>
          <a:xfrm>
            <a:off x="6233008" y="1828800"/>
            <a:ext cx="5394960" cy="1783080"/>
          </a:xfrm>
          <a:prstGeom prst="roundRect">
            <a:avLst>
              <a:gd name="adj" fmla="val 4615"/>
            </a:avLst>
          </a:prstGeom>
          <a:solidFill>
            <a:srgbClr val="FFFFFF"/>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10" name="Shape 7"/>
          <p:cNvSpPr/>
          <p:nvPr/>
        </p:nvSpPr>
        <p:spPr>
          <a:xfrm>
            <a:off x="6507328" y="2121408"/>
            <a:ext cx="777240" cy="777240"/>
          </a:xfrm>
          <a:prstGeom prst="ellipse">
            <a:avLst/>
          </a:prstGeom>
          <a:solidFill>
            <a:srgbClr val="1F7A3D"/>
          </a:solidFill>
          <a:ln/>
        </p:spPr>
      </p:sp>
      <p:pic>
        <p:nvPicPr>
          <p:cNvPr id="11" name="Image 1" descr="preencoded.png">    </p:cNvPr>
          <p:cNvPicPr>
            <a:picLocks noChangeAspect="1"/>
          </p:cNvPicPr>
          <p:nvPr/>
        </p:nvPicPr>
        <p:blipFill>
          <a:blip r:embed="rId2"/>
          <a:stretch>
            <a:fillRect/>
          </a:stretch>
        </p:blipFill>
        <p:spPr>
          <a:xfrm>
            <a:off x="6717640" y="2331720"/>
            <a:ext cx="356616" cy="356616"/>
          </a:xfrm>
          <a:prstGeom prst="rect">
            <a:avLst/>
          </a:prstGeom>
        </p:spPr>
      </p:pic>
      <p:sp>
        <p:nvSpPr>
          <p:cNvPr id="12" name="Text 8"/>
          <p:cNvSpPr/>
          <p:nvPr/>
        </p:nvSpPr>
        <p:spPr>
          <a:xfrm>
            <a:off x="7467448" y="2157984"/>
            <a:ext cx="3931920" cy="411480"/>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SMS-ready Architecture</a:t>
            </a:r>
            <a:endParaRPr lang="en-US" sz="1700" dirty="0"/>
          </a:p>
        </p:txBody>
      </p:sp>
      <p:sp>
        <p:nvSpPr>
          <p:cNvPr id="13" name="Text 9"/>
          <p:cNvSpPr/>
          <p:nvPr/>
        </p:nvSpPr>
        <p:spPr>
          <a:xfrm>
            <a:off x="7467448" y="2670048"/>
            <a:ext cx="3931920" cy="777240"/>
          </a:xfrm>
          <a:prstGeom prst="rect">
            <a:avLst/>
          </a:prstGeom>
          <a:noFill/>
          <a:ln/>
        </p:spPr>
        <p:txBody>
          <a:bodyPr wrap="square" lIns="0" tIns="0" rIns="0" bIns="0" rtlCol="0" anchor="t"/>
          <a:lstStyle/>
          <a:p>
            <a:pPr indent="0" marL="0">
              <a:buNone/>
            </a:pPr>
            <a:r>
              <a:rPr lang="en-US" sz="1250" dirty="0">
                <a:solidFill>
                  <a:srgbClr val="6B7280"/>
                </a:solidFill>
                <a:latin typeface="Calibri" pitchFamily="34" charset="0"/>
                <a:ea typeface="Calibri" pitchFamily="34" charset="-122"/>
                <a:cs typeface="Calibri" pitchFamily="34" charset="-120"/>
              </a:rPr>
              <a:t>Provider abstraction — SMS, voice, email plug in with no code change.</a:t>
            </a:r>
            <a:endParaRPr lang="en-US" sz="1250" dirty="0"/>
          </a:p>
        </p:txBody>
      </p:sp>
      <p:sp>
        <p:nvSpPr>
          <p:cNvPr id="14" name="Shape 10"/>
          <p:cNvSpPr/>
          <p:nvPr/>
        </p:nvSpPr>
        <p:spPr>
          <a:xfrm>
            <a:off x="563728" y="3867912"/>
            <a:ext cx="5394960" cy="1783080"/>
          </a:xfrm>
          <a:prstGeom prst="roundRect">
            <a:avLst>
              <a:gd name="adj" fmla="val 4615"/>
            </a:avLst>
          </a:prstGeom>
          <a:solidFill>
            <a:srgbClr val="FFFFFF"/>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15" name="Shape 11"/>
          <p:cNvSpPr/>
          <p:nvPr/>
        </p:nvSpPr>
        <p:spPr>
          <a:xfrm>
            <a:off x="838048" y="4160520"/>
            <a:ext cx="777240" cy="777240"/>
          </a:xfrm>
          <a:prstGeom prst="ellipse">
            <a:avLst/>
          </a:prstGeom>
          <a:solidFill>
            <a:srgbClr val="1F7A3D"/>
          </a:solidFill>
          <a:ln/>
        </p:spPr>
      </p:sp>
      <p:pic>
        <p:nvPicPr>
          <p:cNvPr id="16" name="Image 2" descr="preencoded.png">    </p:cNvPr>
          <p:cNvPicPr>
            <a:picLocks noChangeAspect="1"/>
          </p:cNvPicPr>
          <p:nvPr/>
        </p:nvPicPr>
        <p:blipFill>
          <a:blip r:embed="rId3"/>
          <a:stretch>
            <a:fillRect/>
          </a:stretch>
        </p:blipFill>
        <p:spPr>
          <a:xfrm>
            <a:off x="1048360" y="4370832"/>
            <a:ext cx="356616" cy="356616"/>
          </a:xfrm>
          <a:prstGeom prst="rect">
            <a:avLst/>
          </a:prstGeom>
        </p:spPr>
      </p:pic>
      <p:sp>
        <p:nvSpPr>
          <p:cNvPr id="17" name="Text 12"/>
          <p:cNvSpPr/>
          <p:nvPr/>
        </p:nvSpPr>
        <p:spPr>
          <a:xfrm>
            <a:off x="1798168" y="4197096"/>
            <a:ext cx="3931920" cy="411480"/>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Broadcast</a:t>
            </a:r>
            <a:endParaRPr lang="en-US" sz="1700" dirty="0"/>
          </a:p>
        </p:txBody>
      </p:sp>
      <p:sp>
        <p:nvSpPr>
          <p:cNvPr id="18" name="Text 13"/>
          <p:cNvSpPr/>
          <p:nvPr/>
        </p:nvSpPr>
        <p:spPr>
          <a:xfrm>
            <a:off x="1798168" y="4709160"/>
            <a:ext cx="3931920" cy="777240"/>
          </a:xfrm>
          <a:prstGeom prst="rect">
            <a:avLst/>
          </a:prstGeom>
          <a:noFill/>
          <a:ln/>
        </p:spPr>
        <p:txBody>
          <a:bodyPr wrap="square" lIns="0" tIns="0" rIns="0" bIns="0" rtlCol="0" anchor="t"/>
          <a:lstStyle/>
          <a:p>
            <a:pPr indent="0" marL="0">
              <a:buNone/>
            </a:pPr>
            <a:r>
              <a:rPr lang="en-US" sz="1250" dirty="0">
                <a:solidFill>
                  <a:srgbClr val="6B7280"/>
                </a:solidFill>
                <a:latin typeface="Calibri" pitchFamily="34" charset="0"/>
                <a:ea typeface="Calibri" pitchFamily="34" charset="-122"/>
                <a:cs typeface="Calibri" pitchFamily="34" charset="-120"/>
              </a:rPr>
              <a:t>Officers push announcements to all citizens at once.</a:t>
            </a:r>
            <a:endParaRPr lang="en-US" sz="1250" dirty="0"/>
          </a:p>
        </p:txBody>
      </p:sp>
      <p:sp>
        <p:nvSpPr>
          <p:cNvPr id="19" name="Shape 14"/>
          <p:cNvSpPr/>
          <p:nvPr/>
        </p:nvSpPr>
        <p:spPr>
          <a:xfrm>
            <a:off x="6233008" y="3867912"/>
            <a:ext cx="5394960" cy="1783080"/>
          </a:xfrm>
          <a:prstGeom prst="roundRect">
            <a:avLst>
              <a:gd name="adj" fmla="val 4615"/>
            </a:avLst>
          </a:prstGeom>
          <a:solidFill>
            <a:srgbClr val="FFFFFF"/>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20" name="Shape 15"/>
          <p:cNvSpPr/>
          <p:nvPr/>
        </p:nvSpPr>
        <p:spPr>
          <a:xfrm>
            <a:off x="6507328" y="4160520"/>
            <a:ext cx="777240" cy="777240"/>
          </a:xfrm>
          <a:prstGeom prst="ellipse">
            <a:avLst/>
          </a:prstGeom>
          <a:solidFill>
            <a:srgbClr val="1F7A3D"/>
          </a:solidFill>
          <a:ln/>
        </p:spPr>
      </p:sp>
      <p:pic>
        <p:nvPicPr>
          <p:cNvPr id="21" name="Image 3" descr="preencoded.png">    </p:cNvPr>
          <p:cNvPicPr>
            <a:picLocks noChangeAspect="1"/>
          </p:cNvPicPr>
          <p:nvPr/>
        </p:nvPicPr>
        <p:blipFill>
          <a:blip r:embed="rId4"/>
          <a:stretch>
            <a:fillRect/>
          </a:stretch>
        </p:blipFill>
        <p:spPr>
          <a:xfrm>
            <a:off x="6717640" y="4370832"/>
            <a:ext cx="356616" cy="356616"/>
          </a:xfrm>
          <a:prstGeom prst="rect">
            <a:avLst/>
          </a:prstGeom>
        </p:spPr>
      </p:pic>
      <p:sp>
        <p:nvSpPr>
          <p:cNvPr id="22" name="Text 16"/>
          <p:cNvSpPr/>
          <p:nvPr/>
        </p:nvSpPr>
        <p:spPr>
          <a:xfrm>
            <a:off x="7467448" y="4197096"/>
            <a:ext cx="3931920" cy="411480"/>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Notification Center</a:t>
            </a:r>
            <a:endParaRPr lang="en-US" sz="1700" dirty="0"/>
          </a:p>
        </p:txBody>
      </p:sp>
      <p:sp>
        <p:nvSpPr>
          <p:cNvPr id="23" name="Text 17"/>
          <p:cNvSpPr/>
          <p:nvPr/>
        </p:nvSpPr>
        <p:spPr>
          <a:xfrm>
            <a:off x="7467448" y="4709160"/>
            <a:ext cx="3931920" cy="777240"/>
          </a:xfrm>
          <a:prstGeom prst="rect">
            <a:avLst/>
          </a:prstGeom>
          <a:noFill/>
          <a:ln/>
        </p:spPr>
        <p:txBody>
          <a:bodyPr wrap="square" lIns="0" tIns="0" rIns="0" bIns="0" rtlCol="0" anchor="t"/>
          <a:lstStyle/>
          <a:p>
            <a:pPr indent="0" marL="0">
              <a:buNone/>
            </a:pPr>
            <a:r>
              <a:rPr lang="en-US" sz="1250" dirty="0">
                <a:solidFill>
                  <a:srgbClr val="6B7280"/>
                </a:solidFill>
                <a:latin typeface="Calibri" pitchFamily="34" charset="0"/>
                <a:ea typeface="Calibri" pitchFamily="34" charset="-122"/>
                <a:cs typeface="Calibri" pitchFamily="34" charset="-120"/>
              </a:rPr>
              <a:t>A single inbox with unread badges and read-all.</a:t>
            </a:r>
            <a:endParaRPr lang="en-US" sz="1250" dirty="0"/>
          </a:p>
        </p:txBody>
      </p:sp>
      <p:sp>
        <p:nvSpPr>
          <p:cNvPr id="24" name="Shape 18"/>
          <p:cNvSpPr/>
          <p:nvPr/>
        </p:nvSpPr>
        <p:spPr>
          <a:xfrm>
            <a:off x="563728" y="5806440"/>
            <a:ext cx="11064240" cy="502920"/>
          </a:xfrm>
          <a:prstGeom prst="roundRect">
            <a:avLst>
              <a:gd name="adj" fmla="val 14545"/>
            </a:avLst>
          </a:prstGeom>
          <a:solidFill>
            <a:srgbClr val="E8F3EC"/>
          </a:solidFill>
          <a:ln/>
        </p:spPr>
      </p:sp>
      <p:pic>
        <p:nvPicPr>
          <p:cNvPr id="25" name="Image 4" descr="preencoded.png">    </p:cNvPr>
          <p:cNvPicPr>
            <a:picLocks noChangeAspect="1"/>
          </p:cNvPicPr>
          <p:nvPr/>
        </p:nvPicPr>
        <p:blipFill>
          <a:blip r:embed="rId5"/>
          <a:stretch>
            <a:fillRect/>
          </a:stretch>
        </p:blipFill>
        <p:spPr>
          <a:xfrm>
            <a:off x="792328" y="5916168"/>
            <a:ext cx="274320" cy="274320"/>
          </a:xfrm>
          <a:prstGeom prst="rect">
            <a:avLst/>
          </a:prstGeom>
        </p:spPr>
      </p:pic>
      <p:sp>
        <p:nvSpPr>
          <p:cNvPr id="26" name="Text 19"/>
          <p:cNvSpPr/>
          <p:nvPr/>
        </p:nvSpPr>
        <p:spPr>
          <a:xfrm>
            <a:off x="1203808" y="5806440"/>
            <a:ext cx="10149840" cy="502920"/>
          </a:xfrm>
          <a:prstGeom prst="rect">
            <a:avLst/>
          </a:prstGeom>
          <a:noFill/>
          <a:ln/>
        </p:spPr>
        <p:txBody>
          <a:bodyPr wrap="square" lIns="0" tIns="0" rIns="0" bIns="0" rtlCol="0" anchor="ctr"/>
          <a:lstStyle/>
          <a:p>
            <a:pPr indent="0" marL="0">
              <a:buNone/>
            </a:pPr>
            <a:r>
              <a:rPr lang="en-US" sz="1250" i="1" dirty="0">
                <a:solidFill>
                  <a:srgbClr val="123D22"/>
                </a:solidFill>
                <a:latin typeface="Calibri" pitchFamily="34" charset="0"/>
                <a:ea typeface="Calibri" pitchFamily="34" charset="-122"/>
                <a:cs typeface="Calibri" pitchFamily="34" charset="-120"/>
              </a:rPr>
              <a:t>Notifications are non-blocking — a delivery failure never breaks the underlying business action.</a:t>
            </a:r>
            <a:endParaRPr lang="en-US" sz="1250" dirty="0"/>
          </a:p>
        </p:txBody>
      </p:sp>
      <p:sp>
        <p:nvSpPr>
          <p:cNvPr id="27" name="Text 20"/>
          <p:cNvSpPr/>
          <p:nvPr/>
        </p:nvSpPr>
        <p:spPr>
          <a:xfrm>
            <a:off x="548640" y="6510528"/>
            <a:ext cx="54864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Digital Gram Panchayat  ·  v1.0.0</a:t>
            </a:r>
            <a:endParaRPr lang="en-US" sz="900" dirty="0"/>
          </a:p>
        </p:txBody>
      </p:sp>
      <p:sp>
        <p:nvSpPr>
          <p:cNvPr id="28" name="Text 21"/>
          <p:cNvSpPr/>
          <p:nvPr/>
        </p:nvSpPr>
        <p:spPr>
          <a:xfrm>
            <a:off x="11338560" y="6510528"/>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3D22"/>
        </a:solidFill>
      </p:bgPr>
    </p:bg>
    <p:spTree>
      <p:nvGrpSpPr>
        <p:cNvPr id="1" name=""/>
        <p:cNvGrpSpPr/>
        <p:nvPr/>
      </p:nvGrpSpPr>
      <p:grpSpPr>
        <a:xfrm>
          <a:off x="0" y="0"/>
          <a:ext cx="0" cy="0"/>
          <a:chOff x="0" y="0"/>
          <a:chExt cx="0" cy="0"/>
        </a:xfrm>
      </p:grpSpPr>
      <p:sp>
        <p:nvSpPr>
          <p:cNvPr id="2" name="Shape 0"/>
          <p:cNvSpPr/>
          <p:nvPr/>
        </p:nvSpPr>
        <p:spPr>
          <a:xfrm>
            <a:off x="9326880" y="-1280160"/>
            <a:ext cx="5029200" cy="5029200"/>
          </a:xfrm>
          <a:prstGeom prst="ellipse">
            <a:avLst/>
          </a:prstGeom>
          <a:solidFill>
            <a:srgbClr val="2E9E5B">
              <a:alpha val="16000"/>
            </a:srgbClr>
          </a:solidFill>
          <a:ln/>
        </p:spPr>
      </p:sp>
      <p:sp>
        <p:nvSpPr>
          <p:cNvPr id="3" name="Text 1"/>
          <p:cNvSpPr/>
          <p:nvPr/>
        </p:nvSpPr>
        <p:spPr>
          <a:xfrm>
            <a:off x="566928" y="384048"/>
            <a:ext cx="8229600" cy="274320"/>
          </a:xfrm>
          <a:prstGeom prst="rect">
            <a:avLst/>
          </a:prstGeom>
          <a:noFill/>
          <a:ln/>
        </p:spPr>
        <p:txBody>
          <a:bodyPr wrap="square" lIns="0" tIns="0" rIns="0" bIns="0" rtlCol="0" anchor="ctr"/>
          <a:lstStyle/>
          <a:p>
            <a:pPr indent="0" marL="0">
              <a:buNone/>
            </a:pPr>
            <a:r>
              <a:rPr lang="en-US" sz="1200" b="1" spc="300" kern="0" dirty="0">
                <a:solidFill>
                  <a:srgbClr val="8FD0A6"/>
                </a:solidFill>
                <a:latin typeface="Calibri" pitchFamily="34" charset="0"/>
                <a:ea typeface="Calibri" pitchFamily="34" charset="-122"/>
                <a:cs typeface="Calibri" pitchFamily="34" charset="-120"/>
              </a:rPr>
              <a:t>THE DIFFERENTIATOR</a:t>
            </a:r>
            <a:endParaRPr lang="en-US" sz="1200" dirty="0"/>
          </a:p>
        </p:txBody>
      </p:sp>
      <p:sp>
        <p:nvSpPr>
          <p:cNvPr id="4" name="Text 2"/>
          <p:cNvSpPr/>
          <p:nvPr/>
        </p:nvSpPr>
        <p:spPr>
          <a:xfrm>
            <a:off x="548640" y="658368"/>
            <a:ext cx="109728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Progressive Web App</a:t>
            </a:r>
            <a:endParaRPr lang="en-US" sz="3000" dirty="0"/>
          </a:p>
        </p:txBody>
      </p:sp>
      <p:sp>
        <p:nvSpPr>
          <p:cNvPr id="5" name="Text 3"/>
          <p:cNvSpPr/>
          <p:nvPr/>
        </p:nvSpPr>
        <p:spPr>
          <a:xfrm>
            <a:off x="566928" y="1371600"/>
            <a:ext cx="10972800" cy="457200"/>
          </a:xfrm>
          <a:prstGeom prst="rect">
            <a:avLst/>
          </a:prstGeom>
          <a:noFill/>
          <a:ln/>
        </p:spPr>
        <p:txBody>
          <a:bodyPr wrap="square" lIns="0" tIns="0" rIns="0" bIns="0" rtlCol="0" anchor="ctr"/>
          <a:lstStyle/>
          <a:p>
            <a:pPr indent="0" marL="0">
              <a:buNone/>
            </a:pPr>
            <a:r>
              <a:rPr lang="en-US" sz="1500" dirty="0">
                <a:solidFill>
                  <a:srgbClr val="CFE9DA"/>
                </a:solidFill>
                <a:latin typeface="Calibri" pitchFamily="34" charset="0"/>
                <a:ea typeface="Calibri" pitchFamily="34" charset="-122"/>
                <a:cs typeface="Calibri" pitchFamily="34" charset="-120"/>
              </a:rPr>
              <a:t>Built for rural connectivity — installable like a native app and fully usable offline.</a:t>
            </a:r>
            <a:endParaRPr lang="en-US" sz="1500" dirty="0"/>
          </a:p>
        </p:txBody>
      </p:sp>
      <p:sp>
        <p:nvSpPr>
          <p:cNvPr id="6" name="Shape 4"/>
          <p:cNvSpPr/>
          <p:nvPr/>
        </p:nvSpPr>
        <p:spPr>
          <a:xfrm>
            <a:off x="563728" y="2057400"/>
            <a:ext cx="3566160" cy="1691640"/>
          </a:xfrm>
          <a:prstGeom prst="roundRect">
            <a:avLst>
              <a:gd name="adj" fmla="val 4865"/>
            </a:avLst>
          </a:prstGeom>
          <a:solidFill>
            <a:srgbClr val="17492B"/>
          </a:solidFill>
          <a:ln w="12700">
            <a:solidFill>
              <a:srgbClr val="2E9E5B"/>
            </a:solidFill>
            <a:prstDash val="solid"/>
          </a:ln>
        </p:spPr>
      </p:sp>
      <p:sp>
        <p:nvSpPr>
          <p:cNvPr id="7" name="Shape 5"/>
          <p:cNvSpPr/>
          <p:nvPr/>
        </p:nvSpPr>
        <p:spPr>
          <a:xfrm>
            <a:off x="801472" y="2313432"/>
            <a:ext cx="658368" cy="658368"/>
          </a:xfrm>
          <a:prstGeom prst="ellipse">
            <a:avLst/>
          </a:prstGeom>
          <a:solidFill>
            <a:srgbClr val="2E9E5B"/>
          </a:solidFill>
          <a:ln/>
        </p:spPr>
      </p:sp>
      <p:pic>
        <p:nvPicPr>
          <p:cNvPr id="8" name="Image 0" descr="preencoded.png">    </p:cNvPr>
          <p:cNvPicPr>
            <a:picLocks noChangeAspect="1"/>
          </p:cNvPicPr>
          <p:nvPr/>
        </p:nvPicPr>
        <p:blipFill>
          <a:blip r:embed="rId1"/>
          <a:stretch>
            <a:fillRect/>
          </a:stretch>
        </p:blipFill>
        <p:spPr>
          <a:xfrm>
            <a:off x="975208" y="2487168"/>
            <a:ext cx="310896" cy="310896"/>
          </a:xfrm>
          <a:prstGeom prst="rect">
            <a:avLst/>
          </a:prstGeom>
        </p:spPr>
      </p:pic>
      <p:sp>
        <p:nvSpPr>
          <p:cNvPr id="9" name="Text 6"/>
          <p:cNvSpPr/>
          <p:nvPr/>
        </p:nvSpPr>
        <p:spPr>
          <a:xfrm>
            <a:off x="1569568" y="2386584"/>
            <a:ext cx="237744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Offline Mode</a:t>
            </a:r>
            <a:endParaRPr lang="en-US" sz="1500" dirty="0"/>
          </a:p>
        </p:txBody>
      </p:sp>
      <p:sp>
        <p:nvSpPr>
          <p:cNvPr id="10" name="Text 7"/>
          <p:cNvSpPr/>
          <p:nvPr/>
        </p:nvSpPr>
        <p:spPr>
          <a:xfrm>
            <a:off x="801472" y="3118104"/>
            <a:ext cx="3108960" cy="548640"/>
          </a:xfrm>
          <a:prstGeom prst="rect">
            <a:avLst/>
          </a:prstGeom>
          <a:noFill/>
          <a:ln/>
        </p:spPr>
        <p:txBody>
          <a:bodyPr wrap="square" lIns="0" tIns="0" rIns="0" bIns="0" rtlCol="0" anchor="t"/>
          <a:lstStyle/>
          <a:p>
            <a:pPr indent="0" marL="0">
              <a:buNone/>
            </a:pPr>
            <a:r>
              <a:rPr lang="en-US" sz="1150" dirty="0">
                <a:solidFill>
                  <a:srgbClr val="CDE7D8"/>
                </a:solidFill>
                <a:latin typeface="Calibri" pitchFamily="34" charset="0"/>
                <a:ea typeface="Calibri" pitchFamily="34" charset="-122"/>
                <a:cs typeface="Calibri" pitchFamily="34" charset="-120"/>
              </a:rPr>
              <a:t>Read notices, schemes, tax &amp; profile with no connection.</a:t>
            </a:r>
            <a:endParaRPr lang="en-US" sz="1150" dirty="0"/>
          </a:p>
        </p:txBody>
      </p:sp>
      <p:sp>
        <p:nvSpPr>
          <p:cNvPr id="11" name="Shape 8"/>
          <p:cNvSpPr/>
          <p:nvPr/>
        </p:nvSpPr>
        <p:spPr>
          <a:xfrm>
            <a:off x="4312768" y="2057400"/>
            <a:ext cx="3566160" cy="1691640"/>
          </a:xfrm>
          <a:prstGeom prst="roundRect">
            <a:avLst>
              <a:gd name="adj" fmla="val 4865"/>
            </a:avLst>
          </a:prstGeom>
          <a:solidFill>
            <a:srgbClr val="17492B"/>
          </a:solidFill>
          <a:ln w="12700">
            <a:solidFill>
              <a:srgbClr val="2E9E5B"/>
            </a:solidFill>
            <a:prstDash val="solid"/>
          </a:ln>
        </p:spPr>
      </p:sp>
      <p:sp>
        <p:nvSpPr>
          <p:cNvPr id="12" name="Shape 9"/>
          <p:cNvSpPr/>
          <p:nvPr/>
        </p:nvSpPr>
        <p:spPr>
          <a:xfrm>
            <a:off x="4550512" y="2313432"/>
            <a:ext cx="658368" cy="658368"/>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4724248" y="2487168"/>
            <a:ext cx="310896" cy="310896"/>
          </a:xfrm>
          <a:prstGeom prst="rect">
            <a:avLst/>
          </a:prstGeom>
        </p:spPr>
      </p:pic>
      <p:sp>
        <p:nvSpPr>
          <p:cNvPr id="14" name="Text 10"/>
          <p:cNvSpPr/>
          <p:nvPr/>
        </p:nvSpPr>
        <p:spPr>
          <a:xfrm>
            <a:off x="5318608" y="2386584"/>
            <a:ext cx="237744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Installable App</a:t>
            </a:r>
            <a:endParaRPr lang="en-US" sz="1500" dirty="0"/>
          </a:p>
        </p:txBody>
      </p:sp>
      <p:sp>
        <p:nvSpPr>
          <p:cNvPr id="15" name="Text 11"/>
          <p:cNvSpPr/>
          <p:nvPr/>
        </p:nvSpPr>
        <p:spPr>
          <a:xfrm>
            <a:off x="4550512" y="3118104"/>
            <a:ext cx="3108960" cy="548640"/>
          </a:xfrm>
          <a:prstGeom prst="rect">
            <a:avLst/>
          </a:prstGeom>
          <a:noFill/>
          <a:ln/>
        </p:spPr>
        <p:txBody>
          <a:bodyPr wrap="square" lIns="0" tIns="0" rIns="0" bIns="0" rtlCol="0" anchor="t"/>
          <a:lstStyle/>
          <a:p>
            <a:pPr indent="0" marL="0">
              <a:buNone/>
            </a:pPr>
            <a:r>
              <a:rPr lang="en-US" sz="1150" dirty="0">
                <a:solidFill>
                  <a:srgbClr val="CDE7D8"/>
                </a:solidFill>
                <a:latin typeface="Calibri" pitchFamily="34" charset="0"/>
                <a:ea typeface="Calibri" pitchFamily="34" charset="-122"/>
                <a:cs typeface="Calibri" pitchFamily="34" charset="-120"/>
              </a:rPr>
              <a:t>Add to home screen; launches like a native app.</a:t>
            </a:r>
            <a:endParaRPr lang="en-US" sz="1150" dirty="0"/>
          </a:p>
        </p:txBody>
      </p:sp>
      <p:sp>
        <p:nvSpPr>
          <p:cNvPr id="16" name="Shape 12"/>
          <p:cNvSpPr/>
          <p:nvPr/>
        </p:nvSpPr>
        <p:spPr>
          <a:xfrm>
            <a:off x="8061808" y="2057400"/>
            <a:ext cx="3566160" cy="1691640"/>
          </a:xfrm>
          <a:prstGeom prst="roundRect">
            <a:avLst>
              <a:gd name="adj" fmla="val 4865"/>
            </a:avLst>
          </a:prstGeom>
          <a:solidFill>
            <a:srgbClr val="17492B"/>
          </a:solidFill>
          <a:ln w="12700">
            <a:solidFill>
              <a:srgbClr val="2E9E5B"/>
            </a:solidFill>
            <a:prstDash val="solid"/>
          </a:ln>
        </p:spPr>
      </p:sp>
      <p:sp>
        <p:nvSpPr>
          <p:cNvPr id="17" name="Shape 13"/>
          <p:cNvSpPr/>
          <p:nvPr/>
        </p:nvSpPr>
        <p:spPr>
          <a:xfrm>
            <a:off x="8299552" y="2313432"/>
            <a:ext cx="658368" cy="658368"/>
          </a:xfrm>
          <a:prstGeom prst="ellipse">
            <a:avLst/>
          </a:prstGeom>
          <a:solidFill>
            <a:srgbClr val="2E9E5B"/>
          </a:solidFill>
          <a:ln/>
        </p:spPr>
      </p:sp>
      <p:pic>
        <p:nvPicPr>
          <p:cNvPr id="18" name="Image 2" descr="preencoded.png">    </p:cNvPr>
          <p:cNvPicPr>
            <a:picLocks noChangeAspect="1"/>
          </p:cNvPicPr>
          <p:nvPr/>
        </p:nvPicPr>
        <p:blipFill>
          <a:blip r:embed="rId3"/>
          <a:stretch>
            <a:fillRect/>
          </a:stretch>
        </p:blipFill>
        <p:spPr>
          <a:xfrm>
            <a:off x="8473288" y="2487168"/>
            <a:ext cx="310896" cy="310896"/>
          </a:xfrm>
          <a:prstGeom prst="rect">
            <a:avLst/>
          </a:prstGeom>
        </p:spPr>
      </p:pic>
      <p:sp>
        <p:nvSpPr>
          <p:cNvPr id="19" name="Text 14"/>
          <p:cNvSpPr/>
          <p:nvPr/>
        </p:nvSpPr>
        <p:spPr>
          <a:xfrm>
            <a:off x="9067648" y="2386584"/>
            <a:ext cx="237744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Background Sync</a:t>
            </a:r>
            <a:endParaRPr lang="en-US" sz="1500" dirty="0"/>
          </a:p>
        </p:txBody>
      </p:sp>
      <p:sp>
        <p:nvSpPr>
          <p:cNvPr id="20" name="Text 15"/>
          <p:cNvSpPr/>
          <p:nvPr/>
        </p:nvSpPr>
        <p:spPr>
          <a:xfrm>
            <a:off x="8299552" y="3118104"/>
            <a:ext cx="3108960" cy="548640"/>
          </a:xfrm>
          <a:prstGeom prst="rect">
            <a:avLst/>
          </a:prstGeom>
          <a:noFill/>
          <a:ln/>
        </p:spPr>
        <p:txBody>
          <a:bodyPr wrap="square" lIns="0" tIns="0" rIns="0" bIns="0" rtlCol="0" anchor="t"/>
          <a:lstStyle/>
          <a:p>
            <a:pPr indent="0" marL="0">
              <a:buNone/>
            </a:pPr>
            <a:r>
              <a:rPr lang="en-US" sz="1150" dirty="0">
                <a:solidFill>
                  <a:srgbClr val="CDE7D8"/>
                </a:solidFill>
                <a:latin typeface="Calibri" pitchFamily="34" charset="0"/>
                <a:ea typeface="Calibri" pitchFamily="34" charset="-122"/>
                <a:cs typeface="Calibri" pitchFamily="34" charset="-120"/>
              </a:rPr>
              <a:t>Queued actions send automatically on reconnect.</a:t>
            </a:r>
            <a:endParaRPr lang="en-US" sz="1150" dirty="0"/>
          </a:p>
        </p:txBody>
      </p:sp>
      <p:sp>
        <p:nvSpPr>
          <p:cNvPr id="21" name="Shape 16"/>
          <p:cNvSpPr/>
          <p:nvPr/>
        </p:nvSpPr>
        <p:spPr>
          <a:xfrm>
            <a:off x="563728" y="3968496"/>
            <a:ext cx="3566160" cy="1691640"/>
          </a:xfrm>
          <a:prstGeom prst="roundRect">
            <a:avLst>
              <a:gd name="adj" fmla="val 4865"/>
            </a:avLst>
          </a:prstGeom>
          <a:solidFill>
            <a:srgbClr val="17492B"/>
          </a:solidFill>
          <a:ln w="12700">
            <a:solidFill>
              <a:srgbClr val="2E9E5B"/>
            </a:solidFill>
            <a:prstDash val="solid"/>
          </a:ln>
        </p:spPr>
      </p:sp>
      <p:sp>
        <p:nvSpPr>
          <p:cNvPr id="22" name="Shape 17"/>
          <p:cNvSpPr/>
          <p:nvPr/>
        </p:nvSpPr>
        <p:spPr>
          <a:xfrm>
            <a:off x="801472" y="4224528"/>
            <a:ext cx="658368" cy="658368"/>
          </a:xfrm>
          <a:prstGeom prst="ellipse">
            <a:avLst/>
          </a:prstGeom>
          <a:solidFill>
            <a:srgbClr val="2E9E5B"/>
          </a:solidFill>
          <a:ln/>
        </p:spPr>
      </p:sp>
      <p:pic>
        <p:nvPicPr>
          <p:cNvPr id="23" name="Image 3" descr="preencoded.png">    </p:cNvPr>
          <p:cNvPicPr>
            <a:picLocks noChangeAspect="1"/>
          </p:cNvPicPr>
          <p:nvPr/>
        </p:nvPicPr>
        <p:blipFill>
          <a:blip r:embed="rId4"/>
          <a:stretch>
            <a:fillRect/>
          </a:stretch>
        </p:blipFill>
        <p:spPr>
          <a:xfrm>
            <a:off x="975208" y="4398264"/>
            <a:ext cx="310896" cy="310896"/>
          </a:xfrm>
          <a:prstGeom prst="rect">
            <a:avLst/>
          </a:prstGeom>
        </p:spPr>
      </p:pic>
      <p:sp>
        <p:nvSpPr>
          <p:cNvPr id="24" name="Text 18"/>
          <p:cNvSpPr/>
          <p:nvPr/>
        </p:nvSpPr>
        <p:spPr>
          <a:xfrm>
            <a:off x="1569568" y="4297680"/>
            <a:ext cx="237744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IndexedDB Queue</a:t>
            </a:r>
            <a:endParaRPr lang="en-US" sz="1500" dirty="0"/>
          </a:p>
        </p:txBody>
      </p:sp>
      <p:sp>
        <p:nvSpPr>
          <p:cNvPr id="25" name="Text 19"/>
          <p:cNvSpPr/>
          <p:nvPr/>
        </p:nvSpPr>
        <p:spPr>
          <a:xfrm>
            <a:off x="801472" y="5029200"/>
            <a:ext cx="3108960" cy="548640"/>
          </a:xfrm>
          <a:prstGeom prst="rect">
            <a:avLst/>
          </a:prstGeom>
          <a:noFill/>
          <a:ln/>
        </p:spPr>
        <p:txBody>
          <a:bodyPr wrap="square" lIns="0" tIns="0" rIns="0" bIns="0" rtlCol="0" anchor="t"/>
          <a:lstStyle/>
          <a:p>
            <a:pPr indent="0" marL="0">
              <a:buNone/>
            </a:pPr>
            <a:r>
              <a:rPr lang="en-US" sz="1150" dirty="0">
                <a:solidFill>
                  <a:srgbClr val="CDE7D8"/>
                </a:solidFill>
                <a:latin typeface="Calibri" pitchFamily="34" charset="0"/>
                <a:ea typeface="Calibri" pitchFamily="34" charset="-122"/>
                <a:cs typeface="Calibri" pitchFamily="34" charset="-120"/>
              </a:rPr>
              <a:t>Offline complaints stored safely on the device.</a:t>
            </a:r>
            <a:endParaRPr lang="en-US" sz="1150" dirty="0"/>
          </a:p>
        </p:txBody>
      </p:sp>
      <p:sp>
        <p:nvSpPr>
          <p:cNvPr id="26" name="Shape 20"/>
          <p:cNvSpPr/>
          <p:nvPr/>
        </p:nvSpPr>
        <p:spPr>
          <a:xfrm>
            <a:off x="4312768" y="3968496"/>
            <a:ext cx="3566160" cy="1691640"/>
          </a:xfrm>
          <a:prstGeom prst="roundRect">
            <a:avLst>
              <a:gd name="adj" fmla="val 4865"/>
            </a:avLst>
          </a:prstGeom>
          <a:solidFill>
            <a:srgbClr val="17492B"/>
          </a:solidFill>
          <a:ln w="12700">
            <a:solidFill>
              <a:srgbClr val="2E9E5B"/>
            </a:solidFill>
            <a:prstDash val="solid"/>
          </a:ln>
        </p:spPr>
      </p:sp>
      <p:sp>
        <p:nvSpPr>
          <p:cNvPr id="27" name="Shape 21"/>
          <p:cNvSpPr/>
          <p:nvPr/>
        </p:nvSpPr>
        <p:spPr>
          <a:xfrm>
            <a:off x="4550512" y="4224528"/>
            <a:ext cx="658368" cy="658368"/>
          </a:xfrm>
          <a:prstGeom prst="ellipse">
            <a:avLst/>
          </a:prstGeom>
          <a:solidFill>
            <a:srgbClr val="2E9E5B"/>
          </a:solidFill>
          <a:ln/>
        </p:spPr>
      </p:sp>
      <p:pic>
        <p:nvPicPr>
          <p:cNvPr id="28" name="Image 4" descr="preencoded.png">    </p:cNvPr>
          <p:cNvPicPr>
            <a:picLocks noChangeAspect="1"/>
          </p:cNvPicPr>
          <p:nvPr/>
        </p:nvPicPr>
        <p:blipFill>
          <a:blip r:embed="rId5"/>
          <a:stretch>
            <a:fillRect/>
          </a:stretch>
        </p:blipFill>
        <p:spPr>
          <a:xfrm>
            <a:off x="4724248" y="4398264"/>
            <a:ext cx="310896" cy="310896"/>
          </a:xfrm>
          <a:prstGeom prst="rect">
            <a:avLst/>
          </a:prstGeom>
        </p:spPr>
      </p:pic>
      <p:sp>
        <p:nvSpPr>
          <p:cNvPr id="29" name="Text 22"/>
          <p:cNvSpPr/>
          <p:nvPr/>
        </p:nvSpPr>
        <p:spPr>
          <a:xfrm>
            <a:off x="5318608" y="4297680"/>
            <a:ext cx="237744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Workbox</a:t>
            </a:r>
            <a:endParaRPr lang="en-US" sz="1500" dirty="0"/>
          </a:p>
        </p:txBody>
      </p:sp>
      <p:sp>
        <p:nvSpPr>
          <p:cNvPr id="30" name="Text 23"/>
          <p:cNvSpPr/>
          <p:nvPr/>
        </p:nvSpPr>
        <p:spPr>
          <a:xfrm>
            <a:off x="4550512" y="5029200"/>
            <a:ext cx="3108960" cy="548640"/>
          </a:xfrm>
          <a:prstGeom prst="rect">
            <a:avLst/>
          </a:prstGeom>
          <a:noFill/>
          <a:ln/>
        </p:spPr>
        <p:txBody>
          <a:bodyPr wrap="square" lIns="0" tIns="0" rIns="0" bIns="0" rtlCol="0" anchor="t"/>
          <a:lstStyle/>
          <a:p>
            <a:pPr indent="0" marL="0">
              <a:buNone/>
            </a:pPr>
            <a:r>
              <a:rPr lang="en-US" sz="1150" dirty="0">
                <a:solidFill>
                  <a:srgbClr val="CDE7D8"/>
                </a:solidFill>
                <a:latin typeface="Calibri" pitchFamily="34" charset="0"/>
                <a:ea typeface="Calibri" pitchFamily="34" charset="-122"/>
                <a:cs typeface="Calibri" pitchFamily="34" charset="-120"/>
              </a:rPr>
              <a:t>Smart runtime caching of the app shell and data.</a:t>
            </a:r>
            <a:endParaRPr lang="en-US" sz="1150" dirty="0"/>
          </a:p>
        </p:txBody>
      </p:sp>
      <p:sp>
        <p:nvSpPr>
          <p:cNvPr id="31" name="Shape 24"/>
          <p:cNvSpPr/>
          <p:nvPr/>
        </p:nvSpPr>
        <p:spPr>
          <a:xfrm>
            <a:off x="8061808" y="3968496"/>
            <a:ext cx="3566160" cy="1691640"/>
          </a:xfrm>
          <a:prstGeom prst="roundRect">
            <a:avLst>
              <a:gd name="adj" fmla="val 4865"/>
            </a:avLst>
          </a:prstGeom>
          <a:solidFill>
            <a:srgbClr val="17492B"/>
          </a:solidFill>
          <a:ln w="12700">
            <a:solidFill>
              <a:srgbClr val="2E9E5B"/>
            </a:solidFill>
            <a:prstDash val="solid"/>
          </a:ln>
        </p:spPr>
      </p:sp>
      <p:sp>
        <p:nvSpPr>
          <p:cNvPr id="32" name="Shape 25"/>
          <p:cNvSpPr/>
          <p:nvPr/>
        </p:nvSpPr>
        <p:spPr>
          <a:xfrm>
            <a:off x="8299552" y="4224528"/>
            <a:ext cx="658368" cy="658368"/>
          </a:xfrm>
          <a:prstGeom prst="ellipse">
            <a:avLst/>
          </a:prstGeom>
          <a:solidFill>
            <a:srgbClr val="2E9E5B"/>
          </a:solidFill>
          <a:ln/>
        </p:spPr>
      </p:sp>
      <p:pic>
        <p:nvPicPr>
          <p:cNvPr id="33" name="Image 5" descr="preencoded.png">    </p:cNvPr>
          <p:cNvPicPr>
            <a:picLocks noChangeAspect="1"/>
          </p:cNvPicPr>
          <p:nvPr/>
        </p:nvPicPr>
        <p:blipFill>
          <a:blip r:embed="rId6"/>
          <a:stretch>
            <a:fillRect/>
          </a:stretch>
        </p:blipFill>
        <p:spPr>
          <a:xfrm>
            <a:off x="8473288" y="4398264"/>
            <a:ext cx="310896" cy="310896"/>
          </a:xfrm>
          <a:prstGeom prst="rect">
            <a:avLst/>
          </a:prstGeom>
        </p:spPr>
      </p:pic>
      <p:sp>
        <p:nvSpPr>
          <p:cNvPr id="34" name="Text 26"/>
          <p:cNvSpPr/>
          <p:nvPr/>
        </p:nvSpPr>
        <p:spPr>
          <a:xfrm>
            <a:off x="9067648" y="4297680"/>
            <a:ext cx="237744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Service Worker</a:t>
            </a:r>
            <a:endParaRPr lang="en-US" sz="1500" dirty="0"/>
          </a:p>
        </p:txBody>
      </p:sp>
      <p:sp>
        <p:nvSpPr>
          <p:cNvPr id="35" name="Text 27"/>
          <p:cNvSpPr/>
          <p:nvPr/>
        </p:nvSpPr>
        <p:spPr>
          <a:xfrm>
            <a:off x="8299552" y="5029200"/>
            <a:ext cx="3108960" cy="548640"/>
          </a:xfrm>
          <a:prstGeom prst="rect">
            <a:avLst/>
          </a:prstGeom>
          <a:noFill/>
          <a:ln/>
        </p:spPr>
        <p:txBody>
          <a:bodyPr wrap="square" lIns="0" tIns="0" rIns="0" bIns="0" rtlCol="0" anchor="t"/>
          <a:lstStyle/>
          <a:p>
            <a:pPr indent="0" marL="0">
              <a:buNone/>
            </a:pPr>
            <a:r>
              <a:rPr lang="en-US" sz="1150" dirty="0">
                <a:solidFill>
                  <a:srgbClr val="CDE7D8"/>
                </a:solidFill>
                <a:latin typeface="Calibri" pitchFamily="34" charset="0"/>
                <a:ea typeface="Calibri" pitchFamily="34" charset="-122"/>
                <a:cs typeface="Calibri" pitchFamily="34" charset="-120"/>
              </a:rPr>
              <a:t>Update-on-reload and duplicate-safe replay.</a:t>
            </a:r>
            <a:endParaRPr lang="en-US" sz="1150" dirty="0"/>
          </a:p>
        </p:txBody>
      </p:sp>
      <p:sp>
        <p:nvSpPr>
          <p:cNvPr id="36" name="Text 28"/>
          <p:cNvSpPr/>
          <p:nvPr/>
        </p:nvSpPr>
        <p:spPr>
          <a:xfrm>
            <a:off x="548640" y="6510528"/>
            <a:ext cx="5486400" cy="274320"/>
          </a:xfrm>
          <a:prstGeom prst="rect">
            <a:avLst/>
          </a:prstGeom>
          <a:noFill/>
          <a:ln/>
        </p:spPr>
        <p:txBody>
          <a:bodyPr wrap="square" lIns="0" tIns="0" rIns="0" bIns="0" rtlCol="0" anchor="ctr"/>
          <a:lstStyle/>
          <a:p>
            <a:pPr algn="l" indent="0" marL="0">
              <a:buNone/>
            </a:pPr>
            <a:r>
              <a:rPr lang="en-US" sz="900" dirty="0">
                <a:solidFill>
                  <a:srgbClr val="BFD8C8"/>
                </a:solidFill>
                <a:latin typeface="Calibri" pitchFamily="34" charset="0"/>
                <a:ea typeface="Calibri" pitchFamily="34" charset="-122"/>
                <a:cs typeface="Calibri" pitchFamily="34" charset="-120"/>
              </a:rPr>
              <a:t>Digital Gram Panchayat  ·  v1.0.0</a:t>
            </a:r>
            <a:endParaRPr lang="en-US" sz="900" dirty="0"/>
          </a:p>
        </p:txBody>
      </p:sp>
      <p:sp>
        <p:nvSpPr>
          <p:cNvPr id="37" name="Text 29"/>
          <p:cNvSpPr/>
          <p:nvPr/>
        </p:nvSpPr>
        <p:spPr>
          <a:xfrm>
            <a:off x="11338560" y="6510528"/>
            <a:ext cx="365760" cy="274320"/>
          </a:xfrm>
          <a:prstGeom prst="rect">
            <a:avLst/>
          </a:prstGeom>
          <a:noFill/>
          <a:ln/>
        </p:spPr>
        <p:txBody>
          <a:bodyPr wrap="square" lIns="0" tIns="0" rIns="0" bIns="0" rtlCol="0" anchor="ctr"/>
          <a:lstStyle/>
          <a:p>
            <a:pPr algn="r" indent="0" marL="0">
              <a:buNone/>
            </a:pPr>
            <a:r>
              <a:rPr lang="en-US" sz="900" dirty="0">
                <a:solidFill>
                  <a:srgbClr val="BFD8C8"/>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8229600" cy="274320"/>
          </a:xfrm>
          <a:prstGeom prst="rect">
            <a:avLst/>
          </a:prstGeom>
          <a:noFill/>
          <a:ln/>
        </p:spPr>
        <p:txBody>
          <a:bodyPr wrap="square" lIns="0" tIns="0" rIns="0" bIns="0" rtlCol="0" anchor="ctr"/>
          <a:lstStyle/>
          <a:p>
            <a:pPr algn="l" indent="0" marL="0">
              <a:buNone/>
            </a:pPr>
            <a:r>
              <a:rPr lang="en-US" sz="1200" b="1" spc="300" kern="0" dirty="0">
                <a:solidFill>
                  <a:srgbClr val="1F7A3D"/>
                </a:solidFill>
                <a:latin typeface="Calibri" pitchFamily="34" charset="0"/>
                <a:ea typeface="Calibri" pitchFamily="34" charset="-122"/>
                <a:cs typeface="Calibri" pitchFamily="34" charset="-120"/>
              </a:rPr>
              <a:t>HARDENED FOR PRODUCTION</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algn="l" indent="0" marL="0">
              <a:buNone/>
            </a:pPr>
            <a:r>
              <a:rPr lang="en-US" sz="3000" b="1" dirty="0">
                <a:solidFill>
                  <a:srgbClr val="1F2937"/>
                </a:solidFill>
                <a:latin typeface="Cambria" pitchFamily="34" charset="0"/>
                <a:ea typeface="Cambria" pitchFamily="34" charset="-122"/>
                <a:cs typeface="Cambria" pitchFamily="34" charset="-120"/>
              </a:rPr>
              <a:t>Security Features</a:t>
            </a:r>
            <a:endParaRPr lang="en-US" sz="3000" dirty="0"/>
          </a:p>
        </p:txBody>
      </p:sp>
      <p:sp>
        <p:nvSpPr>
          <p:cNvPr id="4" name="Shape 2"/>
          <p:cNvSpPr/>
          <p:nvPr/>
        </p:nvSpPr>
        <p:spPr>
          <a:xfrm>
            <a:off x="536296" y="1783080"/>
            <a:ext cx="2670048" cy="1874520"/>
          </a:xfrm>
          <a:prstGeom prst="roundRect">
            <a:avLst>
              <a:gd name="adj" fmla="val 4390"/>
            </a:avLst>
          </a:prstGeom>
          <a:solidFill>
            <a:srgbClr val="F3F9F5"/>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5" name="Shape 3"/>
          <p:cNvSpPr/>
          <p:nvPr/>
        </p:nvSpPr>
        <p:spPr>
          <a:xfrm>
            <a:off x="774040" y="2039112"/>
            <a:ext cx="658368" cy="658368"/>
          </a:xfrm>
          <a:prstGeom prst="ellipse">
            <a:avLst/>
          </a:prstGeom>
          <a:solidFill>
            <a:srgbClr val="1F7A3D"/>
          </a:solidFill>
          <a:ln/>
        </p:spPr>
      </p:sp>
      <p:pic>
        <p:nvPicPr>
          <p:cNvPr id="6" name="Image 0" descr="preencoded.png">    </p:cNvPr>
          <p:cNvPicPr>
            <a:picLocks noChangeAspect="1"/>
          </p:cNvPicPr>
          <p:nvPr/>
        </p:nvPicPr>
        <p:blipFill>
          <a:blip r:embed="rId1"/>
          <a:stretch>
            <a:fillRect/>
          </a:stretch>
        </p:blipFill>
        <p:spPr>
          <a:xfrm>
            <a:off x="947776" y="2212848"/>
            <a:ext cx="310896" cy="310896"/>
          </a:xfrm>
          <a:prstGeom prst="rect">
            <a:avLst/>
          </a:prstGeom>
        </p:spPr>
      </p:pic>
      <p:sp>
        <p:nvSpPr>
          <p:cNvPr id="7" name="Text 4"/>
          <p:cNvSpPr/>
          <p:nvPr/>
        </p:nvSpPr>
        <p:spPr>
          <a:xfrm>
            <a:off x="774040" y="2807208"/>
            <a:ext cx="2304288" cy="310896"/>
          </a:xfrm>
          <a:prstGeom prst="rect">
            <a:avLst/>
          </a:prstGeom>
          <a:noFill/>
          <a:ln/>
        </p:spPr>
        <p:txBody>
          <a:bodyPr wrap="square" lIns="0" tIns="0" rIns="0" bIns="0" rtlCol="0" anchor="ctr"/>
          <a:lstStyle/>
          <a:p>
            <a:pPr indent="0" marL="0">
              <a:buNone/>
            </a:pPr>
            <a:r>
              <a:rPr lang="en-US" sz="1350" b="1" dirty="0">
                <a:solidFill>
                  <a:srgbClr val="1F2937"/>
                </a:solidFill>
                <a:latin typeface="Calibri" pitchFamily="34" charset="0"/>
                <a:ea typeface="Calibri" pitchFamily="34" charset="-122"/>
                <a:cs typeface="Calibri" pitchFamily="34" charset="-120"/>
              </a:rPr>
              <a:t>JWT</a:t>
            </a:r>
            <a:endParaRPr lang="en-US" sz="1350" dirty="0"/>
          </a:p>
        </p:txBody>
      </p:sp>
      <p:sp>
        <p:nvSpPr>
          <p:cNvPr id="8" name="Text 5"/>
          <p:cNvSpPr/>
          <p:nvPr/>
        </p:nvSpPr>
        <p:spPr>
          <a:xfrm>
            <a:off x="774040" y="3118104"/>
            <a:ext cx="2304288" cy="457200"/>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Stateless HS256 tokens; short-lived sessions.</a:t>
            </a:r>
            <a:endParaRPr lang="en-US" sz="1050" dirty="0"/>
          </a:p>
        </p:txBody>
      </p:sp>
      <p:sp>
        <p:nvSpPr>
          <p:cNvPr id="9" name="Shape 6"/>
          <p:cNvSpPr/>
          <p:nvPr/>
        </p:nvSpPr>
        <p:spPr>
          <a:xfrm>
            <a:off x="3352648" y="1783080"/>
            <a:ext cx="2670048" cy="1874520"/>
          </a:xfrm>
          <a:prstGeom prst="roundRect">
            <a:avLst>
              <a:gd name="adj" fmla="val 4390"/>
            </a:avLst>
          </a:prstGeom>
          <a:solidFill>
            <a:srgbClr val="F3F9F5"/>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10" name="Shape 7"/>
          <p:cNvSpPr/>
          <p:nvPr/>
        </p:nvSpPr>
        <p:spPr>
          <a:xfrm>
            <a:off x="3590392" y="2039112"/>
            <a:ext cx="658368" cy="658368"/>
          </a:xfrm>
          <a:prstGeom prst="ellipse">
            <a:avLst/>
          </a:prstGeom>
          <a:solidFill>
            <a:srgbClr val="1F7A3D"/>
          </a:solidFill>
          <a:ln/>
        </p:spPr>
      </p:sp>
      <p:pic>
        <p:nvPicPr>
          <p:cNvPr id="11" name="Image 1" descr="preencoded.png">    </p:cNvPr>
          <p:cNvPicPr>
            <a:picLocks noChangeAspect="1"/>
          </p:cNvPicPr>
          <p:nvPr/>
        </p:nvPicPr>
        <p:blipFill>
          <a:blip r:embed="rId2"/>
          <a:stretch>
            <a:fillRect/>
          </a:stretch>
        </p:blipFill>
        <p:spPr>
          <a:xfrm>
            <a:off x="3764128" y="2212848"/>
            <a:ext cx="310896" cy="310896"/>
          </a:xfrm>
          <a:prstGeom prst="rect">
            <a:avLst/>
          </a:prstGeom>
        </p:spPr>
      </p:pic>
      <p:sp>
        <p:nvSpPr>
          <p:cNvPr id="12" name="Text 8"/>
          <p:cNvSpPr/>
          <p:nvPr/>
        </p:nvSpPr>
        <p:spPr>
          <a:xfrm>
            <a:off x="3590392" y="2807208"/>
            <a:ext cx="2304288" cy="310896"/>
          </a:xfrm>
          <a:prstGeom prst="rect">
            <a:avLst/>
          </a:prstGeom>
          <a:noFill/>
          <a:ln/>
        </p:spPr>
        <p:txBody>
          <a:bodyPr wrap="square" lIns="0" tIns="0" rIns="0" bIns="0" rtlCol="0" anchor="ctr"/>
          <a:lstStyle/>
          <a:p>
            <a:pPr indent="0" marL="0">
              <a:buNone/>
            </a:pPr>
            <a:r>
              <a:rPr lang="en-US" sz="1350" b="1" dirty="0">
                <a:solidFill>
                  <a:srgbClr val="1F2937"/>
                </a:solidFill>
                <a:latin typeface="Calibri" pitchFamily="34" charset="0"/>
                <a:ea typeface="Calibri" pitchFamily="34" charset="-122"/>
                <a:cs typeface="Calibri" pitchFamily="34" charset="-120"/>
              </a:rPr>
              <a:t>Role-Based Authorization</a:t>
            </a:r>
            <a:endParaRPr lang="en-US" sz="1350" dirty="0"/>
          </a:p>
        </p:txBody>
      </p:sp>
      <p:sp>
        <p:nvSpPr>
          <p:cNvPr id="13" name="Text 9"/>
          <p:cNvSpPr/>
          <p:nvPr/>
        </p:nvSpPr>
        <p:spPr>
          <a:xfrm>
            <a:off x="3590392" y="3118104"/>
            <a:ext cx="2304288" cy="457200"/>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Officer/citizen gates + ownership checks.</a:t>
            </a:r>
            <a:endParaRPr lang="en-US" sz="1050" dirty="0"/>
          </a:p>
        </p:txBody>
      </p:sp>
      <p:sp>
        <p:nvSpPr>
          <p:cNvPr id="14" name="Shape 10"/>
          <p:cNvSpPr/>
          <p:nvPr/>
        </p:nvSpPr>
        <p:spPr>
          <a:xfrm>
            <a:off x="6169000" y="1783080"/>
            <a:ext cx="2670048" cy="1874520"/>
          </a:xfrm>
          <a:prstGeom prst="roundRect">
            <a:avLst>
              <a:gd name="adj" fmla="val 4390"/>
            </a:avLst>
          </a:prstGeom>
          <a:solidFill>
            <a:srgbClr val="F3F9F5"/>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15" name="Shape 11"/>
          <p:cNvSpPr/>
          <p:nvPr/>
        </p:nvSpPr>
        <p:spPr>
          <a:xfrm>
            <a:off x="6406744" y="2039112"/>
            <a:ext cx="658368" cy="658368"/>
          </a:xfrm>
          <a:prstGeom prst="ellipse">
            <a:avLst/>
          </a:prstGeom>
          <a:solidFill>
            <a:srgbClr val="1F7A3D"/>
          </a:solidFill>
          <a:ln/>
        </p:spPr>
      </p:sp>
      <p:pic>
        <p:nvPicPr>
          <p:cNvPr id="16" name="Image 2" descr="preencoded.png">    </p:cNvPr>
          <p:cNvPicPr>
            <a:picLocks noChangeAspect="1"/>
          </p:cNvPicPr>
          <p:nvPr/>
        </p:nvPicPr>
        <p:blipFill>
          <a:blip r:embed="rId3"/>
          <a:stretch>
            <a:fillRect/>
          </a:stretch>
        </p:blipFill>
        <p:spPr>
          <a:xfrm>
            <a:off x="6580480" y="2212848"/>
            <a:ext cx="310896" cy="310896"/>
          </a:xfrm>
          <a:prstGeom prst="rect">
            <a:avLst/>
          </a:prstGeom>
        </p:spPr>
      </p:pic>
      <p:sp>
        <p:nvSpPr>
          <p:cNvPr id="17" name="Text 12"/>
          <p:cNvSpPr/>
          <p:nvPr/>
        </p:nvSpPr>
        <p:spPr>
          <a:xfrm>
            <a:off x="6406744" y="2807208"/>
            <a:ext cx="2304288" cy="310896"/>
          </a:xfrm>
          <a:prstGeom prst="rect">
            <a:avLst/>
          </a:prstGeom>
          <a:noFill/>
          <a:ln/>
        </p:spPr>
        <p:txBody>
          <a:bodyPr wrap="square" lIns="0" tIns="0" rIns="0" bIns="0" rtlCol="0" anchor="ctr"/>
          <a:lstStyle/>
          <a:p>
            <a:pPr indent="0" marL="0">
              <a:buNone/>
            </a:pPr>
            <a:r>
              <a:rPr lang="en-US" sz="1350" b="1" dirty="0">
                <a:solidFill>
                  <a:srgbClr val="1F2937"/>
                </a:solidFill>
                <a:latin typeface="Calibri" pitchFamily="34" charset="0"/>
                <a:ea typeface="Calibri" pitchFamily="34" charset="-122"/>
                <a:cs typeface="Calibri" pitchFamily="34" charset="-120"/>
              </a:rPr>
              <a:t>Helmet</a:t>
            </a:r>
            <a:endParaRPr lang="en-US" sz="1350" dirty="0"/>
          </a:p>
        </p:txBody>
      </p:sp>
      <p:sp>
        <p:nvSpPr>
          <p:cNvPr id="18" name="Text 13"/>
          <p:cNvSpPr/>
          <p:nvPr/>
        </p:nvSpPr>
        <p:spPr>
          <a:xfrm>
            <a:off x="6406744" y="3118104"/>
            <a:ext cx="2304288" cy="457200"/>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Secure HTTP headers, HSTS, no sniff.</a:t>
            </a:r>
            <a:endParaRPr lang="en-US" sz="1050" dirty="0"/>
          </a:p>
        </p:txBody>
      </p:sp>
      <p:sp>
        <p:nvSpPr>
          <p:cNvPr id="19" name="Shape 14"/>
          <p:cNvSpPr/>
          <p:nvPr/>
        </p:nvSpPr>
        <p:spPr>
          <a:xfrm>
            <a:off x="8985352" y="1783080"/>
            <a:ext cx="2670048" cy="1874520"/>
          </a:xfrm>
          <a:prstGeom prst="roundRect">
            <a:avLst>
              <a:gd name="adj" fmla="val 4390"/>
            </a:avLst>
          </a:prstGeom>
          <a:solidFill>
            <a:srgbClr val="F3F9F5"/>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20" name="Shape 15"/>
          <p:cNvSpPr/>
          <p:nvPr/>
        </p:nvSpPr>
        <p:spPr>
          <a:xfrm>
            <a:off x="9223096" y="2039112"/>
            <a:ext cx="658368" cy="658368"/>
          </a:xfrm>
          <a:prstGeom prst="ellipse">
            <a:avLst/>
          </a:prstGeom>
          <a:solidFill>
            <a:srgbClr val="1F7A3D"/>
          </a:solidFill>
          <a:ln/>
        </p:spPr>
      </p:sp>
      <p:pic>
        <p:nvPicPr>
          <p:cNvPr id="21" name="Image 3" descr="preencoded.png">    </p:cNvPr>
          <p:cNvPicPr>
            <a:picLocks noChangeAspect="1"/>
          </p:cNvPicPr>
          <p:nvPr/>
        </p:nvPicPr>
        <p:blipFill>
          <a:blip r:embed="rId4"/>
          <a:stretch>
            <a:fillRect/>
          </a:stretch>
        </p:blipFill>
        <p:spPr>
          <a:xfrm>
            <a:off x="9396832" y="2212848"/>
            <a:ext cx="310896" cy="310896"/>
          </a:xfrm>
          <a:prstGeom prst="rect">
            <a:avLst/>
          </a:prstGeom>
        </p:spPr>
      </p:pic>
      <p:sp>
        <p:nvSpPr>
          <p:cNvPr id="22" name="Text 16"/>
          <p:cNvSpPr/>
          <p:nvPr/>
        </p:nvSpPr>
        <p:spPr>
          <a:xfrm>
            <a:off x="9223096" y="2807208"/>
            <a:ext cx="2304288" cy="310896"/>
          </a:xfrm>
          <a:prstGeom prst="rect">
            <a:avLst/>
          </a:prstGeom>
          <a:noFill/>
          <a:ln/>
        </p:spPr>
        <p:txBody>
          <a:bodyPr wrap="square" lIns="0" tIns="0" rIns="0" bIns="0" rtlCol="0" anchor="ctr"/>
          <a:lstStyle/>
          <a:p>
            <a:pPr indent="0" marL="0">
              <a:buNone/>
            </a:pPr>
            <a:r>
              <a:rPr lang="en-US" sz="1350" b="1" dirty="0">
                <a:solidFill>
                  <a:srgbClr val="1F2937"/>
                </a:solidFill>
                <a:latin typeface="Calibri" pitchFamily="34" charset="0"/>
                <a:ea typeface="Calibri" pitchFamily="34" charset="-122"/>
                <a:cs typeface="Calibri" pitchFamily="34" charset="-120"/>
              </a:rPr>
              <a:t>Rate Limiting</a:t>
            </a:r>
            <a:endParaRPr lang="en-US" sz="1350" dirty="0"/>
          </a:p>
        </p:txBody>
      </p:sp>
      <p:sp>
        <p:nvSpPr>
          <p:cNvPr id="23" name="Text 17"/>
          <p:cNvSpPr/>
          <p:nvPr/>
        </p:nvSpPr>
        <p:spPr>
          <a:xfrm>
            <a:off x="9223096" y="3118104"/>
            <a:ext cx="2304288" cy="457200"/>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Per-route throttles return clean 429s.</a:t>
            </a:r>
            <a:endParaRPr lang="en-US" sz="1050" dirty="0"/>
          </a:p>
        </p:txBody>
      </p:sp>
      <p:sp>
        <p:nvSpPr>
          <p:cNvPr id="24" name="Shape 18"/>
          <p:cNvSpPr/>
          <p:nvPr/>
        </p:nvSpPr>
        <p:spPr>
          <a:xfrm>
            <a:off x="536296" y="3877056"/>
            <a:ext cx="2670048" cy="1874520"/>
          </a:xfrm>
          <a:prstGeom prst="roundRect">
            <a:avLst>
              <a:gd name="adj" fmla="val 4390"/>
            </a:avLst>
          </a:prstGeom>
          <a:solidFill>
            <a:srgbClr val="F3F9F5"/>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25" name="Shape 19"/>
          <p:cNvSpPr/>
          <p:nvPr/>
        </p:nvSpPr>
        <p:spPr>
          <a:xfrm>
            <a:off x="774040" y="4133088"/>
            <a:ext cx="658368" cy="658368"/>
          </a:xfrm>
          <a:prstGeom prst="ellipse">
            <a:avLst/>
          </a:prstGeom>
          <a:solidFill>
            <a:srgbClr val="1F7A3D"/>
          </a:solidFill>
          <a:ln/>
        </p:spPr>
      </p:sp>
      <p:pic>
        <p:nvPicPr>
          <p:cNvPr id="26" name="Image 4" descr="preencoded.png">    </p:cNvPr>
          <p:cNvPicPr>
            <a:picLocks noChangeAspect="1"/>
          </p:cNvPicPr>
          <p:nvPr/>
        </p:nvPicPr>
        <p:blipFill>
          <a:blip r:embed="rId5"/>
          <a:stretch>
            <a:fillRect/>
          </a:stretch>
        </p:blipFill>
        <p:spPr>
          <a:xfrm>
            <a:off x="947776" y="4306824"/>
            <a:ext cx="310896" cy="310896"/>
          </a:xfrm>
          <a:prstGeom prst="rect">
            <a:avLst/>
          </a:prstGeom>
        </p:spPr>
      </p:pic>
      <p:sp>
        <p:nvSpPr>
          <p:cNvPr id="27" name="Text 20"/>
          <p:cNvSpPr/>
          <p:nvPr/>
        </p:nvSpPr>
        <p:spPr>
          <a:xfrm>
            <a:off x="774040" y="4901184"/>
            <a:ext cx="2304288" cy="310896"/>
          </a:xfrm>
          <a:prstGeom prst="rect">
            <a:avLst/>
          </a:prstGeom>
          <a:noFill/>
          <a:ln/>
        </p:spPr>
        <p:txBody>
          <a:bodyPr wrap="square" lIns="0" tIns="0" rIns="0" bIns="0" rtlCol="0" anchor="ctr"/>
          <a:lstStyle/>
          <a:p>
            <a:pPr indent="0" marL="0">
              <a:buNone/>
            </a:pPr>
            <a:r>
              <a:rPr lang="en-US" sz="1350" b="1" dirty="0">
                <a:solidFill>
                  <a:srgbClr val="1F2937"/>
                </a:solidFill>
                <a:latin typeface="Calibri" pitchFamily="34" charset="0"/>
                <a:ea typeface="Calibri" pitchFamily="34" charset="-122"/>
                <a:cs typeface="Calibri" pitchFamily="34" charset="-120"/>
              </a:rPr>
              <a:t>Audit Logs</a:t>
            </a:r>
            <a:endParaRPr lang="en-US" sz="1350" dirty="0"/>
          </a:p>
        </p:txBody>
      </p:sp>
      <p:sp>
        <p:nvSpPr>
          <p:cNvPr id="28" name="Text 21"/>
          <p:cNvSpPr/>
          <p:nvPr/>
        </p:nvSpPr>
        <p:spPr>
          <a:xfrm>
            <a:off x="774040" y="5212080"/>
            <a:ext cx="2304288" cy="457200"/>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Append-only record of every mutation.</a:t>
            </a:r>
            <a:endParaRPr lang="en-US" sz="1050" dirty="0"/>
          </a:p>
        </p:txBody>
      </p:sp>
      <p:sp>
        <p:nvSpPr>
          <p:cNvPr id="29" name="Shape 22"/>
          <p:cNvSpPr/>
          <p:nvPr/>
        </p:nvSpPr>
        <p:spPr>
          <a:xfrm>
            <a:off x="3352648" y="3877056"/>
            <a:ext cx="2670048" cy="1874520"/>
          </a:xfrm>
          <a:prstGeom prst="roundRect">
            <a:avLst>
              <a:gd name="adj" fmla="val 4390"/>
            </a:avLst>
          </a:prstGeom>
          <a:solidFill>
            <a:srgbClr val="F3F9F5"/>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30" name="Shape 23"/>
          <p:cNvSpPr/>
          <p:nvPr/>
        </p:nvSpPr>
        <p:spPr>
          <a:xfrm>
            <a:off x="3590392" y="4133088"/>
            <a:ext cx="658368" cy="658368"/>
          </a:xfrm>
          <a:prstGeom prst="ellipse">
            <a:avLst/>
          </a:prstGeom>
          <a:solidFill>
            <a:srgbClr val="1F7A3D"/>
          </a:solidFill>
          <a:ln/>
        </p:spPr>
      </p:sp>
      <p:pic>
        <p:nvPicPr>
          <p:cNvPr id="31" name="Image 5" descr="preencoded.png">    </p:cNvPr>
          <p:cNvPicPr>
            <a:picLocks noChangeAspect="1"/>
          </p:cNvPicPr>
          <p:nvPr/>
        </p:nvPicPr>
        <p:blipFill>
          <a:blip r:embed="rId6"/>
          <a:stretch>
            <a:fillRect/>
          </a:stretch>
        </p:blipFill>
        <p:spPr>
          <a:xfrm>
            <a:off x="3764128" y="4306824"/>
            <a:ext cx="310896" cy="310896"/>
          </a:xfrm>
          <a:prstGeom prst="rect">
            <a:avLst/>
          </a:prstGeom>
        </p:spPr>
      </p:pic>
      <p:sp>
        <p:nvSpPr>
          <p:cNvPr id="32" name="Text 24"/>
          <p:cNvSpPr/>
          <p:nvPr/>
        </p:nvSpPr>
        <p:spPr>
          <a:xfrm>
            <a:off x="3590392" y="4901184"/>
            <a:ext cx="2304288" cy="310896"/>
          </a:xfrm>
          <a:prstGeom prst="rect">
            <a:avLst/>
          </a:prstGeom>
          <a:noFill/>
          <a:ln/>
        </p:spPr>
        <p:txBody>
          <a:bodyPr wrap="square" lIns="0" tIns="0" rIns="0" bIns="0" rtlCol="0" anchor="ctr"/>
          <a:lstStyle/>
          <a:p>
            <a:pPr indent="0" marL="0">
              <a:buNone/>
            </a:pPr>
            <a:r>
              <a:rPr lang="en-US" sz="1350" b="1" dirty="0">
                <a:solidFill>
                  <a:srgbClr val="1F2937"/>
                </a:solidFill>
                <a:latin typeface="Calibri" pitchFamily="34" charset="0"/>
                <a:ea typeface="Calibri" pitchFamily="34" charset="-122"/>
                <a:cs typeface="Calibri" pitchFamily="34" charset="-120"/>
              </a:rPr>
              <a:t>Upload Validation</a:t>
            </a:r>
            <a:endParaRPr lang="en-US" sz="1350" dirty="0"/>
          </a:p>
        </p:txBody>
      </p:sp>
      <p:sp>
        <p:nvSpPr>
          <p:cNvPr id="33" name="Text 25"/>
          <p:cNvSpPr/>
          <p:nvPr/>
        </p:nvSpPr>
        <p:spPr>
          <a:xfrm>
            <a:off x="3590392" y="5212080"/>
            <a:ext cx="2304288" cy="457200"/>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MIME allowlist + size caps, streamed to cloud.</a:t>
            </a:r>
            <a:endParaRPr lang="en-US" sz="1050" dirty="0"/>
          </a:p>
        </p:txBody>
      </p:sp>
      <p:sp>
        <p:nvSpPr>
          <p:cNvPr id="34" name="Shape 26"/>
          <p:cNvSpPr/>
          <p:nvPr/>
        </p:nvSpPr>
        <p:spPr>
          <a:xfrm>
            <a:off x="6169000" y="3877056"/>
            <a:ext cx="2670048" cy="1874520"/>
          </a:xfrm>
          <a:prstGeom prst="roundRect">
            <a:avLst>
              <a:gd name="adj" fmla="val 4390"/>
            </a:avLst>
          </a:prstGeom>
          <a:solidFill>
            <a:srgbClr val="F3F9F5"/>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35" name="Shape 27"/>
          <p:cNvSpPr/>
          <p:nvPr/>
        </p:nvSpPr>
        <p:spPr>
          <a:xfrm>
            <a:off x="6406744" y="4133088"/>
            <a:ext cx="658368" cy="658368"/>
          </a:xfrm>
          <a:prstGeom prst="ellipse">
            <a:avLst/>
          </a:prstGeom>
          <a:solidFill>
            <a:srgbClr val="1F7A3D"/>
          </a:solidFill>
          <a:ln/>
        </p:spPr>
      </p:sp>
      <p:pic>
        <p:nvPicPr>
          <p:cNvPr id="36" name="Image 6" descr="preencoded.png">    </p:cNvPr>
          <p:cNvPicPr>
            <a:picLocks noChangeAspect="1"/>
          </p:cNvPicPr>
          <p:nvPr/>
        </p:nvPicPr>
        <p:blipFill>
          <a:blip r:embed="rId7"/>
          <a:stretch>
            <a:fillRect/>
          </a:stretch>
        </p:blipFill>
        <p:spPr>
          <a:xfrm>
            <a:off x="6580480" y="4306824"/>
            <a:ext cx="310896" cy="310896"/>
          </a:xfrm>
          <a:prstGeom prst="rect">
            <a:avLst/>
          </a:prstGeom>
        </p:spPr>
      </p:pic>
      <p:sp>
        <p:nvSpPr>
          <p:cNvPr id="37" name="Text 28"/>
          <p:cNvSpPr/>
          <p:nvPr/>
        </p:nvSpPr>
        <p:spPr>
          <a:xfrm>
            <a:off x="6406744" y="4901184"/>
            <a:ext cx="2304288" cy="310896"/>
          </a:xfrm>
          <a:prstGeom prst="rect">
            <a:avLst/>
          </a:prstGeom>
          <a:noFill/>
          <a:ln/>
        </p:spPr>
        <p:txBody>
          <a:bodyPr wrap="square" lIns="0" tIns="0" rIns="0" bIns="0" rtlCol="0" anchor="ctr"/>
          <a:lstStyle/>
          <a:p>
            <a:pPr indent="0" marL="0">
              <a:buNone/>
            </a:pPr>
            <a:r>
              <a:rPr lang="en-US" sz="1350" b="1" dirty="0">
                <a:solidFill>
                  <a:srgbClr val="1F2937"/>
                </a:solidFill>
                <a:latin typeface="Calibri" pitchFamily="34" charset="0"/>
                <a:ea typeface="Calibri" pitchFamily="34" charset="-122"/>
                <a:cs typeface="Calibri" pitchFamily="34" charset="-120"/>
              </a:rPr>
              <a:t>Mongo Sanitization</a:t>
            </a:r>
            <a:endParaRPr lang="en-US" sz="1350" dirty="0"/>
          </a:p>
        </p:txBody>
      </p:sp>
      <p:sp>
        <p:nvSpPr>
          <p:cNvPr id="38" name="Text 29"/>
          <p:cNvSpPr/>
          <p:nvPr/>
        </p:nvSpPr>
        <p:spPr>
          <a:xfrm>
            <a:off x="6406744" y="5212080"/>
            <a:ext cx="2304288" cy="457200"/>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Strips NoSQL-injection operators from input.</a:t>
            </a:r>
            <a:endParaRPr lang="en-US" sz="1050" dirty="0"/>
          </a:p>
        </p:txBody>
      </p:sp>
      <p:sp>
        <p:nvSpPr>
          <p:cNvPr id="39" name="Shape 30"/>
          <p:cNvSpPr/>
          <p:nvPr/>
        </p:nvSpPr>
        <p:spPr>
          <a:xfrm>
            <a:off x="8985352" y="3877056"/>
            <a:ext cx="2670048" cy="1874520"/>
          </a:xfrm>
          <a:prstGeom prst="roundRect">
            <a:avLst>
              <a:gd name="adj" fmla="val 4390"/>
            </a:avLst>
          </a:prstGeom>
          <a:solidFill>
            <a:srgbClr val="F3F9F5"/>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40" name="Shape 31"/>
          <p:cNvSpPr/>
          <p:nvPr/>
        </p:nvSpPr>
        <p:spPr>
          <a:xfrm>
            <a:off x="9223096" y="4133088"/>
            <a:ext cx="658368" cy="658368"/>
          </a:xfrm>
          <a:prstGeom prst="ellipse">
            <a:avLst/>
          </a:prstGeom>
          <a:solidFill>
            <a:srgbClr val="1F7A3D"/>
          </a:solidFill>
          <a:ln/>
        </p:spPr>
      </p:sp>
      <p:pic>
        <p:nvPicPr>
          <p:cNvPr id="41" name="Image 7" descr="preencoded.png">    </p:cNvPr>
          <p:cNvPicPr>
            <a:picLocks noChangeAspect="1"/>
          </p:cNvPicPr>
          <p:nvPr/>
        </p:nvPicPr>
        <p:blipFill>
          <a:blip r:embed="rId8"/>
          <a:stretch>
            <a:fillRect/>
          </a:stretch>
        </p:blipFill>
        <p:spPr>
          <a:xfrm>
            <a:off x="9396832" y="4306824"/>
            <a:ext cx="310896" cy="310896"/>
          </a:xfrm>
          <a:prstGeom prst="rect">
            <a:avLst/>
          </a:prstGeom>
        </p:spPr>
      </p:pic>
      <p:sp>
        <p:nvSpPr>
          <p:cNvPr id="42" name="Text 32"/>
          <p:cNvSpPr/>
          <p:nvPr/>
        </p:nvSpPr>
        <p:spPr>
          <a:xfrm>
            <a:off x="9223096" y="4901184"/>
            <a:ext cx="2304288" cy="310896"/>
          </a:xfrm>
          <a:prstGeom prst="rect">
            <a:avLst/>
          </a:prstGeom>
          <a:noFill/>
          <a:ln/>
        </p:spPr>
        <p:txBody>
          <a:bodyPr wrap="square" lIns="0" tIns="0" rIns="0" bIns="0" rtlCol="0" anchor="ctr"/>
          <a:lstStyle/>
          <a:p>
            <a:pPr indent="0" marL="0">
              <a:buNone/>
            </a:pPr>
            <a:r>
              <a:rPr lang="en-US" sz="1350" b="1" dirty="0">
                <a:solidFill>
                  <a:srgbClr val="1F2937"/>
                </a:solidFill>
                <a:latin typeface="Calibri" pitchFamily="34" charset="0"/>
                <a:ea typeface="Calibri" pitchFamily="34" charset="-122"/>
                <a:cs typeface="Calibri" pitchFamily="34" charset="-120"/>
              </a:rPr>
              <a:t>Secrets &amp; CORS</a:t>
            </a:r>
            <a:endParaRPr lang="en-US" sz="1350" dirty="0"/>
          </a:p>
        </p:txBody>
      </p:sp>
      <p:sp>
        <p:nvSpPr>
          <p:cNvPr id="43" name="Text 33"/>
          <p:cNvSpPr/>
          <p:nvPr/>
        </p:nvSpPr>
        <p:spPr>
          <a:xfrm>
            <a:off x="9223096" y="5212080"/>
            <a:ext cx="2304288" cy="457200"/>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Env-only secrets, strict origin allowlist.</a:t>
            </a:r>
            <a:endParaRPr lang="en-US" sz="1050" dirty="0"/>
          </a:p>
        </p:txBody>
      </p:sp>
      <p:sp>
        <p:nvSpPr>
          <p:cNvPr id="44" name="Text 34"/>
          <p:cNvSpPr/>
          <p:nvPr/>
        </p:nvSpPr>
        <p:spPr>
          <a:xfrm>
            <a:off x="548640" y="6510528"/>
            <a:ext cx="54864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Digital Gram Panchayat  ·  v1.0.0</a:t>
            </a:r>
            <a:endParaRPr lang="en-US" sz="900" dirty="0"/>
          </a:p>
        </p:txBody>
      </p:sp>
      <p:sp>
        <p:nvSpPr>
          <p:cNvPr id="45" name="Text 35"/>
          <p:cNvSpPr/>
          <p:nvPr/>
        </p:nvSpPr>
        <p:spPr>
          <a:xfrm>
            <a:off x="11338560" y="6510528"/>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8229600" cy="274320"/>
          </a:xfrm>
          <a:prstGeom prst="rect">
            <a:avLst/>
          </a:prstGeom>
          <a:noFill/>
          <a:ln/>
        </p:spPr>
        <p:txBody>
          <a:bodyPr wrap="square" lIns="0" tIns="0" rIns="0" bIns="0" rtlCol="0" anchor="ctr"/>
          <a:lstStyle/>
          <a:p>
            <a:pPr algn="l" indent="0" marL="0">
              <a:buNone/>
            </a:pPr>
            <a:r>
              <a:rPr lang="en-US" sz="1200" b="1" spc="300" kern="0" dirty="0">
                <a:solidFill>
                  <a:srgbClr val="1F7A3D"/>
                </a:solidFill>
                <a:latin typeface="Calibri" pitchFamily="34" charset="0"/>
                <a:ea typeface="Calibri" pitchFamily="34" charset="-122"/>
                <a:cs typeface="Calibri" pitchFamily="34" charset="-120"/>
              </a:rPr>
              <a:t>QUALITY ASSURANCE</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algn="l" indent="0" marL="0">
              <a:buNone/>
            </a:pPr>
            <a:r>
              <a:rPr lang="en-US" sz="3000" b="1" dirty="0">
                <a:solidFill>
                  <a:srgbClr val="1F2937"/>
                </a:solidFill>
                <a:latin typeface="Cambria" pitchFamily="34" charset="0"/>
                <a:ea typeface="Cambria" pitchFamily="34" charset="-122"/>
                <a:cs typeface="Cambria" pitchFamily="34" charset="-120"/>
              </a:rPr>
              <a:t>Testing &amp; Documentation</a:t>
            </a:r>
            <a:endParaRPr lang="en-US" sz="3000" dirty="0"/>
          </a:p>
        </p:txBody>
      </p:sp>
      <p:sp>
        <p:nvSpPr>
          <p:cNvPr id="4" name="Shape 2"/>
          <p:cNvSpPr/>
          <p:nvPr/>
        </p:nvSpPr>
        <p:spPr>
          <a:xfrm>
            <a:off x="566928" y="1691640"/>
            <a:ext cx="2148840" cy="1234440"/>
          </a:xfrm>
          <a:prstGeom prst="roundRect">
            <a:avLst>
              <a:gd name="adj" fmla="val 6667"/>
            </a:avLst>
          </a:prstGeom>
          <a:solidFill>
            <a:srgbClr val="1F7A3D"/>
          </a:solidFill>
          <a:ln/>
          <a:effectLst>
            <a:outerShdw sx="100000" sy="100000" kx="0" ky="0" algn="bl" rotWithShape="0" blurRad="101600" dist="38100" dir="5400000">
              <a:srgbClr val="9DB4A6">
                <a:alpha val="35000"/>
              </a:srgbClr>
            </a:outerShdw>
          </a:effectLst>
        </p:spPr>
      </p:sp>
      <p:sp>
        <p:nvSpPr>
          <p:cNvPr id="5" name="Text 3"/>
          <p:cNvSpPr/>
          <p:nvPr/>
        </p:nvSpPr>
        <p:spPr>
          <a:xfrm>
            <a:off x="566928" y="1783080"/>
            <a:ext cx="2148840" cy="64008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191</a:t>
            </a:r>
            <a:endParaRPr lang="en-US" sz="3400" dirty="0"/>
          </a:p>
        </p:txBody>
      </p:sp>
      <p:sp>
        <p:nvSpPr>
          <p:cNvPr id="6" name="Text 4"/>
          <p:cNvSpPr/>
          <p:nvPr/>
        </p:nvSpPr>
        <p:spPr>
          <a:xfrm>
            <a:off x="566928" y="2432304"/>
            <a:ext cx="2148840" cy="365760"/>
          </a:xfrm>
          <a:prstGeom prst="rect">
            <a:avLst/>
          </a:prstGeom>
          <a:noFill/>
          <a:ln/>
        </p:spPr>
        <p:txBody>
          <a:bodyPr wrap="square" lIns="0" tIns="0" rIns="0" bIns="0" rtlCol="0" anchor="ctr"/>
          <a:lstStyle/>
          <a:p>
            <a:pPr algn="ctr" indent="0" marL="0">
              <a:buNone/>
            </a:pPr>
            <a:r>
              <a:rPr lang="en-US" sz="1150" dirty="0">
                <a:solidFill>
                  <a:srgbClr val="D9EEE1"/>
                </a:solidFill>
                <a:latin typeface="Calibri" pitchFamily="34" charset="0"/>
                <a:ea typeface="Calibri" pitchFamily="34" charset="-122"/>
                <a:cs typeface="Calibri" pitchFamily="34" charset="-120"/>
              </a:rPr>
              <a:t>Automated tests</a:t>
            </a:r>
            <a:endParaRPr lang="en-US" sz="1150" dirty="0"/>
          </a:p>
        </p:txBody>
      </p:sp>
      <p:sp>
        <p:nvSpPr>
          <p:cNvPr id="7" name="Shape 5"/>
          <p:cNvSpPr/>
          <p:nvPr/>
        </p:nvSpPr>
        <p:spPr>
          <a:xfrm>
            <a:off x="2852928" y="1691640"/>
            <a:ext cx="2148840" cy="1234440"/>
          </a:xfrm>
          <a:prstGeom prst="roundRect">
            <a:avLst>
              <a:gd name="adj" fmla="val 6667"/>
            </a:avLst>
          </a:prstGeom>
          <a:solidFill>
            <a:srgbClr val="1F7A3D"/>
          </a:solidFill>
          <a:ln/>
          <a:effectLst>
            <a:outerShdw sx="100000" sy="100000" kx="0" ky="0" algn="bl" rotWithShape="0" blurRad="101600" dist="38100" dir="5400000">
              <a:srgbClr val="9DB4A6">
                <a:alpha val="35000"/>
              </a:srgbClr>
            </a:outerShdw>
          </a:effectLst>
        </p:spPr>
      </p:sp>
      <p:sp>
        <p:nvSpPr>
          <p:cNvPr id="8" name="Text 6"/>
          <p:cNvSpPr/>
          <p:nvPr/>
        </p:nvSpPr>
        <p:spPr>
          <a:xfrm>
            <a:off x="2852928" y="1783080"/>
            <a:ext cx="2148840" cy="64008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85%+</a:t>
            </a:r>
            <a:endParaRPr lang="en-US" sz="3400" dirty="0"/>
          </a:p>
        </p:txBody>
      </p:sp>
      <p:sp>
        <p:nvSpPr>
          <p:cNvPr id="9" name="Text 7"/>
          <p:cNvSpPr/>
          <p:nvPr/>
        </p:nvSpPr>
        <p:spPr>
          <a:xfrm>
            <a:off x="2852928" y="2432304"/>
            <a:ext cx="2148840" cy="365760"/>
          </a:xfrm>
          <a:prstGeom prst="rect">
            <a:avLst/>
          </a:prstGeom>
          <a:noFill/>
          <a:ln/>
        </p:spPr>
        <p:txBody>
          <a:bodyPr wrap="square" lIns="0" tIns="0" rIns="0" bIns="0" rtlCol="0" anchor="ctr"/>
          <a:lstStyle/>
          <a:p>
            <a:pPr algn="ctr" indent="0" marL="0">
              <a:buNone/>
            </a:pPr>
            <a:r>
              <a:rPr lang="en-US" sz="1150" dirty="0">
                <a:solidFill>
                  <a:srgbClr val="D9EEE1"/>
                </a:solidFill>
                <a:latin typeface="Calibri" pitchFamily="34" charset="0"/>
                <a:ea typeface="Calibri" pitchFamily="34" charset="-122"/>
                <a:cs typeface="Calibri" pitchFamily="34" charset="-120"/>
              </a:rPr>
              <a:t>Backend coverage</a:t>
            </a:r>
            <a:endParaRPr lang="en-US" sz="1150" dirty="0"/>
          </a:p>
        </p:txBody>
      </p:sp>
      <p:sp>
        <p:nvSpPr>
          <p:cNvPr id="10" name="Shape 8"/>
          <p:cNvSpPr/>
          <p:nvPr/>
        </p:nvSpPr>
        <p:spPr>
          <a:xfrm>
            <a:off x="5138928" y="1691640"/>
            <a:ext cx="2148840" cy="1234440"/>
          </a:xfrm>
          <a:prstGeom prst="roundRect">
            <a:avLst>
              <a:gd name="adj" fmla="val 6667"/>
            </a:avLst>
          </a:prstGeom>
          <a:solidFill>
            <a:srgbClr val="1F7A3D"/>
          </a:solidFill>
          <a:ln/>
          <a:effectLst>
            <a:outerShdw sx="100000" sy="100000" kx="0" ky="0" algn="bl" rotWithShape="0" blurRad="101600" dist="38100" dir="5400000">
              <a:srgbClr val="9DB4A6">
                <a:alpha val="35000"/>
              </a:srgbClr>
            </a:outerShdw>
          </a:effectLst>
        </p:spPr>
      </p:sp>
      <p:sp>
        <p:nvSpPr>
          <p:cNvPr id="11" name="Text 9"/>
          <p:cNvSpPr/>
          <p:nvPr/>
        </p:nvSpPr>
        <p:spPr>
          <a:xfrm>
            <a:off x="5138928" y="1783080"/>
            <a:ext cx="2148840" cy="64008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57</a:t>
            </a:r>
            <a:endParaRPr lang="en-US" sz="3400" dirty="0"/>
          </a:p>
        </p:txBody>
      </p:sp>
      <p:sp>
        <p:nvSpPr>
          <p:cNvPr id="12" name="Text 10"/>
          <p:cNvSpPr/>
          <p:nvPr/>
        </p:nvSpPr>
        <p:spPr>
          <a:xfrm>
            <a:off x="5138928" y="2432304"/>
            <a:ext cx="2148840" cy="365760"/>
          </a:xfrm>
          <a:prstGeom prst="rect">
            <a:avLst/>
          </a:prstGeom>
          <a:noFill/>
          <a:ln/>
        </p:spPr>
        <p:txBody>
          <a:bodyPr wrap="square" lIns="0" tIns="0" rIns="0" bIns="0" rtlCol="0" anchor="ctr"/>
          <a:lstStyle/>
          <a:p>
            <a:pPr algn="ctr" indent="0" marL="0">
              <a:buNone/>
            </a:pPr>
            <a:r>
              <a:rPr lang="en-US" sz="1150" dirty="0">
                <a:solidFill>
                  <a:srgbClr val="D9EEE1"/>
                </a:solidFill>
                <a:latin typeface="Calibri" pitchFamily="34" charset="0"/>
                <a:ea typeface="Calibri" pitchFamily="34" charset="-122"/>
                <a:cs typeface="Calibri" pitchFamily="34" charset="-120"/>
              </a:rPr>
              <a:t>API endpoints</a:t>
            </a:r>
            <a:endParaRPr lang="en-US" sz="1150" dirty="0"/>
          </a:p>
        </p:txBody>
      </p:sp>
      <p:sp>
        <p:nvSpPr>
          <p:cNvPr id="13" name="Shape 11"/>
          <p:cNvSpPr/>
          <p:nvPr/>
        </p:nvSpPr>
        <p:spPr>
          <a:xfrm>
            <a:off x="566928" y="3108960"/>
            <a:ext cx="6720840" cy="3063240"/>
          </a:xfrm>
          <a:prstGeom prst="roundRect">
            <a:avLst>
              <a:gd name="adj" fmla="val 2985"/>
            </a:avLst>
          </a:prstGeom>
          <a:solidFill>
            <a:srgbClr val="FFFFFF"/>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14" name="Text 12"/>
          <p:cNvSpPr/>
          <p:nvPr/>
        </p:nvSpPr>
        <p:spPr>
          <a:xfrm>
            <a:off x="777240" y="3246120"/>
            <a:ext cx="5486400" cy="320040"/>
          </a:xfrm>
          <a:prstGeom prst="rect">
            <a:avLst/>
          </a:prstGeom>
          <a:noFill/>
          <a:ln/>
        </p:spPr>
        <p:txBody>
          <a:bodyPr wrap="square" lIns="0" tIns="0" rIns="0" bIns="0" rtlCol="0" anchor="ctr"/>
          <a:lstStyle/>
          <a:p>
            <a:pPr indent="0" marL="0">
              <a:buNone/>
            </a:pPr>
            <a:r>
              <a:rPr lang="en-US" sz="1350" b="1" dirty="0">
                <a:solidFill>
                  <a:srgbClr val="1F2937"/>
                </a:solidFill>
                <a:latin typeface="Calibri" pitchFamily="34" charset="0"/>
                <a:ea typeface="Calibri" pitchFamily="34" charset="-122"/>
                <a:cs typeface="Calibri" pitchFamily="34" charset="-120"/>
              </a:rPr>
              <a:t>Test distribution</a:t>
            </a:r>
            <a:endParaRPr lang="en-US" sz="1350" dirty="0"/>
          </a:p>
        </p:txBody>
      </p:sp>
      <p:graphicFrame>
        <p:nvGraphicFramePr>
          <p:cNvPr id="15" name="Chart 0" descr=""/>
          <p:cNvGraphicFramePr/>
          <p:nvPr/>
        </p:nvGraphicFramePr>
        <p:xfrm>
          <a:off x="640080" y="3611880"/>
          <a:ext cx="6583680" cy="2468880"/>
        </p:xfrm>
        <a:graphic xmlns:a="http://schemas.openxmlformats.org/drawingml/2006/main">
          <a:graphicData uri="http://schemas.openxmlformats.org/drawingml/2006/chart">
            <c:chart xmlns:c="http://schemas.openxmlformats.org/drawingml/2006/chart" r:id="rId1"/>
          </a:graphicData>
        </a:graphic>
      </p:graphicFrame>
      <p:sp>
        <p:nvSpPr>
          <p:cNvPr id="16" name="Shape 13"/>
          <p:cNvSpPr/>
          <p:nvPr/>
        </p:nvSpPr>
        <p:spPr>
          <a:xfrm>
            <a:off x="7543800" y="1691640"/>
            <a:ext cx="4069080" cy="4480560"/>
          </a:xfrm>
          <a:prstGeom prst="roundRect">
            <a:avLst>
              <a:gd name="adj" fmla="val 2247"/>
            </a:avLst>
          </a:prstGeom>
          <a:solidFill>
            <a:srgbClr val="F3F9F5"/>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17" name="Text 14"/>
          <p:cNvSpPr/>
          <p:nvPr/>
        </p:nvSpPr>
        <p:spPr>
          <a:xfrm>
            <a:off x="7772400" y="1874520"/>
            <a:ext cx="3657600" cy="365760"/>
          </a:xfrm>
          <a:prstGeom prst="rect">
            <a:avLst/>
          </a:prstGeom>
          <a:noFill/>
          <a:ln/>
        </p:spPr>
        <p:txBody>
          <a:bodyPr wrap="square" lIns="0" tIns="0" rIns="0" bIns="0" rtlCol="0" anchor="ctr"/>
          <a:lstStyle/>
          <a:p>
            <a:pPr indent="0" marL="0">
              <a:buNone/>
            </a:pPr>
            <a:r>
              <a:rPr lang="en-US" sz="1600" b="1" dirty="0">
                <a:solidFill>
                  <a:srgbClr val="1F7A3D"/>
                </a:solidFill>
                <a:latin typeface="Cambria" pitchFamily="34" charset="0"/>
                <a:ea typeface="Cambria" pitchFamily="34" charset="-122"/>
                <a:cs typeface="Cambria" pitchFamily="34" charset="-120"/>
              </a:rPr>
              <a:t>Documentation &amp; tooling</a:t>
            </a:r>
            <a:endParaRPr lang="en-US" sz="1600" dirty="0"/>
          </a:p>
        </p:txBody>
      </p:sp>
      <p:sp>
        <p:nvSpPr>
          <p:cNvPr id="18" name="Shape 15"/>
          <p:cNvSpPr/>
          <p:nvPr/>
        </p:nvSpPr>
        <p:spPr>
          <a:xfrm>
            <a:off x="7772400" y="2377440"/>
            <a:ext cx="457200" cy="457200"/>
          </a:xfrm>
          <a:prstGeom prst="ellipse">
            <a:avLst/>
          </a:prstGeom>
          <a:solidFill>
            <a:srgbClr val="1F7A3D"/>
          </a:solidFill>
          <a:ln/>
        </p:spPr>
      </p:sp>
      <p:pic>
        <p:nvPicPr>
          <p:cNvPr id="19" name="Image 0" descr="preencoded.png">    </p:cNvPr>
          <p:cNvPicPr>
            <a:picLocks noChangeAspect="1"/>
          </p:cNvPicPr>
          <p:nvPr/>
        </p:nvPicPr>
        <p:blipFill>
          <a:blip r:embed="rId2"/>
          <a:stretch>
            <a:fillRect/>
          </a:stretch>
        </p:blipFill>
        <p:spPr>
          <a:xfrm>
            <a:off x="7891272" y="2496312"/>
            <a:ext cx="219456" cy="219456"/>
          </a:xfrm>
          <a:prstGeom prst="rect">
            <a:avLst/>
          </a:prstGeom>
        </p:spPr>
      </p:pic>
      <p:sp>
        <p:nvSpPr>
          <p:cNvPr id="20" name="Text 16"/>
          <p:cNvSpPr/>
          <p:nvPr/>
        </p:nvSpPr>
        <p:spPr>
          <a:xfrm>
            <a:off x="8366760" y="2377440"/>
            <a:ext cx="3108960" cy="457200"/>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Jest + Vitest test suites</a:t>
            </a:r>
            <a:endParaRPr lang="en-US" sz="1250" dirty="0"/>
          </a:p>
        </p:txBody>
      </p:sp>
      <p:sp>
        <p:nvSpPr>
          <p:cNvPr id="21" name="Shape 17"/>
          <p:cNvSpPr/>
          <p:nvPr/>
        </p:nvSpPr>
        <p:spPr>
          <a:xfrm>
            <a:off x="7772400" y="2999232"/>
            <a:ext cx="457200" cy="457200"/>
          </a:xfrm>
          <a:prstGeom prst="ellipse">
            <a:avLst/>
          </a:prstGeom>
          <a:solidFill>
            <a:srgbClr val="1F7A3D"/>
          </a:solidFill>
          <a:ln/>
        </p:spPr>
      </p:sp>
      <p:pic>
        <p:nvPicPr>
          <p:cNvPr id="22" name="Image 1" descr="preencoded.png">    </p:cNvPr>
          <p:cNvPicPr>
            <a:picLocks noChangeAspect="1"/>
          </p:cNvPicPr>
          <p:nvPr/>
        </p:nvPicPr>
        <p:blipFill>
          <a:blip r:embed="rId3"/>
          <a:stretch>
            <a:fillRect/>
          </a:stretch>
        </p:blipFill>
        <p:spPr>
          <a:xfrm>
            <a:off x="7891272" y="3118104"/>
            <a:ext cx="219456" cy="219456"/>
          </a:xfrm>
          <a:prstGeom prst="rect">
            <a:avLst/>
          </a:prstGeom>
        </p:spPr>
      </p:pic>
      <p:sp>
        <p:nvSpPr>
          <p:cNvPr id="23" name="Text 18"/>
          <p:cNvSpPr/>
          <p:nvPr/>
        </p:nvSpPr>
        <p:spPr>
          <a:xfrm>
            <a:off x="8366760" y="2999232"/>
            <a:ext cx="3108960" cy="457200"/>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Playwright end-to-end journeys</a:t>
            </a:r>
            <a:endParaRPr lang="en-US" sz="1250" dirty="0"/>
          </a:p>
        </p:txBody>
      </p:sp>
      <p:sp>
        <p:nvSpPr>
          <p:cNvPr id="24" name="Shape 19"/>
          <p:cNvSpPr/>
          <p:nvPr/>
        </p:nvSpPr>
        <p:spPr>
          <a:xfrm>
            <a:off x="7772400" y="3621024"/>
            <a:ext cx="457200" cy="457200"/>
          </a:xfrm>
          <a:prstGeom prst="ellipse">
            <a:avLst/>
          </a:prstGeom>
          <a:solidFill>
            <a:srgbClr val="1F7A3D"/>
          </a:solidFill>
          <a:ln/>
        </p:spPr>
      </p:sp>
      <p:pic>
        <p:nvPicPr>
          <p:cNvPr id="25" name="Image 2" descr="preencoded.png">    </p:cNvPr>
          <p:cNvPicPr>
            <a:picLocks noChangeAspect="1"/>
          </p:cNvPicPr>
          <p:nvPr/>
        </p:nvPicPr>
        <p:blipFill>
          <a:blip r:embed="rId4"/>
          <a:stretch>
            <a:fillRect/>
          </a:stretch>
        </p:blipFill>
        <p:spPr>
          <a:xfrm>
            <a:off x="7891272" y="3739896"/>
            <a:ext cx="219456" cy="219456"/>
          </a:xfrm>
          <a:prstGeom prst="rect">
            <a:avLst/>
          </a:prstGeom>
        </p:spPr>
      </p:pic>
      <p:sp>
        <p:nvSpPr>
          <p:cNvPr id="26" name="Text 20"/>
          <p:cNvSpPr/>
          <p:nvPr/>
        </p:nvSpPr>
        <p:spPr>
          <a:xfrm>
            <a:off x="8366760" y="3621024"/>
            <a:ext cx="3108960" cy="457200"/>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OpenAPI 3.1 specification</a:t>
            </a:r>
            <a:endParaRPr lang="en-US" sz="1250" dirty="0"/>
          </a:p>
        </p:txBody>
      </p:sp>
      <p:sp>
        <p:nvSpPr>
          <p:cNvPr id="27" name="Shape 21"/>
          <p:cNvSpPr/>
          <p:nvPr/>
        </p:nvSpPr>
        <p:spPr>
          <a:xfrm>
            <a:off x="7772400" y="4242816"/>
            <a:ext cx="457200" cy="457200"/>
          </a:xfrm>
          <a:prstGeom prst="ellipse">
            <a:avLst/>
          </a:prstGeom>
          <a:solidFill>
            <a:srgbClr val="1F7A3D"/>
          </a:solidFill>
          <a:ln/>
        </p:spPr>
      </p:sp>
      <p:pic>
        <p:nvPicPr>
          <p:cNvPr id="28" name="Image 3" descr="preencoded.png">    </p:cNvPr>
          <p:cNvPicPr>
            <a:picLocks noChangeAspect="1"/>
          </p:cNvPicPr>
          <p:nvPr/>
        </p:nvPicPr>
        <p:blipFill>
          <a:blip r:embed="rId5"/>
          <a:stretch>
            <a:fillRect/>
          </a:stretch>
        </p:blipFill>
        <p:spPr>
          <a:xfrm>
            <a:off x="7891272" y="4361688"/>
            <a:ext cx="219456" cy="219456"/>
          </a:xfrm>
          <a:prstGeom prst="rect">
            <a:avLst/>
          </a:prstGeom>
        </p:spPr>
      </p:pic>
      <p:sp>
        <p:nvSpPr>
          <p:cNvPr id="29" name="Text 22"/>
          <p:cNvSpPr/>
          <p:nvPr/>
        </p:nvSpPr>
        <p:spPr>
          <a:xfrm>
            <a:off x="8366760" y="4242816"/>
            <a:ext cx="3108960" cy="457200"/>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Postman collection (65 requests)</a:t>
            </a:r>
            <a:endParaRPr lang="en-US" sz="1250" dirty="0"/>
          </a:p>
        </p:txBody>
      </p:sp>
      <p:sp>
        <p:nvSpPr>
          <p:cNvPr id="30" name="Shape 23"/>
          <p:cNvSpPr/>
          <p:nvPr/>
        </p:nvSpPr>
        <p:spPr>
          <a:xfrm>
            <a:off x="7772400" y="4864608"/>
            <a:ext cx="457200" cy="457200"/>
          </a:xfrm>
          <a:prstGeom prst="ellipse">
            <a:avLst/>
          </a:prstGeom>
          <a:solidFill>
            <a:srgbClr val="1F7A3D"/>
          </a:solidFill>
          <a:ln/>
        </p:spPr>
      </p:sp>
      <p:pic>
        <p:nvPicPr>
          <p:cNvPr id="31" name="Image 4" descr="preencoded.png">    </p:cNvPr>
          <p:cNvPicPr>
            <a:picLocks noChangeAspect="1"/>
          </p:cNvPicPr>
          <p:nvPr/>
        </p:nvPicPr>
        <p:blipFill>
          <a:blip r:embed="rId6"/>
          <a:stretch>
            <a:fillRect/>
          </a:stretch>
        </p:blipFill>
        <p:spPr>
          <a:xfrm>
            <a:off x="7891272" y="4983480"/>
            <a:ext cx="219456" cy="219456"/>
          </a:xfrm>
          <a:prstGeom prst="rect">
            <a:avLst/>
          </a:prstGeom>
        </p:spPr>
      </p:pic>
      <p:sp>
        <p:nvSpPr>
          <p:cNvPr id="32" name="Text 24"/>
          <p:cNvSpPr/>
          <p:nvPr/>
        </p:nvSpPr>
        <p:spPr>
          <a:xfrm>
            <a:off x="8366760" y="4864608"/>
            <a:ext cx="3108960" cy="457200"/>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Nine UML diagrams</a:t>
            </a:r>
            <a:endParaRPr lang="en-US" sz="1250" dirty="0"/>
          </a:p>
        </p:txBody>
      </p:sp>
      <p:sp>
        <p:nvSpPr>
          <p:cNvPr id="33" name="Shape 25"/>
          <p:cNvSpPr/>
          <p:nvPr/>
        </p:nvSpPr>
        <p:spPr>
          <a:xfrm>
            <a:off x="7772400" y="5486400"/>
            <a:ext cx="457200" cy="457200"/>
          </a:xfrm>
          <a:prstGeom prst="ellipse">
            <a:avLst/>
          </a:prstGeom>
          <a:solidFill>
            <a:srgbClr val="1F7A3D"/>
          </a:solidFill>
          <a:ln/>
        </p:spPr>
      </p:sp>
      <p:pic>
        <p:nvPicPr>
          <p:cNvPr id="34" name="Image 5" descr="preencoded.png">    </p:cNvPr>
          <p:cNvPicPr>
            <a:picLocks noChangeAspect="1"/>
          </p:cNvPicPr>
          <p:nvPr/>
        </p:nvPicPr>
        <p:blipFill>
          <a:blip r:embed="rId7"/>
          <a:stretch>
            <a:fillRect/>
          </a:stretch>
        </p:blipFill>
        <p:spPr>
          <a:xfrm>
            <a:off x="7891272" y="5605272"/>
            <a:ext cx="219456" cy="219456"/>
          </a:xfrm>
          <a:prstGeom prst="rect">
            <a:avLst/>
          </a:prstGeom>
        </p:spPr>
      </p:pic>
      <p:sp>
        <p:nvSpPr>
          <p:cNvPr id="35" name="Text 26"/>
          <p:cNvSpPr/>
          <p:nvPr/>
        </p:nvSpPr>
        <p:spPr>
          <a:xfrm>
            <a:off x="8366760" y="5486400"/>
            <a:ext cx="3108960" cy="457200"/>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Guides, manuals &amp; runbooks</a:t>
            </a:r>
            <a:endParaRPr lang="en-US" sz="1250" dirty="0"/>
          </a:p>
        </p:txBody>
      </p:sp>
      <p:sp>
        <p:nvSpPr>
          <p:cNvPr id="36" name="Text 27"/>
          <p:cNvSpPr/>
          <p:nvPr/>
        </p:nvSpPr>
        <p:spPr>
          <a:xfrm>
            <a:off x="548640" y="6510528"/>
            <a:ext cx="54864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Digital Gram Panchayat  ·  v1.0.0</a:t>
            </a:r>
            <a:endParaRPr lang="en-US" sz="900" dirty="0"/>
          </a:p>
        </p:txBody>
      </p:sp>
      <p:sp>
        <p:nvSpPr>
          <p:cNvPr id="37" name="Text 28"/>
          <p:cNvSpPr/>
          <p:nvPr/>
        </p:nvSpPr>
        <p:spPr>
          <a:xfrm>
            <a:off x="11338560" y="6510528"/>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8229600" cy="274320"/>
          </a:xfrm>
          <a:prstGeom prst="rect">
            <a:avLst/>
          </a:prstGeom>
          <a:noFill/>
          <a:ln/>
        </p:spPr>
        <p:txBody>
          <a:bodyPr wrap="square" lIns="0" tIns="0" rIns="0" bIns="0" rtlCol="0" anchor="ctr"/>
          <a:lstStyle/>
          <a:p>
            <a:pPr algn="l" indent="0" marL="0">
              <a:buNone/>
            </a:pPr>
            <a:r>
              <a:rPr lang="en-US" sz="1200" b="1" spc="300" kern="0" dirty="0">
                <a:solidFill>
                  <a:srgbClr val="1F7A3D"/>
                </a:solidFill>
                <a:latin typeface="Calibri" pitchFamily="34" charset="0"/>
                <a:ea typeface="Calibri" pitchFamily="34" charset="-122"/>
                <a:cs typeface="Calibri" pitchFamily="34" charset="-120"/>
              </a:rPr>
              <a:t>LIVE &amp; PRODUCTION-READY</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algn="l" indent="0" marL="0">
              <a:buNone/>
            </a:pPr>
            <a:r>
              <a:rPr lang="en-US" sz="3000" b="1" dirty="0">
                <a:solidFill>
                  <a:srgbClr val="1F2937"/>
                </a:solidFill>
                <a:latin typeface="Cambria" pitchFamily="34" charset="0"/>
                <a:ea typeface="Cambria" pitchFamily="34" charset="-122"/>
                <a:cs typeface="Cambria" pitchFamily="34" charset="-120"/>
              </a:rPr>
              <a:t>Deployment Architecture</a:t>
            </a:r>
            <a:endParaRPr lang="en-US" sz="3000" dirty="0"/>
          </a:p>
        </p:txBody>
      </p:sp>
      <p:sp>
        <p:nvSpPr>
          <p:cNvPr id="4" name="Shape 2"/>
          <p:cNvSpPr/>
          <p:nvPr/>
        </p:nvSpPr>
        <p:spPr>
          <a:xfrm>
            <a:off x="640080" y="2834640"/>
            <a:ext cx="2148840" cy="1417320"/>
          </a:xfrm>
          <a:prstGeom prst="roundRect">
            <a:avLst>
              <a:gd name="adj" fmla="val 5806"/>
            </a:avLst>
          </a:prstGeom>
          <a:solidFill>
            <a:srgbClr val="F3F9F5"/>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5" name="Shape 3"/>
          <p:cNvSpPr/>
          <p:nvPr/>
        </p:nvSpPr>
        <p:spPr>
          <a:xfrm>
            <a:off x="1348740" y="3017520"/>
            <a:ext cx="731520" cy="731520"/>
          </a:xfrm>
          <a:prstGeom prst="ellipse">
            <a:avLst/>
          </a:prstGeom>
          <a:solidFill>
            <a:srgbClr val="1F7A3D"/>
          </a:solidFill>
          <a:ln/>
        </p:spPr>
      </p:sp>
      <p:pic>
        <p:nvPicPr>
          <p:cNvPr id="6" name="Image 0" descr="preencoded.png">    </p:cNvPr>
          <p:cNvPicPr>
            <a:picLocks noChangeAspect="1"/>
          </p:cNvPicPr>
          <p:nvPr/>
        </p:nvPicPr>
        <p:blipFill>
          <a:blip r:embed="rId1"/>
          <a:stretch>
            <a:fillRect/>
          </a:stretch>
        </p:blipFill>
        <p:spPr>
          <a:xfrm>
            <a:off x="1549908" y="3218688"/>
            <a:ext cx="329184" cy="329184"/>
          </a:xfrm>
          <a:prstGeom prst="rect">
            <a:avLst/>
          </a:prstGeom>
        </p:spPr>
      </p:pic>
      <p:sp>
        <p:nvSpPr>
          <p:cNvPr id="7" name="Text 4"/>
          <p:cNvSpPr/>
          <p:nvPr/>
        </p:nvSpPr>
        <p:spPr>
          <a:xfrm>
            <a:off x="548640" y="3749040"/>
            <a:ext cx="2331720" cy="457200"/>
          </a:xfrm>
          <a:prstGeom prst="rect">
            <a:avLst/>
          </a:prstGeom>
          <a:noFill/>
          <a:ln/>
        </p:spPr>
        <p:txBody>
          <a:bodyPr wrap="square" lIns="0" tIns="0" rIns="0" bIns="0" rtlCol="0" anchor="t"/>
          <a:lstStyle/>
          <a:p>
            <a:pPr algn="ctr" indent="0" marL="0">
              <a:buNone/>
            </a:pPr>
            <a:r>
              <a:rPr lang="en-US" sz="1250" b="1" dirty="0">
                <a:solidFill>
                  <a:srgbClr val="1F2937"/>
                </a:solidFill>
                <a:latin typeface="Calibri" pitchFamily="34" charset="0"/>
                <a:ea typeface="Calibri" pitchFamily="34" charset="-122"/>
                <a:cs typeface="Calibri" pitchFamily="34" charset="-120"/>
              </a:rPr>
              <a:t>Citizens</a:t>
            </a:r>
            <a:endParaRPr lang="en-US" sz="1250" dirty="0"/>
          </a:p>
          <a:p>
            <a:pPr algn="ctr" indent="0" marL="0">
              <a:buNone/>
            </a:pPr>
            <a:r>
              <a:rPr lang="en-US" sz="1250" b="1" dirty="0">
                <a:solidFill>
                  <a:srgbClr val="1F2937"/>
                </a:solidFill>
                <a:latin typeface="Calibri" pitchFamily="34" charset="0"/>
                <a:ea typeface="Calibri" pitchFamily="34" charset="-122"/>
                <a:cs typeface="Calibri" pitchFamily="34" charset="-120"/>
              </a:rPr>
              <a:t>&amp; Officers</a:t>
            </a:r>
            <a:endParaRPr lang="en-US" sz="1250" dirty="0"/>
          </a:p>
        </p:txBody>
      </p:sp>
      <p:sp>
        <p:nvSpPr>
          <p:cNvPr id="8" name="Shape 5"/>
          <p:cNvSpPr/>
          <p:nvPr/>
        </p:nvSpPr>
        <p:spPr>
          <a:xfrm>
            <a:off x="3246120" y="2834640"/>
            <a:ext cx="2148840" cy="1417320"/>
          </a:xfrm>
          <a:prstGeom prst="roundRect">
            <a:avLst>
              <a:gd name="adj" fmla="val 5806"/>
            </a:avLst>
          </a:prstGeom>
          <a:solidFill>
            <a:srgbClr val="F3F9F5"/>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9" name="Shape 6"/>
          <p:cNvSpPr/>
          <p:nvPr/>
        </p:nvSpPr>
        <p:spPr>
          <a:xfrm>
            <a:off x="3954780" y="3017520"/>
            <a:ext cx="731520" cy="731520"/>
          </a:xfrm>
          <a:prstGeom prst="ellipse">
            <a:avLst/>
          </a:prstGeom>
          <a:solidFill>
            <a:srgbClr val="123D22"/>
          </a:solidFill>
          <a:ln/>
        </p:spPr>
      </p:sp>
      <p:pic>
        <p:nvPicPr>
          <p:cNvPr id="10" name="Image 1" descr="preencoded.png">    </p:cNvPr>
          <p:cNvPicPr>
            <a:picLocks noChangeAspect="1"/>
          </p:cNvPicPr>
          <p:nvPr/>
        </p:nvPicPr>
        <p:blipFill>
          <a:blip r:embed="rId2"/>
          <a:stretch>
            <a:fillRect/>
          </a:stretch>
        </p:blipFill>
        <p:spPr>
          <a:xfrm>
            <a:off x="4155948" y="3218688"/>
            <a:ext cx="329184" cy="329184"/>
          </a:xfrm>
          <a:prstGeom prst="rect">
            <a:avLst/>
          </a:prstGeom>
        </p:spPr>
      </p:pic>
      <p:sp>
        <p:nvSpPr>
          <p:cNvPr id="11" name="Text 7"/>
          <p:cNvSpPr/>
          <p:nvPr/>
        </p:nvSpPr>
        <p:spPr>
          <a:xfrm>
            <a:off x="3154680" y="3749040"/>
            <a:ext cx="2331720" cy="457200"/>
          </a:xfrm>
          <a:prstGeom prst="rect">
            <a:avLst/>
          </a:prstGeom>
          <a:noFill/>
          <a:ln/>
        </p:spPr>
        <p:txBody>
          <a:bodyPr wrap="square" lIns="0" tIns="0" rIns="0" bIns="0" rtlCol="0" anchor="t"/>
          <a:lstStyle/>
          <a:p>
            <a:pPr algn="ctr" indent="0" marL="0">
              <a:buNone/>
            </a:pPr>
            <a:r>
              <a:rPr lang="en-US" sz="1250" b="1" dirty="0">
                <a:solidFill>
                  <a:srgbClr val="1F2937"/>
                </a:solidFill>
                <a:latin typeface="Calibri" pitchFamily="34" charset="0"/>
                <a:ea typeface="Calibri" pitchFamily="34" charset="-122"/>
                <a:cs typeface="Calibri" pitchFamily="34" charset="-120"/>
              </a:rPr>
              <a:t>Vercel</a:t>
            </a:r>
            <a:endParaRPr lang="en-US" sz="1250" dirty="0"/>
          </a:p>
          <a:p>
            <a:pPr algn="ctr" indent="0" marL="0">
              <a:buNone/>
            </a:pPr>
            <a:r>
              <a:rPr lang="en-US" sz="1250" b="1" dirty="0">
                <a:solidFill>
                  <a:srgbClr val="1F2937"/>
                </a:solidFill>
                <a:latin typeface="Calibri" pitchFamily="34" charset="0"/>
                <a:ea typeface="Calibri" pitchFamily="34" charset="-122"/>
                <a:cs typeface="Calibri" pitchFamily="34" charset="-120"/>
              </a:rPr>
              <a:t>(PWA + Admin)</a:t>
            </a:r>
            <a:endParaRPr lang="en-US" sz="1250" dirty="0"/>
          </a:p>
        </p:txBody>
      </p:sp>
      <p:sp>
        <p:nvSpPr>
          <p:cNvPr id="12" name="Shape 8"/>
          <p:cNvSpPr/>
          <p:nvPr/>
        </p:nvSpPr>
        <p:spPr>
          <a:xfrm>
            <a:off x="5852160" y="2834640"/>
            <a:ext cx="2148840" cy="1417320"/>
          </a:xfrm>
          <a:prstGeom prst="roundRect">
            <a:avLst>
              <a:gd name="adj" fmla="val 5806"/>
            </a:avLst>
          </a:prstGeom>
          <a:solidFill>
            <a:srgbClr val="F3F9F5"/>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13" name="Shape 9"/>
          <p:cNvSpPr/>
          <p:nvPr/>
        </p:nvSpPr>
        <p:spPr>
          <a:xfrm>
            <a:off x="6560820" y="3017520"/>
            <a:ext cx="731520" cy="731520"/>
          </a:xfrm>
          <a:prstGeom prst="ellipse">
            <a:avLst/>
          </a:prstGeom>
          <a:solidFill>
            <a:srgbClr val="2E9E5B"/>
          </a:solidFill>
          <a:ln/>
        </p:spPr>
      </p:sp>
      <p:pic>
        <p:nvPicPr>
          <p:cNvPr id="14" name="Image 2" descr="preencoded.png">    </p:cNvPr>
          <p:cNvPicPr>
            <a:picLocks noChangeAspect="1"/>
          </p:cNvPicPr>
          <p:nvPr/>
        </p:nvPicPr>
        <p:blipFill>
          <a:blip r:embed="rId3"/>
          <a:stretch>
            <a:fillRect/>
          </a:stretch>
        </p:blipFill>
        <p:spPr>
          <a:xfrm>
            <a:off x="6761988" y="3218688"/>
            <a:ext cx="329184" cy="329184"/>
          </a:xfrm>
          <a:prstGeom prst="rect">
            <a:avLst/>
          </a:prstGeom>
        </p:spPr>
      </p:pic>
      <p:sp>
        <p:nvSpPr>
          <p:cNvPr id="15" name="Text 10"/>
          <p:cNvSpPr/>
          <p:nvPr/>
        </p:nvSpPr>
        <p:spPr>
          <a:xfrm>
            <a:off x="5760720" y="3749040"/>
            <a:ext cx="2331720" cy="457200"/>
          </a:xfrm>
          <a:prstGeom prst="rect">
            <a:avLst/>
          </a:prstGeom>
          <a:noFill/>
          <a:ln/>
        </p:spPr>
        <p:txBody>
          <a:bodyPr wrap="square" lIns="0" tIns="0" rIns="0" bIns="0" rtlCol="0" anchor="t"/>
          <a:lstStyle/>
          <a:p>
            <a:pPr algn="ctr" indent="0" marL="0">
              <a:buNone/>
            </a:pPr>
            <a:r>
              <a:rPr lang="en-US" sz="1250" b="1" dirty="0">
                <a:solidFill>
                  <a:srgbClr val="1F2937"/>
                </a:solidFill>
                <a:latin typeface="Calibri" pitchFamily="34" charset="0"/>
                <a:ea typeface="Calibri" pitchFamily="34" charset="-122"/>
                <a:cs typeface="Calibri" pitchFamily="34" charset="-120"/>
              </a:rPr>
              <a:t>Render</a:t>
            </a:r>
            <a:endParaRPr lang="en-US" sz="1250" dirty="0"/>
          </a:p>
          <a:p>
            <a:pPr algn="ctr" indent="0" marL="0">
              <a:buNone/>
            </a:pPr>
            <a:r>
              <a:rPr lang="en-US" sz="1250" b="1" dirty="0">
                <a:solidFill>
                  <a:srgbClr val="1F2937"/>
                </a:solidFill>
                <a:latin typeface="Calibri" pitchFamily="34" charset="0"/>
                <a:ea typeface="Calibri" pitchFamily="34" charset="-122"/>
                <a:cs typeface="Calibri" pitchFamily="34" charset="-120"/>
              </a:rPr>
              <a:t>(API)</a:t>
            </a:r>
            <a:endParaRPr lang="en-US" sz="1250" dirty="0"/>
          </a:p>
        </p:txBody>
      </p:sp>
      <p:sp>
        <p:nvSpPr>
          <p:cNvPr id="16" name="Shape 11"/>
          <p:cNvSpPr/>
          <p:nvPr/>
        </p:nvSpPr>
        <p:spPr>
          <a:xfrm>
            <a:off x="8458200" y="1965960"/>
            <a:ext cx="2148840" cy="1417320"/>
          </a:xfrm>
          <a:prstGeom prst="roundRect">
            <a:avLst>
              <a:gd name="adj" fmla="val 5806"/>
            </a:avLst>
          </a:prstGeom>
          <a:solidFill>
            <a:srgbClr val="F3F9F5"/>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17" name="Shape 12"/>
          <p:cNvSpPr/>
          <p:nvPr/>
        </p:nvSpPr>
        <p:spPr>
          <a:xfrm>
            <a:off x="9166860" y="2148840"/>
            <a:ext cx="731520" cy="731520"/>
          </a:xfrm>
          <a:prstGeom prst="ellipse">
            <a:avLst/>
          </a:prstGeom>
          <a:solidFill>
            <a:srgbClr val="123D22"/>
          </a:solidFill>
          <a:ln/>
        </p:spPr>
      </p:sp>
      <p:pic>
        <p:nvPicPr>
          <p:cNvPr id="18" name="Image 3" descr="preencoded.png">    </p:cNvPr>
          <p:cNvPicPr>
            <a:picLocks noChangeAspect="1"/>
          </p:cNvPicPr>
          <p:nvPr/>
        </p:nvPicPr>
        <p:blipFill>
          <a:blip r:embed="rId4"/>
          <a:stretch>
            <a:fillRect/>
          </a:stretch>
        </p:blipFill>
        <p:spPr>
          <a:xfrm>
            <a:off x="9368028" y="2350008"/>
            <a:ext cx="329184" cy="329184"/>
          </a:xfrm>
          <a:prstGeom prst="rect">
            <a:avLst/>
          </a:prstGeom>
        </p:spPr>
      </p:pic>
      <p:sp>
        <p:nvSpPr>
          <p:cNvPr id="19" name="Text 13"/>
          <p:cNvSpPr/>
          <p:nvPr/>
        </p:nvSpPr>
        <p:spPr>
          <a:xfrm>
            <a:off x="8366760" y="2880360"/>
            <a:ext cx="2331720" cy="457200"/>
          </a:xfrm>
          <a:prstGeom prst="rect">
            <a:avLst/>
          </a:prstGeom>
          <a:noFill/>
          <a:ln/>
        </p:spPr>
        <p:txBody>
          <a:bodyPr wrap="square" lIns="0" tIns="0" rIns="0" bIns="0" rtlCol="0" anchor="t"/>
          <a:lstStyle/>
          <a:p>
            <a:pPr algn="ctr" indent="0" marL="0">
              <a:buNone/>
            </a:pPr>
            <a:r>
              <a:rPr lang="en-US" sz="1250" b="1" dirty="0">
                <a:solidFill>
                  <a:srgbClr val="1F2937"/>
                </a:solidFill>
                <a:latin typeface="Calibri" pitchFamily="34" charset="0"/>
                <a:ea typeface="Calibri" pitchFamily="34" charset="-122"/>
                <a:cs typeface="Calibri" pitchFamily="34" charset="-120"/>
              </a:rPr>
              <a:t>MongoDB</a:t>
            </a:r>
            <a:endParaRPr lang="en-US" sz="1250" dirty="0"/>
          </a:p>
          <a:p>
            <a:pPr algn="ctr" indent="0" marL="0">
              <a:buNone/>
            </a:pPr>
            <a:r>
              <a:rPr lang="en-US" sz="1250" b="1" dirty="0">
                <a:solidFill>
                  <a:srgbClr val="1F2937"/>
                </a:solidFill>
                <a:latin typeface="Calibri" pitchFamily="34" charset="0"/>
                <a:ea typeface="Calibri" pitchFamily="34" charset="-122"/>
                <a:cs typeface="Calibri" pitchFamily="34" charset="-120"/>
              </a:rPr>
              <a:t>Atlas</a:t>
            </a:r>
            <a:endParaRPr lang="en-US" sz="1250" dirty="0"/>
          </a:p>
        </p:txBody>
      </p:sp>
      <p:sp>
        <p:nvSpPr>
          <p:cNvPr id="20" name="Shape 14"/>
          <p:cNvSpPr/>
          <p:nvPr/>
        </p:nvSpPr>
        <p:spPr>
          <a:xfrm>
            <a:off x="8458200" y="3703320"/>
            <a:ext cx="2148840" cy="1417320"/>
          </a:xfrm>
          <a:prstGeom prst="roundRect">
            <a:avLst>
              <a:gd name="adj" fmla="val 5806"/>
            </a:avLst>
          </a:prstGeom>
          <a:solidFill>
            <a:srgbClr val="F3F9F5"/>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21" name="Shape 15"/>
          <p:cNvSpPr/>
          <p:nvPr/>
        </p:nvSpPr>
        <p:spPr>
          <a:xfrm>
            <a:off x="9166860" y="3886200"/>
            <a:ext cx="731520" cy="731520"/>
          </a:xfrm>
          <a:prstGeom prst="ellipse">
            <a:avLst/>
          </a:prstGeom>
          <a:solidFill>
            <a:srgbClr val="1F7A3D"/>
          </a:solidFill>
          <a:ln/>
        </p:spPr>
      </p:sp>
      <p:pic>
        <p:nvPicPr>
          <p:cNvPr id="22" name="Image 4" descr="preencoded.png">    </p:cNvPr>
          <p:cNvPicPr>
            <a:picLocks noChangeAspect="1"/>
          </p:cNvPicPr>
          <p:nvPr/>
        </p:nvPicPr>
        <p:blipFill>
          <a:blip r:embed="rId5"/>
          <a:stretch>
            <a:fillRect/>
          </a:stretch>
        </p:blipFill>
        <p:spPr>
          <a:xfrm>
            <a:off x="9368028" y="4087368"/>
            <a:ext cx="329184" cy="329184"/>
          </a:xfrm>
          <a:prstGeom prst="rect">
            <a:avLst/>
          </a:prstGeom>
        </p:spPr>
      </p:pic>
      <p:sp>
        <p:nvSpPr>
          <p:cNvPr id="23" name="Text 16"/>
          <p:cNvSpPr/>
          <p:nvPr/>
        </p:nvSpPr>
        <p:spPr>
          <a:xfrm>
            <a:off x="8366760" y="4617720"/>
            <a:ext cx="2331720" cy="457200"/>
          </a:xfrm>
          <a:prstGeom prst="rect">
            <a:avLst/>
          </a:prstGeom>
          <a:noFill/>
          <a:ln/>
        </p:spPr>
        <p:txBody>
          <a:bodyPr wrap="square" lIns="0" tIns="0" rIns="0" bIns="0" rtlCol="0" anchor="t"/>
          <a:lstStyle/>
          <a:p>
            <a:pPr algn="ctr" indent="0" marL="0">
              <a:buNone/>
            </a:pPr>
            <a:r>
              <a:rPr lang="en-US" sz="1250" b="1" dirty="0">
                <a:solidFill>
                  <a:srgbClr val="1F2937"/>
                </a:solidFill>
                <a:latin typeface="Calibri" pitchFamily="34" charset="0"/>
                <a:ea typeface="Calibri" pitchFamily="34" charset="-122"/>
                <a:cs typeface="Calibri" pitchFamily="34" charset="-120"/>
              </a:rPr>
              <a:t>Cloudinary</a:t>
            </a:r>
            <a:endParaRPr lang="en-US" sz="1250" dirty="0"/>
          </a:p>
          <a:p>
            <a:pPr algn="ctr" indent="0" marL="0">
              <a:buNone/>
            </a:pPr>
            <a:r>
              <a:rPr lang="en-US" sz="1250" b="1" dirty="0">
                <a:solidFill>
                  <a:srgbClr val="1F2937"/>
                </a:solidFill>
                <a:latin typeface="Calibri" pitchFamily="34" charset="0"/>
                <a:ea typeface="Calibri" pitchFamily="34" charset="-122"/>
                <a:cs typeface="Calibri" pitchFamily="34" charset="-120"/>
              </a:rPr>
              <a:t>(Media)</a:t>
            </a:r>
            <a:endParaRPr lang="en-US" sz="1250" dirty="0"/>
          </a:p>
        </p:txBody>
      </p:sp>
      <p:pic>
        <p:nvPicPr>
          <p:cNvPr id="24" name="Image 5" descr="preencoded.png">    </p:cNvPr>
          <p:cNvPicPr>
            <a:picLocks noChangeAspect="1"/>
          </p:cNvPicPr>
          <p:nvPr/>
        </p:nvPicPr>
        <p:blipFill>
          <a:blip r:embed="rId6"/>
          <a:stretch>
            <a:fillRect/>
          </a:stretch>
        </p:blipFill>
        <p:spPr>
          <a:xfrm>
            <a:off x="2788920" y="3310128"/>
            <a:ext cx="457200" cy="457200"/>
          </a:xfrm>
          <a:prstGeom prst="rect">
            <a:avLst/>
          </a:prstGeom>
        </p:spPr>
      </p:pic>
      <p:pic>
        <p:nvPicPr>
          <p:cNvPr id="25" name="Image 6" descr="preencoded.png">    </p:cNvPr>
          <p:cNvPicPr>
            <a:picLocks noChangeAspect="1"/>
          </p:cNvPicPr>
          <p:nvPr/>
        </p:nvPicPr>
        <p:blipFill>
          <a:blip r:embed="rId7"/>
          <a:stretch>
            <a:fillRect/>
          </a:stretch>
        </p:blipFill>
        <p:spPr>
          <a:xfrm>
            <a:off x="5394960" y="3310128"/>
            <a:ext cx="457200" cy="457200"/>
          </a:xfrm>
          <a:prstGeom prst="rect">
            <a:avLst/>
          </a:prstGeom>
        </p:spPr>
      </p:pic>
      <p:pic>
        <p:nvPicPr>
          <p:cNvPr id="26" name="Image 7" descr="preencoded.png">    </p:cNvPr>
          <p:cNvPicPr>
            <a:picLocks noChangeAspect="1"/>
          </p:cNvPicPr>
          <p:nvPr/>
        </p:nvPicPr>
        <p:blipFill>
          <a:blip r:embed="rId8"/>
          <a:stretch>
            <a:fillRect/>
          </a:stretch>
        </p:blipFill>
        <p:spPr>
          <a:xfrm>
            <a:off x="8046720" y="2514600"/>
            <a:ext cx="365760" cy="365760"/>
          </a:xfrm>
          <a:prstGeom prst="rect">
            <a:avLst/>
          </a:prstGeom>
        </p:spPr>
      </p:pic>
      <p:pic>
        <p:nvPicPr>
          <p:cNvPr id="27" name="Image 8" descr="preencoded.png">    </p:cNvPr>
          <p:cNvPicPr>
            <a:picLocks noChangeAspect="1"/>
          </p:cNvPicPr>
          <p:nvPr/>
        </p:nvPicPr>
        <p:blipFill>
          <a:blip r:embed="rId9"/>
          <a:stretch>
            <a:fillRect/>
          </a:stretch>
        </p:blipFill>
        <p:spPr>
          <a:xfrm>
            <a:off x="8046720" y="4160520"/>
            <a:ext cx="365760" cy="365760"/>
          </a:xfrm>
          <a:prstGeom prst="rect">
            <a:avLst/>
          </a:prstGeom>
        </p:spPr>
      </p:pic>
      <p:sp>
        <p:nvSpPr>
          <p:cNvPr id="28" name="Shape 17"/>
          <p:cNvSpPr/>
          <p:nvPr/>
        </p:nvSpPr>
        <p:spPr>
          <a:xfrm>
            <a:off x="640080" y="4709160"/>
            <a:ext cx="10195560" cy="868680"/>
          </a:xfrm>
          <a:prstGeom prst="roundRect">
            <a:avLst>
              <a:gd name="adj" fmla="val 9474"/>
            </a:avLst>
          </a:prstGeom>
          <a:solidFill>
            <a:srgbClr val="123D22"/>
          </a:solidFill>
          <a:ln/>
          <a:effectLst>
            <a:outerShdw sx="100000" sy="100000" kx="0" ky="0" algn="bl" rotWithShape="0" blurRad="101600" dist="38100" dir="5400000">
              <a:srgbClr val="9DB4A6">
                <a:alpha val="35000"/>
              </a:srgbClr>
            </a:outerShdw>
          </a:effectLst>
        </p:spPr>
      </p:sp>
      <p:sp>
        <p:nvSpPr>
          <p:cNvPr id="29" name="Shape 18"/>
          <p:cNvSpPr/>
          <p:nvPr/>
        </p:nvSpPr>
        <p:spPr>
          <a:xfrm>
            <a:off x="868680" y="4892040"/>
            <a:ext cx="502920" cy="502920"/>
          </a:xfrm>
          <a:prstGeom prst="ellipse">
            <a:avLst/>
          </a:prstGeom>
          <a:solidFill>
            <a:srgbClr val="2E9E5B"/>
          </a:solidFill>
          <a:ln/>
        </p:spPr>
      </p:sp>
      <p:pic>
        <p:nvPicPr>
          <p:cNvPr id="30" name="Image 9" descr="preencoded.png">    </p:cNvPr>
          <p:cNvPicPr>
            <a:picLocks noChangeAspect="1"/>
          </p:cNvPicPr>
          <p:nvPr/>
        </p:nvPicPr>
        <p:blipFill>
          <a:blip r:embed="rId10"/>
          <a:stretch>
            <a:fillRect/>
          </a:stretch>
        </p:blipFill>
        <p:spPr>
          <a:xfrm>
            <a:off x="996696" y="5020056"/>
            <a:ext cx="246888" cy="246888"/>
          </a:xfrm>
          <a:prstGeom prst="rect">
            <a:avLst/>
          </a:prstGeom>
        </p:spPr>
      </p:pic>
      <p:sp>
        <p:nvSpPr>
          <p:cNvPr id="31" name="Text 19"/>
          <p:cNvSpPr/>
          <p:nvPr/>
        </p:nvSpPr>
        <p:spPr>
          <a:xfrm>
            <a:off x="1508760" y="4828032"/>
            <a:ext cx="310896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GitHub Actions CI/CD</a:t>
            </a:r>
            <a:endParaRPr lang="en-US" sz="1500" dirty="0"/>
          </a:p>
        </p:txBody>
      </p:sp>
      <p:sp>
        <p:nvSpPr>
          <p:cNvPr id="32" name="Text 20"/>
          <p:cNvSpPr/>
          <p:nvPr/>
        </p:nvSpPr>
        <p:spPr>
          <a:xfrm>
            <a:off x="1508760" y="5138928"/>
            <a:ext cx="9144000" cy="320040"/>
          </a:xfrm>
          <a:prstGeom prst="rect">
            <a:avLst/>
          </a:prstGeom>
          <a:noFill/>
          <a:ln/>
        </p:spPr>
        <p:txBody>
          <a:bodyPr wrap="square" lIns="0" tIns="0" rIns="0" bIns="0" rtlCol="0" anchor="ctr"/>
          <a:lstStyle/>
          <a:p>
            <a:pPr indent="0" marL="0">
              <a:buNone/>
            </a:pPr>
            <a:r>
              <a:rPr lang="en-US" sz="1250" dirty="0">
                <a:solidFill>
                  <a:srgbClr val="D9EEE1"/>
                </a:solidFill>
                <a:latin typeface="Calibri" pitchFamily="34" charset="0"/>
                <a:ea typeface="Calibri" pitchFamily="34" charset="-122"/>
                <a:cs typeface="Calibri" pitchFamily="34" charset="-120"/>
              </a:rPr>
              <a:t>Push to main  →  install  →  lint  →  test  →  coverage  →  build  →  auto-deploy</a:t>
            </a:r>
            <a:endParaRPr lang="en-US" sz="1250" dirty="0"/>
          </a:p>
        </p:txBody>
      </p:sp>
      <p:sp>
        <p:nvSpPr>
          <p:cNvPr id="33" name="Text 21"/>
          <p:cNvSpPr/>
          <p:nvPr/>
        </p:nvSpPr>
        <p:spPr>
          <a:xfrm>
            <a:off x="548640" y="6510528"/>
            <a:ext cx="54864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Digital Gram Panchayat  ·  v1.0.0</a:t>
            </a:r>
            <a:endParaRPr lang="en-US" sz="900" dirty="0"/>
          </a:p>
        </p:txBody>
      </p:sp>
      <p:sp>
        <p:nvSpPr>
          <p:cNvPr id="34" name="Text 22"/>
          <p:cNvSpPr/>
          <p:nvPr/>
        </p:nvSpPr>
        <p:spPr>
          <a:xfrm>
            <a:off x="11338560" y="6510528"/>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8229600" cy="274320"/>
          </a:xfrm>
          <a:prstGeom prst="rect">
            <a:avLst/>
          </a:prstGeom>
          <a:noFill/>
          <a:ln/>
        </p:spPr>
        <p:txBody>
          <a:bodyPr wrap="square" lIns="0" tIns="0" rIns="0" bIns="0" rtlCol="0" anchor="ctr"/>
          <a:lstStyle/>
          <a:p>
            <a:pPr algn="l" indent="0" marL="0">
              <a:buNone/>
            </a:pPr>
            <a:r>
              <a:rPr lang="en-US" sz="1200" b="1" spc="300" kern="0" dirty="0">
                <a:solidFill>
                  <a:srgbClr val="1F7A3D"/>
                </a:solidFill>
                <a:latin typeface="Calibri" pitchFamily="34" charset="0"/>
                <a:ea typeface="Calibri" pitchFamily="34" charset="-122"/>
                <a:cs typeface="Calibri" pitchFamily="34" charset="-120"/>
              </a:rPr>
              <a:t>WHAT WE DELIVERED</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algn="l" indent="0" marL="0">
              <a:buNone/>
            </a:pPr>
            <a:r>
              <a:rPr lang="en-US" sz="3000" b="1" dirty="0">
                <a:solidFill>
                  <a:srgbClr val="1F2937"/>
                </a:solidFill>
                <a:latin typeface="Cambria" pitchFamily="34" charset="0"/>
                <a:ea typeface="Cambria" pitchFamily="34" charset="-122"/>
                <a:cs typeface="Cambria" pitchFamily="34" charset="-120"/>
              </a:rPr>
              <a:t>Key Achievements</a:t>
            </a:r>
            <a:endParaRPr lang="en-US" sz="3000" dirty="0"/>
          </a:p>
        </p:txBody>
      </p:sp>
      <p:sp>
        <p:nvSpPr>
          <p:cNvPr id="4" name="Shape 2"/>
          <p:cNvSpPr/>
          <p:nvPr/>
        </p:nvSpPr>
        <p:spPr>
          <a:xfrm>
            <a:off x="563728" y="1874520"/>
            <a:ext cx="3566160" cy="1783080"/>
          </a:xfrm>
          <a:prstGeom prst="roundRect">
            <a:avLst>
              <a:gd name="adj" fmla="val 4615"/>
            </a:avLst>
          </a:prstGeom>
          <a:solidFill>
            <a:srgbClr val="FFFFFF"/>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5" name="Shape 3"/>
          <p:cNvSpPr/>
          <p:nvPr/>
        </p:nvSpPr>
        <p:spPr>
          <a:xfrm>
            <a:off x="838048" y="2377440"/>
            <a:ext cx="777240" cy="777240"/>
          </a:xfrm>
          <a:prstGeom prst="ellipse">
            <a:avLst/>
          </a:prstGeom>
          <a:solidFill>
            <a:srgbClr val="1F7A3D"/>
          </a:solidFill>
          <a:ln/>
        </p:spPr>
      </p:sp>
      <p:pic>
        <p:nvPicPr>
          <p:cNvPr id="6" name="Image 0" descr="preencoded.png">    </p:cNvPr>
          <p:cNvPicPr>
            <a:picLocks noChangeAspect="1"/>
          </p:cNvPicPr>
          <p:nvPr/>
        </p:nvPicPr>
        <p:blipFill>
          <a:blip r:embed="rId1"/>
          <a:stretch>
            <a:fillRect/>
          </a:stretch>
        </p:blipFill>
        <p:spPr>
          <a:xfrm>
            <a:off x="1048360" y="2587752"/>
            <a:ext cx="356616" cy="356616"/>
          </a:xfrm>
          <a:prstGeom prst="rect">
            <a:avLst/>
          </a:prstGeom>
        </p:spPr>
      </p:pic>
      <p:sp>
        <p:nvSpPr>
          <p:cNvPr id="7" name="Text 4"/>
          <p:cNvSpPr/>
          <p:nvPr/>
        </p:nvSpPr>
        <p:spPr>
          <a:xfrm>
            <a:off x="1798168" y="2130552"/>
            <a:ext cx="2194560" cy="594360"/>
          </a:xfrm>
          <a:prstGeom prst="rect">
            <a:avLst/>
          </a:prstGeom>
          <a:noFill/>
          <a:ln/>
        </p:spPr>
        <p:txBody>
          <a:bodyPr wrap="square" lIns="0" tIns="0" rIns="0" bIns="0" rtlCol="0" anchor="ctr"/>
          <a:lstStyle/>
          <a:p>
            <a:pPr indent="0" marL="0">
              <a:buNone/>
            </a:pPr>
            <a:r>
              <a:rPr lang="en-US" sz="3000" b="1" dirty="0">
                <a:solidFill>
                  <a:srgbClr val="1F7A3D"/>
                </a:solidFill>
                <a:latin typeface="Cambria" pitchFamily="34" charset="0"/>
                <a:ea typeface="Cambria" pitchFamily="34" charset="-122"/>
                <a:cs typeface="Cambria" pitchFamily="34" charset="-120"/>
              </a:rPr>
              <a:t>13</a:t>
            </a:r>
            <a:endParaRPr lang="en-US" sz="3000" dirty="0"/>
          </a:p>
        </p:txBody>
      </p:sp>
      <p:sp>
        <p:nvSpPr>
          <p:cNvPr id="8" name="Text 5"/>
          <p:cNvSpPr/>
          <p:nvPr/>
        </p:nvSpPr>
        <p:spPr>
          <a:xfrm>
            <a:off x="1798168" y="2807208"/>
            <a:ext cx="2194560" cy="548640"/>
          </a:xfrm>
          <a:prstGeom prst="rect">
            <a:avLst/>
          </a:prstGeom>
          <a:noFill/>
          <a:ln/>
        </p:spPr>
        <p:txBody>
          <a:bodyPr wrap="square" lIns="0" tIns="0" rIns="0" bIns="0" rtlCol="0" anchor="t"/>
          <a:lstStyle/>
          <a:p>
            <a:pPr indent="0" marL="0">
              <a:buNone/>
            </a:pPr>
            <a:r>
              <a:rPr lang="en-US" sz="1250" dirty="0">
                <a:solidFill>
                  <a:srgbClr val="6B7280"/>
                </a:solidFill>
                <a:latin typeface="Calibri" pitchFamily="34" charset="0"/>
                <a:ea typeface="Calibri" pitchFamily="34" charset="-122"/>
                <a:cs typeface="Calibri" pitchFamily="34" charset="-120"/>
              </a:rPr>
              <a:t>Milestones completed</a:t>
            </a:r>
            <a:endParaRPr lang="en-US" sz="1250" dirty="0"/>
          </a:p>
        </p:txBody>
      </p:sp>
      <p:sp>
        <p:nvSpPr>
          <p:cNvPr id="9" name="Shape 6"/>
          <p:cNvSpPr/>
          <p:nvPr/>
        </p:nvSpPr>
        <p:spPr>
          <a:xfrm>
            <a:off x="4312768" y="1874520"/>
            <a:ext cx="3566160" cy="1783080"/>
          </a:xfrm>
          <a:prstGeom prst="roundRect">
            <a:avLst>
              <a:gd name="adj" fmla="val 4615"/>
            </a:avLst>
          </a:prstGeom>
          <a:solidFill>
            <a:srgbClr val="FFFFFF"/>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10" name="Shape 7"/>
          <p:cNvSpPr/>
          <p:nvPr/>
        </p:nvSpPr>
        <p:spPr>
          <a:xfrm>
            <a:off x="4587088" y="2377440"/>
            <a:ext cx="777240" cy="777240"/>
          </a:xfrm>
          <a:prstGeom prst="ellipse">
            <a:avLst/>
          </a:prstGeom>
          <a:solidFill>
            <a:srgbClr val="1F7A3D"/>
          </a:solidFill>
          <a:ln/>
        </p:spPr>
      </p:sp>
      <p:pic>
        <p:nvPicPr>
          <p:cNvPr id="11" name="Image 1" descr="preencoded.png">    </p:cNvPr>
          <p:cNvPicPr>
            <a:picLocks noChangeAspect="1"/>
          </p:cNvPicPr>
          <p:nvPr/>
        </p:nvPicPr>
        <p:blipFill>
          <a:blip r:embed="rId2"/>
          <a:stretch>
            <a:fillRect/>
          </a:stretch>
        </p:blipFill>
        <p:spPr>
          <a:xfrm>
            <a:off x="4797400" y="2587752"/>
            <a:ext cx="356616" cy="356616"/>
          </a:xfrm>
          <a:prstGeom prst="rect">
            <a:avLst/>
          </a:prstGeom>
        </p:spPr>
      </p:pic>
      <p:sp>
        <p:nvSpPr>
          <p:cNvPr id="12" name="Text 8"/>
          <p:cNvSpPr/>
          <p:nvPr/>
        </p:nvSpPr>
        <p:spPr>
          <a:xfrm>
            <a:off x="5547208" y="2130552"/>
            <a:ext cx="2194560" cy="594360"/>
          </a:xfrm>
          <a:prstGeom prst="rect">
            <a:avLst/>
          </a:prstGeom>
          <a:noFill/>
          <a:ln/>
        </p:spPr>
        <p:txBody>
          <a:bodyPr wrap="square" lIns="0" tIns="0" rIns="0" bIns="0" rtlCol="0" anchor="ctr"/>
          <a:lstStyle/>
          <a:p>
            <a:pPr indent="0" marL="0">
              <a:buNone/>
            </a:pPr>
            <a:r>
              <a:rPr lang="en-US" sz="3000" b="1" dirty="0">
                <a:solidFill>
                  <a:srgbClr val="1F7A3D"/>
                </a:solidFill>
                <a:latin typeface="Cambria" pitchFamily="34" charset="0"/>
                <a:ea typeface="Cambria" pitchFamily="34" charset="-122"/>
                <a:cs typeface="Cambria" pitchFamily="34" charset="-120"/>
              </a:rPr>
              <a:t>100%</a:t>
            </a:r>
            <a:endParaRPr lang="en-US" sz="3000" dirty="0"/>
          </a:p>
        </p:txBody>
      </p:sp>
      <p:sp>
        <p:nvSpPr>
          <p:cNvPr id="13" name="Text 9"/>
          <p:cNvSpPr/>
          <p:nvPr/>
        </p:nvSpPr>
        <p:spPr>
          <a:xfrm>
            <a:off x="5547208" y="2807208"/>
            <a:ext cx="2194560" cy="548640"/>
          </a:xfrm>
          <a:prstGeom prst="rect">
            <a:avLst/>
          </a:prstGeom>
          <a:noFill/>
          <a:ln/>
        </p:spPr>
        <p:txBody>
          <a:bodyPr wrap="square" lIns="0" tIns="0" rIns="0" bIns="0" rtlCol="0" anchor="t"/>
          <a:lstStyle/>
          <a:p>
            <a:pPr indent="0" marL="0">
              <a:buNone/>
            </a:pPr>
            <a:r>
              <a:rPr lang="en-US" sz="1250" dirty="0">
                <a:solidFill>
                  <a:srgbClr val="6B7280"/>
                </a:solidFill>
                <a:latin typeface="Calibri" pitchFamily="34" charset="0"/>
                <a:ea typeface="Calibri" pitchFamily="34" charset="-122"/>
                <a:cs typeface="Calibri" pitchFamily="34" charset="-120"/>
              </a:rPr>
              <a:t>Production ready</a:t>
            </a:r>
            <a:endParaRPr lang="en-US" sz="1250" dirty="0"/>
          </a:p>
        </p:txBody>
      </p:sp>
      <p:sp>
        <p:nvSpPr>
          <p:cNvPr id="14" name="Shape 10"/>
          <p:cNvSpPr/>
          <p:nvPr/>
        </p:nvSpPr>
        <p:spPr>
          <a:xfrm>
            <a:off x="8061808" y="1874520"/>
            <a:ext cx="3566160" cy="1783080"/>
          </a:xfrm>
          <a:prstGeom prst="roundRect">
            <a:avLst>
              <a:gd name="adj" fmla="val 4615"/>
            </a:avLst>
          </a:prstGeom>
          <a:solidFill>
            <a:srgbClr val="FFFFFF"/>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15" name="Shape 11"/>
          <p:cNvSpPr/>
          <p:nvPr/>
        </p:nvSpPr>
        <p:spPr>
          <a:xfrm>
            <a:off x="8336128" y="2377440"/>
            <a:ext cx="777240" cy="777240"/>
          </a:xfrm>
          <a:prstGeom prst="ellipse">
            <a:avLst/>
          </a:prstGeom>
          <a:solidFill>
            <a:srgbClr val="1F7A3D"/>
          </a:solidFill>
          <a:ln/>
        </p:spPr>
      </p:sp>
      <p:pic>
        <p:nvPicPr>
          <p:cNvPr id="16" name="Image 2" descr="preencoded.png">    </p:cNvPr>
          <p:cNvPicPr>
            <a:picLocks noChangeAspect="1"/>
          </p:cNvPicPr>
          <p:nvPr/>
        </p:nvPicPr>
        <p:blipFill>
          <a:blip r:embed="rId3"/>
          <a:stretch>
            <a:fillRect/>
          </a:stretch>
        </p:blipFill>
        <p:spPr>
          <a:xfrm>
            <a:off x="8546440" y="2587752"/>
            <a:ext cx="356616" cy="356616"/>
          </a:xfrm>
          <a:prstGeom prst="rect">
            <a:avLst/>
          </a:prstGeom>
        </p:spPr>
      </p:pic>
      <p:sp>
        <p:nvSpPr>
          <p:cNvPr id="17" name="Text 12"/>
          <p:cNvSpPr/>
          <p:nvPr/>
        </p:nvSpPr>
        <p:spPr>
          <a:xfrm>
            <a:off x="9296248" y="2130552"/>
            <a:ext cx="2194560" cy="594360"/>
          </a:xfrm>
          <a:prstGeom prst="rect">
            <a:avLst/>
          </a:prstGeom>
          <a:noFill/>
          <a:ln/>
        </p:spPr>
        <p:txBody>
          <a:bodyPr wrap="square" lIns="0" tIns="0" rIns="0" bIns="0" rtlCol="0" anchor="ctr"/>
          <a:lstStyle/>
          <a:p>
            <a:pPr indent="0" marL="0">
              <a:buNone/>
            </a:pPr>
            <a:r>
              <a:rPr lang="en-US" sz="3000" b="1" dirty="0">
                <a:solidFill>
                  <a:srgbClr val="1F7A3D"/>
                </a:solidFill>
                <a:latin typeface="Cambria" pitchFamily="34" charset="0"/>
                <a:ea typeface="Cambria" pitchFamily="34" charset="-122"/>
                <a:cs typeface="Cambria" pitchFamily="34" charset="-120"/>
              </a:rPr>
              <a:t>191</a:t>
            </a:r>
            <a:endParaRPr lang="en-US" sz="3000" dirty="0"/>
          </a:p>
        </p:txBody>
      </p:sp>
      <p:sp>
        <p:nvSpPr>
          <p:cNvPr id="18" name="Text 13"/>
          <p:cNvSpPr/>
          <p:nvPr/>
        </p:nvSpPr>
        <p:spPr>
          <a:xfrm>
            <a:off x="9296248" y="2807208"/>
            <a:ext cx="2194560" cy="548640"/>
          </a:xfrm>
          <a:prstGeom prst="rect">
            <a:avLst/>
          </a:prstGeom>
          <a:noFill/>
          <a:ln/>
        </p:spPr>
        <p:txBody>
          <a:bodyPr wrap="square" lIns="0" tIns="0" rIns="0" bIns="0" rtlCol="0" anchor="t"/>
          <a:lstStyle/>
          <a:p>
            <a:pPr indent="0" marL="0">
              <a:buNone/>
            </a:pPr>
            <a:r>
              <a:rPr lang="en-US" sz="1250" dirty="0">
                <a:solidFill>
                  <a:srgbClr val="6B7280"/>
                </a:solidFill>
                <a:latin typeface="Calibri" pitchFamily="34" charset="0"/>
                <a:ea typeface="Calibri" pitchFamily="34" charset="-122"/>
                <a:cs typeface="Calibri" pitchFamily="34" charset="-120"/>
              </a:rPr>
              <a:t>Automated tests</a:t>
            </a:r>
            <a:endParaRPr lang="en-US" sz="1250" dirty="0"/>
          </a:p>
        </p:txBody>
      </p:sp>
      <p:sp>
        <p:nvSpPr>
          <p:cNvPr id="19" name="Shape 14"/>
          <p:cNvSpPr/>
          <p:nvPr/>
        </p:nvSpPr>
        <p:spPr>
          <a:xfrm>
            <a:off x="563728" y="3913632"/>
            <a:ext cx="3566160" cy="1783080"/>
          </a:xfrm>
          <a:prstGeom prst="roundRect">
            <a:avLst>
              <a:gd name="adj" fmla="val 4615"/>
            </a:avLst>
          </a:prstGeom>
          <a:solidFill>
            <a:srgbClr val="FFFFFF"/>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20" name="Shape 15"/>
          <p:cNvSpPr/>
          <p:nvPr/>
        </p:nvSpPr>
        <p:spPr>
          <a:xfrm>
            <a:off x="838048" y="4416552"/>
            <a:ext cx="777240" cy="777240"/>
          </a:xfrm>
          <a:prstGeom prst="ellipse">
            <a:avLst/>
          </a:prstGeom>
          <a:solidFill>
            <a:srgbClr val="1F7A3D"/>
          </a:solidFill>
          <a:ln/>
        </p:spPr>
      </p:sp>
      <p:pic>
        <p:nvPicPr>
          <p:cNvPr id="21" name="Image 3" descr="preencoded.png">    </p:cNvPr>
          <p:cNvPicPr>
            <a:picLocks noChangeAspect="1"/>
          </p:cNvPicPr>
          <p:nvPr/>
        </p:nvPicPr>
        <p:blipFill>
          <a:blip r:embed="rId4"/>
          <a:stretch>
            <a:fillRect/>
          </a:stretch>
        </p:blipFill>
        <p:spPr>
          <a:xfrm>
            <a:off x="1048360" y="4626864"/>
            <a:ext cx="356616" cy="356616"/>
          </a:xfrm>
          <a:prstGeom prst="rect">
            <a:avLst/>
          </a:prstGeom>
        </p:spPr>
      </p:pic>
      <p:sp>
        <p:nvSpPr>
          <p:cNvPr id="22" name="Text 16"/>
          <p:cNvSpPr/>
          <p:nvPr/>
        </p:nvSpPr>
        <p:spPr>
          <a:xfrm>
            <a:off x="1798168" y="4169664"/>
            <a:ext cx="2194560" cy="594360"/>
          </a:xfrm>
          <a:prstGeom prst="rect">
            <a:avLst/>
          </a:prstGeom>
          <a:noFill/>
          <a:ln/>
        </p:spPr>
        <p:txBody>
          <a:bodyPr wrap="square" lIns="0" tIns="0" rIns="0" bIns="0" rtlCol="0" anchor="ctr"/>
          <a:lstStyle/>
          <a:p>
            <a:pPr indent="0" marL="0">
              <a:buNone/>
            </a:pPr>
            <a:r>
              <a:rPr lang="en-US" sz="3000" b="1" dirty="0">
                <a:solidFill>
                  <a:srgbClr val="1F7A3D"/>
                </a:solidFill>
                <a:latin typeface="Cambria" pitchFamily="34" charset="0"/>
                <a:ea typeface="Cambria" pitchFamily="34" charset="-122"/>
                <a:cs typeface="Cambria" pitchFamily="34" charset="-120"/>
              </a:rPr>
              <a:t>PWA</a:t>
            </a:r>
            <a:endParaRPr lang="en-US" sz="3000" dirty="0"/>
          </a:p>
        </p:txBody>
      </p:sp>
      <p:sp>
        <p:nvSpPr>
          <p:cNvPr id="23" name="Text 17"/>
          <p:cNvSpPr/>
          <p:nvPr/>
        </p:nvSpPr>
        <p:spPr>
          <a:xfrm>
            <a:off x="1798168" y="4846320"/>
            <a:ext cx="2194560" cy="548640"/>
          </a:xfrm>
          <a:prstGeom prst="rect">
            <a:avLst/>
          </a:prstGeom>
          <a:noFill/>
          <a:ln/>
        </p:spPr>
        <p:txBody>
          <a:bodyPr wrap="square" lIns="0" tIns="0" rIns="0" bIns="0" rtlCol="0" anchor="t"/>
          <a:lstStyle/>
          <a:p>
            <a:pPr indent="0" marL="0">
              <a:buNone/>
            </a:pPr>
            <a:r>
              <a:rPr lang="en-US" sz="1250" dirty="0">
                <a:solidFill>
                  <a:srgbClr val="6B7280"/>
                </a:solidFill>
                <a:latin typeface="Calibri" pitchFamily="34" charset="0"/>
                <a:ea typeface="Calibri" pitchFamily="34" charset="-122"/>
                <a:cs typeface="Calibri" pitchFamily="34" charset="-120"/>
              </a:rPr>
              <a:t>Installable + offline</a:t>
            </a:r>
            <a:endParaRPr lang="en-US" sz="1250" dirty="0"/>
          </a:p>
        </p:txBody>
      </p:sp>
      <p:sp>
        <p:nvSpPr>
          <p:cNvPr id="24" name="Shape 18"/>
          <p:cNvSpPr/>
          <p:nvPr/>
        </p:nvSpPr>
        <p:spPr>
          <a:xfrm>
            <a:off x="4312768" y="3913632"/>
            <a:ext cx="3566160" cy="1783080"/>
          </a:xfrm>
          <a:prstGeom prst="roundRect">
            <a:avLst>
              <a:gd name="adj" fmla="val 4615"/>
            </a:avLst>
          </a:prstGeom>
          <a:solidFill>
            <a:srgbClr val="FFFFFF"/>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25" name="Shape 19"/>
          <p:cNvSpPr/>
          <p:nvPr/>
        </p:nvSpPr>
        <p:spPr>
          <a:xfrm>
            <a:off x="4587088" y="4416552"/>
            <a:ext cx="777240" cy="777240"/>
          </a:xfrm>
          <a:prstGeom prst="ellipse">
            <a:avLst/>
          </a:prstGeom>
          <a:solidFill>
            <a:srgbClr val="1F7A3D"/>
          </a:solidFill>
          <a:ln/>
        </p:spPr>
      </p:sp>
      <p:pic>
        <p:nvPicPr>
          <p:cNvPr id="26" name="Image 4" descr="preencoded.png">    </p:cNvPr>
          <p:cNvPicPr>
            <a:picLocks noChangeAspect="1"/>
          </p:cNvPicPr>
          <p:nvPr/>
        </p:nvPicPr>
        <p:blipFill>
          <a:blip r:embed="rId5"/>
          <a:stretch>
            <a:fillRect/>
          </a:stretch>
        </p:blipFill>
        <p:spPr>
          <a:xfrm>
            <a:off x="4797400" y="4626864"/>
            <a:ext cx="356616" cy="356616"/>
          </a:xfrm>
          <a:prstGeom prst="rect">
            <a:avLst/>
          </a:prstGeom>
        </p:spPr>
      </p:pic>
      <p:sp>
        <p:nvSpPr>
          <p:cNvPr id="27" name="Text 20"/>
          <p:cNvSpPr/>
          <p:nvPr/>
        </p:nvSpPr>
        <p:spPr>
          <a:xfrm>
            <a:off x="5547208" y="4169664"/>
            <a:ext cx="2194560" cy="594360"/>
          </a:xfrm>
          <a:prstGeom prst="rect">
            <a:avLst/>
          </a:prstGeom>
          <a:noFill/>
          <a:ln/>
        </p:spPr>
        <p:txBody>
          <a:bodyPr wrap="square" lIns="0" tIns="0" rIns="0" bIns="0" rtlCol="0" anchor="ctr"/>
          <a:lstStyle/>
          <a:p>
            <a:pPr indent="0" marL="0">
              <a:buNone/>
            </a:pPr>
            <a:r>
              <a:rPr lang="en-US" sz="3000" b="1" dirty="0">
                <a:solidFill>
                  <a:srgbClr val="1F7A3D"/>
                </a:solidFill>
                <a:latin typeface="Cambria" pitchFamily="34" charset="0"/>
                <a:ea typeface="Cambria" pitchFamily="34" charset="-122"/>
                <a:cs typeface="Cambria" pitchFamily="34" charset="-120"/>
              </a:rPr>
              <a:t>Offline</a:t>
            </a:r>
            <a:endParaRPr lang="en-US" sz="3000" dirty="0"/>
          </a:p>
        </p:txBody>
      </p:sp>
      <p:sp>
        <p:nvSpPr>
          <p:cNvPr id="28" name="Text 21"/>
          <p:cNvSpPr/>
          <p:nvPr/>
        </p:nvSpPr>
        <p:spPr>
          <a:xfrm>
            <a:off x="5547208" y="4846320"/>
            <a:ext cx="2194560" cy="548640"/>
          </a:xfrm>
          <a:prstGeom prst="rect">
            <a:avLst/>
          </a:prstGeom>
          <a:noFill/>
          <a:ln/>
        </p:spPr>
        <p:txBody>
          <a:bodyPr wrap="square" lIns="0" tIns="0" rIns="0" bIns="0" rtlCol="0" anchor="t"/>
          <a:lstStyle/>
          <a:p>
            <a:pPr indent="0" marL="0">
              <a:buNone/>
            </a:pPr>
            <a:r>
              <a:rPr lang="en-US" sz="1250" dirty="0">
                <a:solidFill>
                  <a:srgbClr val="6B7280"/>
                </a:solidFill>
                <a:latin typeface="Calibri" pitchFamily="34" charset="0"/>
                <a:ea typeface="Calibri" pitchFamily="34" charset="-122"/>
                <a:cs typeface="Calibri" pitchFamily="34" charset="-120"/>
              </a:rPr>
              <a:t>Background sync</a:t>
            </a:r>
            <a:endParaRPr lang="en-US" sz="1250" dirty="0"/>
          </a:p>
        </p:txBody>
      </p:sp>
      <p:sp>
        <p:nvSpPr>
          <p:cNvPr id="29" name="Shape 22"/>
          <p:cNvSpPr/>
          <p:nvPr/>
        </p:nvSpPr>
        <p:spPr>
          <a:xfrm>
            <a:off x="8061808" y="3913632"/>
            <a:ext cx="3566160" cy="1783080"/>
          </a:xfrm>
          <a:prstGeom prst="roundRect">
            <a:avLst>
              <a:gd name="adj" fmla="val 4615"/>
            </a:avLst>
          </a:prstGeom>
          <a:solidFill>
            <a:srgbClr val="FFFFFF"/>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30" name="Shape 23"/>
          <p:cNvSpPr/>
          <p:nvPr/>
        </p:nvSpPr>
        <p:spPr>
          <a:xfrm>
            <a:off x="8336128" y="4416552"/>
            <a:ext cx="777240" cy="777240"/>
          </a:xfrm>
          <a:prstGeom prst="ellipse">
            <a:avLst/>
          </a:prstGeom>
          <a:solidFill>
            <a:srgbClr val="1F7A3D"/>
          </a:solidFill>
          <a:ln/>
        </p:spPr>
      </p:sp>
      <p:pic>
        <p:nvPicPr>
          <p:cNvPr id="31" name="Image 5" descr="preencoded.png">    </p:cNvPr>
          <p:cNvPicPr>
            <a:picLocks noChangeAspect="1"/>
          </p:cNvPicPr>
          <p:nvPr/>
        </p:nvPicPr>
        <p:blipFill>
          <a:blip r:embed="rId6"/>
          <a:stretch>
            <a:fillRect/>
          </a:stretch>
        </p:blipFill>
        <p:spPr>
          <a:xfrm>
            <a:off x="8546440" y="4626864"/>
            <a:ext cx="356616" cy="356616"/>
          </a:xfrm>
          <a:prstGeom prst="rect">
            <a:avLst/>
          </a:prstGeom>
        </p:spPr>
      </p:pic>
      <p:sp>
        <p:nvSpPr>
          <p:cNvPr id="32" name="Text 24"/>
          <p:cNvSpPr/>
          <p:nvPr/>
        </p:nvSpPr>
        <p:spPr>
          <a:xfrm>
            <a:off x="9296248" y="4169664"/>
            <a:ext cx="2194560" cy="594360"/>
          </a:xfrm>
          <a:prstGeom prst="rect">
            <a:avLst/>
          </a:prstGeom>
          <a:noFill/>
          <a:ln/>
        </p:spPr>
        <p:txBody>
          <a:bodyPr wrap="square" lIns="0" tIns="0" rIns="0" bIns="0" rtlCol="0" anchor="ctr"/>
          <a:lstStyle/>
          <a:p>
            <a:pPr indent="0" marL="0">
              <a:buNone/>
            </a:pPr>
            <a:r>
              <a:rPr lang="en-US" sz="3000" b="1" dirty="0">
                <a:solidFill>
                  <a:srgbClr val="1F7A3D"/>
                </a:solidFill>
                <a:latin typeface="Cambria" pitchFamily="34" charset="0"/>
                <a:ea typeface="Cambria" pitchFamily="34" charset="-122"/>
                <a:cs typeface="Cambria" pitchFamily="34" charset="-120"/>
              </a:rPr>
              <a:t>CI/CD</a:t>
            </a:r>
            <a:endParaRPr lang="en-US" sz="3000" dirty="0"/>
          </a:p>
        </p:txBody>
      </p:sp>
      <p:sp>
        <p:nvSpPr>
          <p:cNvPr id="33" name="Text 25"/>
          <p:cNvSpPr/>
          <p:nvPr/>
        </p:nvSpPr>
        <p:spPr>
          <a:xfrm>
            <a:off x="9296248" y="4846320"/>
            <a:ext cx="2194560" cy="548640"/>
          </a:xfrm>
          <a:prstGeom prst="rect">
            <a:avLst/>
          </a:prstGeom>
          <a:noFill/>
          <a:ln/>
        </p:spPr>
        <p:txBody>
          <a:bodyPr wrap="square" lIns="0" tIns="0" rIns="0" bIns="0" rtlCol="0" anchor="t"/>
          <a:lstStyle/>
          <a:p>
            <a:pPr indent="0" marL="0">
              <a:buNone/>
            </a:pPr>
            <a:r>
              <a:rPr lang="en-US" sz="1250" dirty="0">
                <a:solidFill>
                  <a:srgbClr val="6B7280"/>
                </a:solidFill>
                <a:latin typeface="Calibri" pitchFamily="34" charset="0"/>
                <a:ea typeface="Calibri" pitchFamily="34" charset="-122"/>
                <a:cs typeface="Calibri" pitchFamily="34" charset="-120"/>
              </a:rPr>
              <a:t>Automated pipeline</a:t>
            </a:r>
            <a:endParaRPr lang="en-US" sz="1250" dirty="0"/>
          </a:p>
        </p:txBody>
      </p:sp>
      <p:sp>
        <p:nvSpPr>
          <p:cNvPr id="34" name="Shape 26"/>
          <p:cNvSpPr/>
          <p:nvPr/>
        </p:nvSpPr>
        <p:spPr>
          <a:xfrm>
            <a:off x="563728" y="5806440"/>
            <a:ext cx="11064240" cy="502920"/>
          </a:xfrm>
          <a:prstGeom prst="roundRect">
            <a:avLst>
              <a:gd name="adj" fmla="val 14545"/>
            </a:avLst>
          </a:prstGeom>
          <a:solidFill>
            <a:srgbClr val="E8F3EC"/>
          </a:solidFill>
          <a:ln/>
        </p:spPr>
      </p:sp>
      <p:pic>
        <p:nvPicPr>
          <p:cNvPr id="35" name="Image 6" descr="preencoded.png">    </p:cNvPr>
          <p:cNvPicPr>
            <a:picLocks noChangeAspect="1"/>
          </p:cNvPicPr>
          <p:nvPr/>
        </p:nvPicPr>
        <p:blipFill>
          <a:blip r:embed="rId7"/>
          <a:stretch>
            <a:fillRect/>
          </a:stretch>
        </p:blipFill>
        <p:spPr>
          <a:xfrm>
            <a:off x="792328" y="5916168"/>
            <a:ext cx="274320" cy="274320"/>
          </a:xfrm>
          <a:prstGeom prst="rect">
            <a:avLst/>
          </a:prstGeom>
        </p:spPr>
      </p:pic>
      <p:sp>
        <p:nvSpPr>
          <p:cNvPr id="36" name="Text 27"/>
          <p:cNvSpPr/>
          <p:nvPr/>
        </p:nvSpPr>
        <p:spPr>
          <a:xfrm>
            <a:off x="1203808" y="5806440"/>
            <a:ext cx="9784080" cy="502920"/>
          </a:xfrm>
          <a:prstGeom prst="rect">
            <a:avLst/>
          </a:prstGeom>
          <a:noFill/>
          <a:ln/>
        </p:spPr>
        <p:txBody>
          <a:bodyPr wrap="square" lIns="0" tIns="0" rIns="0" bIns="0" rtlCol="0" anchor="ctr"/>
          <a:lstStyle/>
          <a:p>
            <a:pPr indent="0" marL="0">
              <a:buNone/>
            </a:pPr>
            <a:r>
              <a:rPr lang="en-US" sz="1250" i="1" dirty="0">
                <a:solidFill>
                  <a:srgbClr val="123D22"/>
                </a:solidFill>
                <a:latin typeface="Calibri" pitchFamily="34" charset="0"/>
                <a:ea typeface="Calibri" pitchFamily="34" charset="-122"/>
                <a:cs typeface="Calibri" pitchFamily="34" charset="-120"/>
              </a:rPr>
              <a:t>Complete documentation set — OpenAPI, Postman, UML, deployment guides and user/admin manuals.</a:t>
            </a:r>
            <a:endParaRPr lang="en-US" sz="1250" dirty="0"/>
          </a:p>
        </p:txBody>
      </p:sp>
      <p:sp>
        <p:nvSpPr>
          <p:cNvPr id="37" name="Text 28"/>
          <p:cNvSpPr/>
          <p:nvPr/>
        </p:nvSpPr>
        <p:spPr>
          <a:xfrm>
            <a:off x="548640" y="6510528"/>
            <a:ext cx="54864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Digital Gram Panchayat  ·  v1.0.0</a:t>
            </a:r>
            <a:endParaRPr lang="en-US" sz="900" dirty="0"/>
          </a:p>
        </p:txBody>
      </p:sp>
      <p:sp>
        <p:nvSpPr>
          <p:cNvPr id="38" name="Text 29"/>
          <p:cNvSpPr/>
          <p:nvPr/>
        </p:nvSpPr>
        <p:spPr>
          <a:xfrm>
            <a:off x="11338560" y="6510528"/>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8229600" cy="274320"/>
          </a:xfrm>
          <a:prstGeom prst="rect">
            <a:avLst/>
          </a:prstGeom>
          <a:noFill/>
          <a:ln/>
        </p:spPr>
        <p:txBody>
          <a:bodyPr wrap="square" lIns="0" tIns="0" rIns="0" bIns="0" rtlCol="0" anchor="ctr"/>
          <a:lstStyle/>
          <a:p>
            <a:pPr algn="l" indent="0" marL="0">
              <a:buNone/>
            </a:pPr>
            <a:r>
              <a:rPr lang="en-US" sz="1200" b="1" spc="300" kern="0" dirty="0">
                <a:solidFill>
                  <a:srgbClr val="1F7A3D"/>
                </a:solidFill>
                <a:latin typeface="Calibri" pitchFamily="34" charset="0"/>
                <a:ea typeface="Calibri" pitchFamily="34" charset="-122"/>
                <a:cs typeface="Calibri" pitchFamily="34" charset="-120"/>
              </a:rPr>
              <a:t>PHASE 2</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algn="l" indent="0" marL="0">
              <a:buNone/>
            </a:pPr>
            <a:r>
              <a:rPr lang="en-US" sz="3000" b="1" dirty="0">
                <a:solidFill>
                  <a:srgbClr val="1F2937"/>
                </a:solidFill>
                <a:latin typeface="Cambria" pitchFamily="34" charset="0"/>
                <a:ea typeface="Cambria" pitchFamily="34" charset="-122"/>
                <a:cs typeface="Cambria" pitchFamily="34" charset="-120"/>
              </a:rPr>
              <a:t>Future Scope</a:t>
            </a:r>
            <a:endParaRPr lang="en-US" sz="3000" dirty="0"/>
          </a:p>
        </p:txBody>
      </p:sp>
      <p:sp>
        <p:nvSpPr>
          <p:cNvPr id="4" name="Text 2"/>
          <p:cNvSpPr/>
          <p:nvPr/>
        </p:nvSpPr>
        <p:spPr>
          <a:xfrm>
            <a:off x="566928" y="1417320"/>
            <a:ext cx="10972800" cy="457200"/>
          </a:xfrm>
          <a:prstGeom prst="rect">
            <a:avLst/>
          </a:prstGeom>
          <a:noFill/>
          <a:ln/>
        </p:spPr>
        <p:txBody>
          <a:bodyPr wrap="square" lIns="0" tIns="0" rIns="0" bIns="0" rtlCol="0" anchor="ctr"/>
          <a:lstStyle/>
          <a:p>
            <a:pPr indent="0" marL="0">
              <a:buNone/>
            </a:pPr>
            <a:r>
              <a:rPr lang="en-US" sz="1500" dirty="0">
                <a:solidFill>
                  <a:srgbClr val="6B7280"/>
                </a:solidFill>
                <a:latin typeface="Calibri" pitchFamily="34" charset="0"/>
                <a:ea typeface="Calibri" pitchFamily="34" charset="-122"/>
                <a:cs typeface="Calibri" pitchFamily="34" charset="-120"/>
              </a:rPr>
              <a:t>The architecture already leaves clean seams for these enhancements — none require a redesign.</a:t>
            </a:r>
            <a:endParaRPr lang="en-US" sz="1500" dirty="0"/>
          </a:p>
        </p:txBody>
      </p:sp>
      <p:sp>
        <p:nvSpPr>
          <p:cNvPr id="5" name="Shape 3"/>
          <p:cNvSpPr/>
          <p:nvPr/>
        </p:nvSpPr>
        <p:spPr>
          <a:xfrm>
            <a:off x="536296" y="2148840"/>
            <a:ext cx="2670048" cy="1783080"/>
          </a:xfrm>
          <a:prstGeom prst="roundRect">
            <a:avLst>
              <a:gd name="adj" fmla="val 4615"/>
            </a:avLst>
          </a:prstGeom>
          <a:solidFill>
            <a:srgbClr val="F3F9F5"/>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6" name="Shape 4"/>
          <p:cNvSpPr/>
          <p:nvPr/>
        </p:nvSpPr>
        <p:spPr>
          <a:xfrm>
            <a:off x="792328" y="2404872"/>
            <a:ext cx="713232" cy="713232"/>
          </a:xfrm>
          <a:prstGeom prst="ellipse">
            <a:avLst/>
          </a:prstGeom>
          <a:solidFill>
            <a:srgbClr val="2E9E5B"/>
          </a:solidFill>
          <a:ln/>
        </p:spPr>
      </p:sp>
      <p:pic>
        <p:nvPicPr>
          <p:cNvPr id="7" name="Image 0" descr="preencoded.png">    </p:cNvPr>
          <p:cNvPicPr>
            <a:picLocks noChangeAspect="1"/>
          </p:cNvPicPr>
          <p:nvPr/>
        </p:nvPicPr>
        <p:blipFill>
          <a:blip r:embed="rId1"/>
          <a:stretch>
            <a:fillRect/>
          </a:stretch>
        </p:blipFill>
        <p:spPr>
          <a:xfrm>
            <a:off x="975208" y="2587752"/>
            <a:ext cx="347472" cy="347472"/>
          </a:xfrm>
          <a:prstGeom prst="rect">
            <a:avLst/>
          </a:prstGeom>
        </p:spPr>
      </p:pic>
      <p:sp>
        <p:nvSpPr>
          <p:cNvPr id="8" name="Text 5"/>
          <p:cNvSpPr/>
          <p:nvPr/>
        </p:nvSpPr>
        <p:spPr>
          <a:xfrm>
            <a:off x="792328" y="3191256"/>
            <a:ext cx="2304288" cy="310896"/>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AI Chatbot</a:t>
            </a:r>
            <a:endParaRPr lang="en-US" sz="1400" dirty="0"/>
          </a:p>
        </p:txBody>
      </p:sp>
      <p:sp>
        <p:nvSpPr>
          <p:cNvPr id="9" name="Text 6"/>
          <p:cNvSpPr/>
          <p:nvPr/>
        </p:nvSpPr>
        <p:spPr>
          <a:xfrm>
            <a:off x="792328" y="3483864"/>
            <a:ext cx="2304288" cy="411480"/>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Guided help in English &amp; Marathi</a:t>
            </a:r>
            <a:endParaRPr lang="en-US" sz="1050" dirty="0"/>
          </a:p>
        </p:txBody>
      </p:sp>
      <p:sp>
        <p:nvSpPr>
          <p:cNvPr id="10" name="Shape 7"/>
          <p:cNvSpPr/>
          <p:nvPr/>
        </p:nvSpPr>
        <p:spPr>
          <a:xfrm>
            <a:off x="3352648" y="2148840"/>
            <a:ext cx="2670048" cy="1783080"/>
          </a:xfrm>
          <a:prstGeom prst="roundRect">
            <a:avLst>
              <a:gd name="adj" fmla="val 4615"/>
            </a:avLst>
          </a:prstGeom>
          <a:solidFill>
            <a:srgbClr val="F3F9F5"/>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11" name="Shape 8"/>
          <p:cNvSpPr/>
          <p:nvPr/>
        </p:nvSpPr>
        <p:spPr>
          <a:xfrm>
            <a:off x="3608680" y="2404872"/>
            <a:ext cx="713232" cy="713232"/>
          </a:xfrm>
          <a:prstGeom prst="ellipse">
            <a:avLst/>
          </a:prstGeom>
          <a:solidFill>
            <a:srgbClr val="2E9E5B"/>
          </a:solidFill>
          <a:ln/>
        </p:spPr>
      </p:sp>
      <p:pic>
        <p:nvPicPr>
          <p:cNvPr id="12" name="Image 1" descr="preencoded.png">    </p:cNvPr>
          <p:cNvPicPr>
            <a:picLocks noChangeAspect="1"/>
          </p:cNvPicPr>
          <p:nvPr/>
        </p:nvPicPr>
        <p:blipFill>
          <a:blip r:embed="rId2"/>
          <a:stretch>
            <a:fillRect/>
          </a:stretch>
        </p:blipFill>
        <p:spPr>
          <a:xfrm>
            <a:off x="3791560" y="2587752"/>
            <a:ext cx="347472" cy="347472"/>
          </a:xfrm>
          <a:prstGeom prst="rect">
            <a:avLst/>
          </a:prstGeom>
        </p:spPr>
      </p:pic>
      <p:sp>
        <p:nvSpPr>
          <p:cNvPr id="13" name="Text 9"/>
          <p:cNvSpPr/>
          <p:nvPr/>
        </p:nvSpPr>
        <p:spPr>
          <a:xfrm>
            <a:off x="3608680" y="3191256"/>
            <a:ext cx="2304288" cy="310896"/>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Online Payments</a:t>
            </a:r>
            <a:endParaRPr lang="en-US" sz="1400" dirty="0"/>
          </a:p>
        </p:txBody>
      </p:sp>
      <p:sp>
        <p:nvSpPr>
          <p:cNvPr id="14" name="Text 10"/>
          <p:cNvSpPr/>
          <p:nvPr/>
        </p:nvSpPr>
        <p:spPr>
          <a:xfrm>
            <a:off x="3608680" y="3483864"/>
            <a:ext cx="2304288" cy="411480"/>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Pay tax dues via UPI / cards</a:t>
            </a:r>
            <a:endParaRPr lang="en-US" sz="1050" dirty="0"/>
          </a:p>
        </p:txBody>
      </p:sp>
      <p:sp>
        <p:nvSpPr>
          <p:cNvPr id="15" name="Shape 11"/>
          <p:cNvSpPr/>
          <p:nvPr/>
        </p:nvSpPr>
        <p:spPr>
          <a:xfrm>
            <a:off x="6169000" y="2148840"/>
            <a:ext cx="2670048" cy="1783080"/>
          </a:xfrm>
          <a:prstGeom prst="roundRect">
            <a:avLst>
              <a:gd name="adj" fmla="val 4615"/>
            </a:avLst>
          </a:prstGeom>
          <a:solidFill>
            <a:srgbClr val="F3F9F5"/>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16" name="Shape 12"/>
          <p:cNvSpPr/>
          <p:nvPr/>
        </p:nvSpPr>
        <p:spPr>
          <a:xfrm>
            <a:off x="6425032" y="2404872"/>
            <a:ext cx="713232" cy="713232"/>
          </a:xfrm>
          <a:prstGeom prst="ellipse">
            <a:avLst/>
          </a:prstGeom>
          <a:solidFill>
            <a:srgbClr val="2E9E5B"/>
          </a:solidFill>
          <a:ln/>
        </p:spPr>
      </p:sp>
      <p:pic>
        <p:nvPicPr>
          <p:cNvPr id="17" name="Image 2" descr="preencoded.png">    </p:cNvPr>
          <p:cNvPicPr>
            <a:picLocks noChangeAspect="1"/>
          </p:cNvPicPr>
          <p:nvPr/>
        </p:nvPicPr>
        <p:blipFill>
          <a:blip r:embed="rId3"/>
          <a:stretch>
            <a:fillRect/>
          </a:stretch>
        </p:blipFill>
        <p:spPr>
          <a:xfrm>
            <a:off x="6607912" y="2587752"/>
            <a:ext cx="347472" cy="347472"/>
          </a:xfrm>
          <a:prstGeom prst="rect">
            <a:avLst/>
          </a:prstGeom>
        </p:spPr>
      </p:pic>
      <p:sp>
        <p:nvSpPr>
          <p:cNvPr id="18" name="Text 13"/>
          <p:cNvSpPr/>
          <p:nvPr/>
        </p:nvSpPr>
        <p:spPr>
          <a:xfrm>
            <a:off x="6425032" y="3191256"/>
            <a:ext cx="2304288" cy="310896"/>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WhatsApp Alerts</a:t>
            </a:r>
            <a:endParaRPr lang="en-US" sz="1400" dirty="0"/>
          </a:p>
        </p:txBody>
      </p:sp>
      <p:sp>
        <p:nvSpPr>
          <p:cNvPr id="19" name="Text 14"/>
          <p:cNvSpPr/>
          <p:nvPr/>
        </p:nvSpPr>
        <p:spPr>
          <a:xfrm>
            <a:off x="6425032" y="3483864"/>
            <a:ext cx="2304288" cy="411480"/>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Reach citizens where they are</a:t>
            </a:r>
            <a:endParaRPr lang="en-US" sz="1050" dirty="0"/>
          </a:p>
        </p:txBody>
      </p:sp>
      <p:sp>
        <p:nvSpPr>
          <p:cNvPr id="20" name="Shape 15"/>
          <p:cNvSpPr/>
          <p:nvPr/>
        </p:nvSpPr>
        <p:spPr>
          <a:xfrm>
            <a:off x="8985352" y="2148840"/>
            <a:ext cx="2670048" cy="1783080"/>
          </a:xfrm>
          <a:prstGeom prst="roundRect">
            <a:avLst>
              <a:gd name="adj" fmla="val 4615"/>
            </a:avLst>
          </a:prstGeom>
          <a:solidFill>
            <a:srgbClr val="F3F9F5"/>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21" name="Shape 16"/>
          <p:cNvSpPr/>
          <p:nvPr/>
        </p:nvSpPr>
        <p:spPr>
          <a:xfrm>
            <a:off x="9241384" y="2404872"/>
            <a:ext cx="713232" cy="713232"/>
          </a:xfrm>
          <a:prstGeom prst="ellipse">
            <a:avLst/>
          </a:prstGeom>
          <a:solidFill>
            <a:srgbClr val="2E9E5B"/>
          </a:solidFill>
          <a:ln/>
        </p:spPr>
      </p:sp>
      <p:pic>
        <p:nvPicPr>
          <p:cNvPr id="22" name="Image 3" descr="preencoded.png">    </p:cNvPr>
          <p:cNvPicPr>
            <a:picLocks noChangeAspect="1"/>
          </p:cNvPicPr>
          <p:nvPr/>
        </p:nvPicPr>
        <p:blipFill>
          <a:blip r:embed="rId4"/>
          <a:stretch>
            <a:fillRect/>
          </a:stretch>
        </p:blipFill>
        <p:spPr>
          <a:xfrm>
            <a:off x="9424264" y="2587752"/>
            <a:ext cx="347472" cy="347472"/>
          </a:xfrm>
          <a:prstGeom prst="rect">
            <a:avLst/>
          </a:prstGeom>
        </p:spPr>
      </p:pic>
      <p:sp>
        <p:nvSpPr>
          <p:cNvPr id="23" name="Text 17"/>
          <p:cNvSpPr/>
          <p:nvPr/>
        </p:nvSpPr>
        <p:spPr>
          <a:xfrm>
            <a:off x="9241384" y="3191256"/>
            <a:ext cx="2304288" cy="310896"/>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Push Notifications</a:t>
            </a:r>
            <a:endParaRPr lang="en-US" sz="1400" dirty="0"/>
          </a:p>
        </p:txBody>
      </p:sp>
      <p:sp>
        <p:nvSpPr>
          <p:cNvPr id="24" name="Text 18"/>
          <p:cNvSpPr/>
          <p:nvPr/>
        </p:nvSpPr>
        <p:spPr>
          <a:xfrm>
            <a:off x="9241384" y="3483864"/>
            <a:ext cx="2304288" cy="411480"/>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Web push to the installed PWA</a:t>
            </a:r>
            <a:endParaRPr lang="en-US" sz="1050" dirty="0"/>
          </a:p>
        </p:txBody>
      </p:sp>
      <p:sp>
        <p:nvSpPr>
          <p:cNvPr id="25" name="Shape 19"/>
          <p:cNvSpPr/>
          <p:nvPr/>
        </p:nvSpPr>
        <p:spPr>
          <a:xfrm>
            <a:off x="536296" y="4151376"/>
            <a:ext cx="2670048" cy="1783080"/>
          </a:xfrm>
          <a:prstGeom prst="roundRect">
            <a:avLst>
              <a:gd name="adj" fmla="val 4615"/>
            </a:avLst>
          </a:prstGeom>
          <a:solidFill>
            <a:srgbClr val="F3F9F5"/>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26" name="Shape 20"/>
          <p:cNvSpPr/>
          <p:nvPr/>
        </p:nvSpPr>
        <p:spPr>
          <a:xfrm>
            <a:off x="792328" y="4407408"/>
            <a:ext cx="713232" cy="713232"/>
          </a:xfrm>
          <a:prstGeom prst="ellipse">
            <a:avLst/>
          </a:prstGeom>
          <a:solidFill>
            <a:srgbClr val="2E9E5B"/>
          </a:solidFill>
          <a:ln/>
        </p:spPr>
      </p:sp>
      <p:pic>
        <p:nvPicPr>
          <p:cNvPr id="27" name="Image 4" descr="preencoded.png">    </p:cNvPr>
          <p:cNvPicPr>
            <a:picLocks noChangeAspect="1"/>
          </p:cNvPicPr>
          <p:nvPr/>
        </p:nvPicPr>
        <p:blipFill>
          <a:blip r:embed="rId5"/>
          <a:stretch>
            <a:fillRect/>
          </a:stretch>
        </p:blipFill>
        <p:spPr>
          <a:xfrm>
            <a:off x="975208" y="4590288"/>
            <a:ext cx="347472" cy="347472"/>
          </a:xfrm>
          <a:prstGeom prst="rect">
            <a:avLst/>
          </a:prstGeom>
        </p:spPr>
      </p:pic>
      <p:sp>
        <p:nvSpPr>
          <p:cNvPr id="28" name="Text 21"/>
          <p:cNvSpPr/>
          <p:nvPr/>
        </p:nvSpPr>
        <p:spPr>
          <a:xfrm>
            <a:off x="792328" y="5193792"/>
            <a:ext cx="2304288" cy="310896"/>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Real-time Chat</a:t>
            </a:r>
            <a:endParaRPr lang="en-US" sz="1400" dirty="0"/>
          </a:p>
        </p:txBody>
      </p:sp>
      <p:sp>
        <p:nvSpPr>
          <p:cNvPr id="29" name="Text 22"/>
          <p:cNvSpPr/>
          <p:nvPr/>
        </p:nvSpPr>
        <p:spPr>
          <a:xfrm>
            <a:off x="792328" y="5486400"/>
            <a:ext cx="2304288" cy="411480"/>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Two-way citizen–officer messaging</a:t>
            </a:r>
            <a:endParaRPr lang="en-US" sz="1050" dirty="0"/>
          </a:p>
        </p:txBody>
      </p:sp>
      <p:sp>
        <p:nvSpPr>
          <p:cNvPr id="30" name="Shape 23"/>
          <p:cNvSpPr/>
          <p:nvPr/>
        </p:nvSpPr>
        <p:spPr>
          <a:xfrm>
            <a:off x="3352648" y="4151376"/>
            <a:ext cx="2670048" cy="1783080"/>
          </a:xfrm>
          <a:prstGeom prst="roundRect">
            <a:avLst>
              <a:gd name="adj" fmla="val 4615"/>
            </a:avLst>
          </a:prstGeom>
          <a:solidFill>
            <a:srgbClr val="F3F9F5"/>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31" name="Shape 24"/>
          <p:cNvSpPr/>
          <p:nvPr/>
        </p:nvSpPr>
        <p:spPr>
          <a:xfrm>
            <a:off x="3608680" y="4407408"/>
            <a:ext cx="713232" cy="713232"/>
          </a:xfrm>
          <a:prstGeom prst="ellipse">
            <a:avLst/>
          </a:prstGeom>
          <a:solidFill>
            <a:srgbClr val="2E9E5B"/>
          </a:solidFill>
          <a:ln/>
        </p:spPr>
      </p:sp>
      <p:pic>
        <p:nvPicPr>
          <p:cNvPr id="32" name="Image 5" descr="preencoded.png">    </p:cNvPr>
          <p:cNvPicPr>
            <a:picLocks noChangeAspect="1"/>
          </p:cNvPicPr>
          <p:nvPr/>
        </p:nvPicPr>
        <p:blipFill>
          <a:blip r:embed="rId6"/>
          <a:stretch>
            <a:fillRect/>
          </a:stretch>
        </p:blipFill>
        <p:spPr>
          <a:xfrm>
            <a:off x="3791560" y="4590288"/>
            <a:ext cx="347472" cy="347472"/>
          </a:xfrm>
          <a:prstGeom prst="rect">
            <a:avLst/>
          </a:prstGeom>
        </p:spPr>
      </p:pic>
      <p:sp>
        <p:nvSpPr>
          <p:cNvPr id="33" name="Text 25"/>
          <p:cNvSpPr/>
          <p:nvPr/>
        </p:nvSpPr>
        <p:spPr>
          <a:xfrm>
            <a:off x="3608680" y="5193792"/>
            <a:ext cx="2304288" cy="310896"/>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Multi-Panchayat</a:t>
            </a:r>
            <a:endParaRPr lang="en-US" sz="1400" dirty="0"/>
          </a:p>
        </p:txBody>
      </p:sp>
      <p:sp>
        <p:nvSpPr>
          <p:cNvPr id="34" name="Text 26"/>
          <p:cNvSpPr/>
          <p:nvPr/>
        </p:nvSpPr>
        <p:spPr>
          <a:xfrm>
            <a:off x="3608680" y="5486400"/>
            <a:ext cx="2304288" cy="411480"/>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One platform, many villages</a:t>
            </a:r>
            <a:endParaRPr lang="en-US" sz="1050" dirty="0"/>
          </a:p>
        </p:txBody>
      </p:sp>
      <p:sp>
        <p:nvSpPr>
          <p:cNvPr id="35" name="Shape 27"/>
          <p:cNvSpPr/>
          <p:nvPr/>
        </p:nvSpPr>
        <p:spPr>
          <a:xfrm>
            <a:off x="6169000" y="4151376"/>
            <a:ext cx="2670048" cy="1783080"/>
          </a:xfrm>
          <a:prstGeom prst="roundRect">
            <a:avLst>
              <a:gd name="adj" fmla="val 4615"/>
            </a:avLst>
          </a:prstGeom>
          <a:solidFill>
            <a:srgbClr val="F3F9F5"/>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36" name="Shape 28"/>
          <p:cNvSpPr/>
          <p:nvPr/>
        </p:nvSpPr>
        <p:spPr>
          <a:xfrm>
            <a:off x="6425032" y="4407408"/>
            <a:ext cx="713232" cy="713232"/>
          </a:xfrm>
          <a:prstGeom prst="ellipse">
            <a:avLst/>
          </a:prstGeom>
          <a:solidFill>
            <a:srgbClr val="2E9E5B"/>
          </a:solidFill>
          <a:ln/>
        </p:spPr>
      </p:sp>
      <p:pic>
        <p:nvPicPr>
          <p:cNvPr id="37" name="Image 6" descr="preencoded.png">    </p:cNvPr>
          <p:cNvPicPr>
            <a:picLocks noChangeAspect="1"/>
          </p:cNvPicPr>
          <p:nvPr/>
        </p:nvPicPr>
        <p:blipFill>
          <a:blip r:embed="rId7"/>
          <a:stretch>
            <a:fillRect/>
          </a:stretch>
        </p:blipFill>
        <p:spPr>
          <a:xfrm>
            <a:off x="6607912" y="4590288"/>
            <a:ext cx="347472" cy="347472"/>
          </a:xfrm>
          <a:prstGeom prst="rect">
            <a:avLst/>
          </a:prstGeom>
        </p:spPr>
      </p:pic>
      <p:sp>
        <p:nvSpPr>
          <p:cNvPr id="38" name="Text 29"/>
          <p:cNvSpPr/>
          <p:nvPr/>
        </p:nvSpPr>
        <p:spPr>
          <a:xfrm>
            <a:off x="6425032" y="5193792"/>
            <a:ext cx="2304288" cy="310896"/>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Analytics</a:t>
            </a:r>
            <a:endParaRPr lang="en-US" sz="1400" dirty="0"/>
          </a:p>
        </p:txBody>
      </p:sp>
      <p:sp>
        <p:nvSpPr>
          <p:cNvPr id="39" name="Text 30"/>
          <p:cNvSpPr/>
          <p:nvPr/>
        </p:nvSpPr>
        <p:spPr>
          <a:xfrm>
            <a:off x="6425032" y="5486400"/>
            <a:ext cx="2304288" cy="411480"/>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Resolution times &amp; scheme uptake</a:t>
            </a:r>
            <a:endParaRPr lang="en-US" sz="1050" dirty="0"/>
          </a:p>
        </p:txBody>
      </p:sp>
      <p:sp>
        <p:nvSpPr>
          <p:cNvPr id="40" name="Shape 31"/>
          <p:cNvSpPr/>
          <p:nvPr/>
        </p:nvSpPr>
        <p:spPr>
          <a:xfrm>
            <a:off x="8985352" y="4151376"/>
            <a:ext cx="2670048" cy="1783080"/>
          </a:xfrm>
          <a:prstGeom prst="roundRect">
            <a:avLst>
              <a:gd name="adj" fmla="val 4615"/>
            </a:avLst>
          </a:prstGeom>
          <a:solidFill>
            <a:srgbClr val="F3F9F5"/>
          </a:solidFill>
          <a:ln w="12700">
            <a:solidFill>
              <a:srgbClr val="DCE9E1"/>
            </a:solidFill>
            <a:prstDash val="solid"/>
          </a:ln>
          <a:effectLst>
            <a:outerShdw sx="100000" sy="100000" kx="0" ky="0" algn="bl" rotWithShape="0" blurRad="101600" dist="38100" dir="5400000">
              <a:srgbClr val="9DB4A6">
                <a:alpha val="35000"/>
              </a:srgbClr>
            </a:outerShdw>
          </a:effectLst>
        </p:spPr>
      </p:sp>
      <p:sp>
        <p:nvSpPr>
          <p:cNvPr id="41" name="Shape 32"/>
          <p:cNvSpPr/>
          <p:nvPr/>
        </p:nvSpPr>
        <p:spPr>
          <a:xfrm>
            <a:off x="9241384" y="4407408"/>
            <a:ext cx="713232" cy="713232"/>
          </a:xfrm>
          <a:prstGeom prst="ellipse">
            <a:avLst/>
          </a:prstGeom>
          <a:solidFill>
            <a:srgbClr val="2E9E5B"/>
          </a:solidFill>
          <a:ln/>
        </p:spPr>
      </p:sp>
      <p:pic>
        <p:nvPicPr>
          <p:cNvPr id="42" name="Image 7" descr="preencoded.png">    </p:cNvPr>
          <p:cNvPicPr>
            <a:picLocks noChangeAspect="1"/>
          </p:cNvPicPr>
          <p:nvPr/>
        </p:nvPicPr>
        <p:blipFill>
          <a:blip r:embed="rId8"/>
          <a:stretch>
            <a:fillRect/>
          </a:stretch>
        </p:blipFill>
        <p:spPr>
          <a:xfrm>
            <a:off x="9424264" y="4590288"/>
            <a:ext cx="347472" cy="347472"/>
          </a:xfrm>
          <a:prstGeom prst="rect">
            <a:avLst/>
          </a:prstGeom>
        </p:spPr>
      </p:pic>
      <p:sp>
        <p:nvSpPr>
          <p:cNvPr id="43" name="Text 33"/>
          <p:cNvSpPr/>
          <p:nvPr/>
        </p:nvSpPr>
        <p:spPr>
          <a:xfrm>
            <a:off x="9241384" y="5193792"/>
            <a:ext cx="2304288" cy="310896"/>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QR Verification</a:t>
            </a:r>
            <a:endParaRPr lang="en-US" sz="1400" dirty="0"/>
          </a:p>
        </p:txBody>
      </p:sp>
      <p:sp>
        <p:nvSpPr>
          <p:cNvPr id="44" name="Text 34"/>
          <p:cNvSpPr/>
          <p:nvPr/>
        </p:nvSpPr>
        <p:spPr>
          <a:xfrm>
            <a:off x="9241384" y="5486400"/>
            <a:ext cx="2304288" cy="411480"/>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Instantly verify issued certificates</a:t>
            </a:r>
            <a:endParaRPr lang="en-US" sz="1050" dirty="0"/>
          </a:p>
        </p:txBody>
      </p:sp>
      <p:sp>
        <p:nvSpPr>
          <p:cNvPr id="45" name="Text 35"/>
          <p:cNvSpPr/>
          <p:nvPr/>
        </p:nvSpPr>
        <p:spPr>
          <a:xfrm>
            <a:off x="548640" y="6510528"/>
            <a:ext cx="54864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Digital Gram Panchayat  ·  v1.0.0</a:t>
            </a:r>
            <a:endParaRPr lang="en-US" sz="900" dirty="0"/>
          </a:p>
        </p:txBody>
      </p:sp>
      <p:sp>
        <p:nvSpPr>
          <p:cNvPr id="46" name="Text 36"/>
          <p:cNvSpPr/>
          <p:nvPr/>
        </p:nvSpPr>
        <p:spPr>
          <a:xfrm>
            <a:off x="11338560" y="6510528"/>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23D22"/>
        </a:solidFill>
      </p:bgPr>
    </p:bg>
    <p:spTree>
      <p:nvGrpSpPr>
        <p:cNvPr id="1" name=""/>
        <p:cNvGrpSpPr/>
        <p:nvPr/>
      </p:nvGrpSpPr>
      <p:grpSpPr>
        <a:xfrm>
          <a:off x="0" y="0"/>
          <a:ext cx="0" cy="0"/>
          <a:chOff x="0" y="0"/>
          <a:chExt cx="0" cy="0"/>
        </a:xfrm>
      </p:grpSpPr>
      <p:sp>
        <p:nvSpPr>
          <p:cNvPr id="2" name="Shape 0"/>
          <p:cNvSpPr/>
          <p:nvPr/>
        </p:nvSpPr>
        <p:spPr>
          <a:xfrm>
            <a:off x="-1645920" y="3840480"/>
            <a:ext cx="5486400" cy="5486400"/>
          </a:xfrm>
          <a:prstGeom prst="ellipse">
            <a:avLst/>
          </a:prstGeom>
          <a:solidFill>
            <a:srgbClr val="2E9E5B">
              <a:alpha val="16000"/>
            </a:srgbClr>
          </a:solidFill>
          <a:ln/>
        </p:spPr>
      </p:sp>
      <p:sp>
        <p:nvSpPr>
          <p:cNvPr id="3" name="Shape 1"/>
          <p:cNvSpPr/>
          <p:nvPr/>
        </p:nvSpPr>
        <p:spPr>
          <a:xfrm>
            <a:off x="9692640" y="-1645920"/>
            <a:ext cx="5029200" cy="5029200"/>
          </a:xfrm>
          <a:prstGeom prst="ellipse">
            <a:avLst/>
          </a:prstGeom>
          <a:solidFill>
            <a:srgbClr val="1F7A3D">
              <a:alpha val="18000"/>
            </a:srgbClr>
          </a:solidFill>
          <a:ln/>
        </p:spPr>
      </p:sp>
      <p:sp>
        <p:nvSpPr>
          <p:cNvPr id="4" name="Text 2"/>
          <p:cNvSpPr/>
          <p:nvPr/>
        </p:nvSpPr>
        <p:spPr>
          <a:xfrm>
            <a:off x="731520" y="640080"/>
            <a:ext cx="8229600" cy="274320"/>
          </a:xfrm>
          <a:prstGeom prst="rect">
            <a:avLst/>
          </a:prstGeom>
          <a:noFill/>
          <a:ln/>
        </p:spPr>
        <p:txBody>
          <a:bodyPr wrap="square" lIns="0" tIns="0" rIns="0" bIns="0" rtlCol="0" anchor="ctr"/>
          <a:lstStyle/>
          <a:p>
            <a:pPr indent="0" marL="0">
              <a:buNone/>
            </a:pPr>
            <a:r>
              <a:rPr lang="en-US" sz="1200" b="1" spc="300" kern="0" dirty="0">
                <a:solidFill>
                  <a:srgbClr val="8FD0A6"/>
                </a:solidFill>
                <a:latin typeface="Calibri" pitchFamily="34" charset="0"/>
                <a:ea typeface="Calibri" pitchFamily="34" charset="-122"/>
                <a:cs typeface="Calibri" pitchFamily="34" charset="-120"/>
              </a:rPr>
              <a:t>IN SUMMARY</a:t>
            </a:r>
            <a:endParaRPr lang="en-US" sz="1200" dirty="0"/>
          </a:p>
        </p:txBody>
      </p:sp>
      <p:sp>
        <p:nvSpPr>
          <p:cNvPr id="5" name="Text 3"/>
          <p:cNvSpPr/>
          <p:nvPr/>
        </p:nvSpPr>
        <p:spPr>
          <a:xfrm>
            <a:off x="713232" y="932688"/>
            <a:ext cx="1005840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Conclusion</a:t>
            </a:r>
            <a:endParaRPr lang="en-US" sz="3400" dirty="0"/>
          </a:p>
        </p:txBody>
      </p:sp>
      <p:sp>
        <p:nvSpPr>
          <p:cNvPr id="6" name="Text 4"/>
          <p:cNvSpPr/>
          <p:nvPr/>
        </p:nvSpPr>
        <p:spPr>
          <a:xfrm>
            <a:off x="731520" y="1783080"/>
            <a:ext cx="10241280" cy="914400"/>
          </a:xfrm>
          <a:prstGeom prst="rect">
            <a:avLst/>
          </a:prstGeom>
          <a:noFill/>
          <a:ln/>
        </p:spPr>
        <p:txBody>
          <a:bodyPr wrap="square" lIns="0" tIns="0" rIns="0" bIns="0" rtlCol="0" anchor="t"/>
          <a:lstStyle/>
          <a:p>
            <a:pPr indent="0" marL="0">
              <a:buNone/>
            </a:pPr>
            <a:r>
              <a:rPr lang="en-US" sz="1700" dirty="0">
                <a:solidFill>
                  <a:srgbClr val="E4F3EA"/>
                </a:solidFill>
                <a:latin typeface="Calibri" pitchFamily="34" charset="0"/>
                <a:ea typeface="Calibri" pitchFamily="34" charset="-122"/>
                <a:cs typeface="Calibri" pitchFamily="34" charset="-120"/>
              </a:rPr>
              <a:t>Digital Gram Panchayat replaces paper, queues and guesswork with a single, transparent, offline-capable digital platform — production-ready and built to real engineering standards.</a:t>
            </a:r>
            <a:endParaRPr lang="en-US" sz="1700" dirty="0"/>
          </a:p>
        </p:txBody>
      </p:sp>
      <p:sp>
        <p:nvSpPr>
          <p:cNvPr id="7" name="Shape 5"/>
          <p:cNvSpPr/>
          <p:nvPr/>
        </p:nvSpPr>
        <p:spPr>
          <a:xfrm>
            <a:off x="731520" y="3063240"/>
            <a:ext cx="10744200" cy="914400"/>
          </a:xfrm>
          <a:prstGeom prst="roundRect">
            <a:avLst>
              <a:gd name="adj" fmla="val 9000"/>
            </a:avLst>
          </a:prstGeom>
          <a:solidFill>
            <a:srgbClr val="17492B"/>
          </a:solidFill>
          <a:ln w="12700">
            <a:solidFill>
              <a:srgbClr val="2E9E5B"/>
            </a:solidFill>
            <a:prstDash val="solid"/>
          </a:ln>
        </p:spPr>
      </p:sp>
      <p:sp>
        <p:nvSpPr>
          <p:cNvPr id="8" name="Shape 6"/>
          <p:cNvSpPr/>
          <p:nvPr/>
        </p:nvSpPr>
        <p:spPr>
          <a:xfrm>
            <a:off x="960120" y="3264408"/>
            <a:ext cx="512064" cy="512064"/>
          </a:xfrm>
          <a:prstGeom prst="ellipse">
            <a:avLst/>
          </a:prstGeom>
          <a:solidFill>
            <a:srgbClr val="2E9E5B"/>
          </a:solidFill>
          <a:ln/>
        </p:spPr>
      </p:sp>
      <p:pic>
        <p:nvPicPr>
          <p:cNvPr id="9" name="Image 0" descr="preencoded.png">    </p:cNvPr>
          <p:cNvPicPr>
            <a:picLocks noChangeAspect="1"/>
          </p:cNvPicPr>
          <p:nvPr/>
        </p:nvPicPr>
        <p:blipFill>
          <a:blip r:embed="rId1"/>
          <a:stretch>
            <a:fillRect/>
          </a:stretch>
        </p:blipFill>
        <p:spPr>
          <a:xfrm>
            <a:off x="1097280" y="3401568"/>
            <a:ext cx="237744" cy="237744"/>
          </a:xfrm>
          <a:prstGeom prst="rect">
            <a:avLst/>
          </a:prstGeom>
        </p:spPr>
      </p:pic>
      <p:sp>
        <p:nvSpPr>
          <p:cNvPr id="10" name="Text 7"/>
          <p:cNvSpPr/>
          <p:nvPr/>
        </p:nvSpPr>
        <p:spPr>
          <a:xfrm>
            <a:off x="1645920" y="3191256"/>
            <a:ext cx="2743200" cy="64008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For citizens</a:t>
            </a:r>
            <a:endParaRPr lang="en-US" sz="1550" dirty="0"/>
          </a:p>
        </p:txBody>
      </p:sp>
      <p:sp>
        <p:nvSpPr>
          <p:cNvPr id="11" name="Text 8"/>
          <p:cNvSpPr/>
          <p:nvPr/>
        </p:nvSpPr>
        <p:spPr>
          <a:xfrm>
            <a:off x="4114800" y="3191256"/>
            <a:ext cx="7223760" cy="685800"/>
          </a:xfrm>
          <a:prstGeom prst="rect">
            <a:avLst/>
          </a:prstGeom>
          <a:noFill/>
          <a:ln/>
        </p:spPr>
        <p:txBody>
          <a:bodyPr wrap="square" lIns="0" tIns="0" rIns="0" bIns="0" rtlCol="0" anchor="ctr"/>
          <a:lstStyle/>
          <a:p>
            <a:pPr indent="0" marL="0">
              <a:buNone/>
            </a:pPr>
            <a:r>
              <a:rPr lang="en-US" sz="1250" dirty="0">
                <a:solidFill>
                  <a:srgbClr val="CDE7D8"/>
                </a:solidFill>
                <a:latin typeface="Calibri" pitchFamily="34" charset="0"/>
                <a:ea typeface="Calibri" pitchFamily="34" charset="-122"/>
                <a:cs typeface="Calibri" pitchFamily="34" charset="-120"/>
              </a:rPr>
              <a:t>Services from any phone, in their language — no repeated office visits, full visibility, even offline.</a:t>
            </a:r>
            <a:endParaRPr lang="en-US" sz="1250" dirty="0"/>
          </a:p>
        </p:txBody>
      </p:sp>
      <p:sp>
        <p:nvSpPr>
          <p:cNvPr id="12" name="Shape 9"/>
          <p:cNvSpPr/>
          <p:nvPr/>
        </p:nvSpPr>
        <p:spPr>
          <a:xfrm>
            <a:off x="731520" y="4069080"/>
            <a:ext cx="10744200" cy="914400"/>
          </a:xfrm>
          <a:prstGeom prst="roundRect">
            <a:avLst>
              <a:gd name="adj" fmla="val 9000"/>
            </a:avLst>
          </a:prstGeom>
          <a:solidFill>
            <a:srgbClr val="17492B"/>
          </a:solidFill>
          <a:ln w="12700">
            <a:solidFill>
              <a:srgbClr val="2E9E5B"/>
            </a:solidFill>
            <a:prstDash val="solid"/>
          </a:ln>
        </p:spPr>
      </p:sp>
      <p:sp>
        <p:nvSpPr>
          <p:cNvPr id="13" name="Shape 10"/>
          <p:cNvSpPr/>
          <p:nvPr/>
        </p:nvSpPr>
        <p:spPr>
          <a:xfrm>
            <a:off x="960120" y="4270248"/>
            <a:ext cx="512064" cy="512064"/>
          </a:xfrm>
          <a:prstGeom prst="ellipse">
            <a:avLst/>
          </a:prstGeom>
          <a:solidFill>
            <a:srgbClr val="2E9E5B"/>
          </a:solidFill>
          <a:ln/>
        </p:spPr>
      </p:sp>
      <p:pic>
        <p:nvPicPr>
          <p:cNvPr id="14" name="Image 1" descr="preencoded.png">    </p:cNvPr>
          <p:cNvPicPr>
            <a:picLocks noChangeAspect="1"/>
          </p:cNvPicPr>
          <p:nvPr/>
        </p:nvPicPr>
        <p:blipFill>
          <a:blip r:embed="rId2"/>
          <a:stretch>
            <a:fillRect/>
          </a:stretch>
        </p:blipFill>
        <p:spPr>
          <a:xfrm>
            <a:off x="1097280" y="4407408"/>
            <a:ext cx="237744" cy="237744"/>
          </a:xfrm>
          <a:prstGeom prst="rect">
            <a:avLst/>
          </a:prstGeom>
        </p:spPr>
      </p:pic>
      <p:sp>
        <p:nvSpPr>
          <p:cNvPr id="15" name="Text 11"/>
          <p:cNvSpPr/>
          <p:nvPr/>
        </p:nvSpPr>
        <p:spPr>
          <a:xfrm>
            <a:off x="1645920" y="4197096"/>
            <a:ext cx="2743200" cy="64008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For the Panchayat</a:t>
            </a:r>
            <a:endParaRPr lang="en-US" sz="1550" dirty="0"/>
          </a:p>
        </p:txBody>
      </p:sp>
      <p:sp>
        <p:nvSpPr>
          <p:cNvPr id="16" name="Text 12"/>
          <p:cNvSpPr/>
          <p:nvPr/>
        </p:nvSpPr>
        <p:spPr>
          <a:xfrm>
            <a:off x="4114800" y="4197096"/>
            <a:ext cx="7223760" cy="685800"/>
          </a:xfrm>
          <a:prstGeom prst="rect">
            <a:avLst/>
          </a:prstGeom>
          <a:noFill/>
          <a:ln/>
        </p:spPr>
        <p:txBody>
          <a:bodyPr wrap="square" lIns="0" tIns="0" rIns="0" bIns="0" rtlCol="0" anchor="ctr"/>
          <a:lstStyle/>
          <a:p>
            <a:pPr indent="0" marL="0">
              <a:buNone/>
            </a:pPr>
            <a:r>
              <a:rPr lang="en-US" sz="1250" dirty="0">
                <a:solidFill>
                  <a:srgbClr val="CDE7D8"/>
                </a:solidFill>
                <a:latin typeface="Calibri" pitchFamily="34" charset="0"/>
                <a:ea typeface="Calibri" pitchFamily="34" charset="-122"/>
                <a:cs typeface="Calibri" pitchFamily="34" charset="-120"/>
              </a:rPr>
              <a:t>Digital records, faster processing, and a complete audit trail for accountable governance.</a:t>
            </a:r>
            <a:endParaRPr lang="en-US" sz="1250" dirty="0"/>
          </a:p>
        </p:txBody>
      </p:sp>
      <p:sp>
        <p:nvSpPr>
          <p:cNvPr id="17" name="Shape 13"/>
          <p:cNvSpPr/>
          <p:nvPr/>
        </p:nvSpPr>
        <p:spPr>
          <a:xfrm>
            <a:off x="731520" y="5074920"/>
            <a:ext cx="10744200" cy="914400"/>
          </a:xfrm>
          <a:prstGeom prst="roundRect">
            <a:avLst>
              <a:gd name="adj" fmla="val 9000"/>
            </a:avLst>
          </a:prstGeom>
          <a:solidFill>
            <a:srgbClr val="17492B"/>
          </a:solidFill>
          <a:ln w="12700">
            <a:solidFill>
              <a:srgbClr val="2E9E5B"/>
            </a:solidFill>
            <a:prstDash val="solid"/>
          </a:ln>
        </p:spPr>
      </p:sp>
      <p:sp>
        <p:nvSpPr>
          <p:cNvPr id="18" name="Shape 14"/>
          <p:cNvSpPr/>
          <p:nvPr/>
        </p:nvSpPr>
        <p:spPr>
          <a:xfrm>
            <a:off x="960120" y="5276088"/>
            <a:ext cx="512064" cy="512064"/>
          </a:xfrm>
          <a:prstGeom prst="ellipse">
            <a:avLst/>
          </a:prstGeom>
          <a:solidFill>
            <a:srgbClr val="2E9E5B"/>
          </a:solidFill>
          <a:ln/>
        </p:spPr>
      </p:sp>
      <p:pic>
        <p:nvPicPr>
          <p:cNvPr id="19" name="Image 2" descr="preencoded.png">    </p:cNvPr>
          <p:cNvPicPr>
            <a:picLocks noChangeAspect="1"/>
          </p:cNvPicPr>
          <p:nvPr/>
        </p:nvPicPr>
        <p:blipFill>
          <a:blip r:embed="rId3"/>
          <a:stretch>
            <a:fillRect/>
          </a:stretch>
        </p:blipFill>
        <p:spPr>
          <a:xfrm>
            <a:off x="1097280" y="5413248"/>
            <a:ext cx="237744" cy="237744"/>
          </a:xfrm>
          <a:prstGeom prst="rect">
            <a:avLst/>
          </a:prstGeom>
        </p:spPr>
      </p:pic>
      <p:sp>
        <p:nvSpPr>
          <p:cNvPr id="20" name="Text 15"/>
          <p:cNvSpPr/>
          <p:nvPr/>
        </p:nvSpPr>
        <p:spPr>
          <a:xfrm>
            <a:off x="1645920" y="5202936"/>
            <a:ext cx="2743200" cy="64008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For the future</a:t>
            </a:r>
            <a:endParaRPr lang="en-US" sz="1550" dirty="0"/>
          </a:p>
        </p:txBody>
      </p:sp>
      <p:sp>
        <p:nvSpPr>
          <p:cNvPr id="21" name="Text 16"/>
          <p:cNvSpPr/>
          <p:nvPr/>
        </p:nvSpPr>
        <p:spPr>
          <a:xfrm>
            <a:off x="4114800" y="5202936"/>
            <a:ext cx="7223760" cy="685800"/>
          </a:xfrm>
          <a:prstGeom prst="rect">
            <a:avLst/>
          </a:prstGeom>
          <a:noFill/>
          <a:ln/>
        </p:spPr>
        <p:txBody>
          <a:bodyPr wrap="square" lIns="0" tIns="0" rIns="0" bIns="0" rtlCol="0" anchor="ctr"/>
          <a:lstStyle/>
          <a:p>
            <a:pPr indent="0" marL="0">
              <a:buNone/>
            </a:pPr>
            <a:r>
              <a:rPr lang="en-US" sz="1250" dirty="0">
                <a:solidFill>
                  <a:srgbClr val="CDE7D8"/>
                </a:solidFill>
                <a:latin typeface="Calibri" pitchFamily="34" charset="0"/>
                <a:ea typeface="Calibri" pitchFamily="34" charset="-122"/>
                <a:cs typeface="Calibri" pitchFamily="34" charset="-120"/>
              </a:rPr>
              <a:t>A scalable, well-documented foundation ready for payments, AI assistance and many villages.</a:t>
            </a:r>
            <a:endParaRPr lang="en-US" sz="1250" dirty="0"/>
          </a:p>
        </p:txBody>
      </p:sp>
      <p:sp>
        <p:nvSpPr>
          <p:cNvPr id="22" name="Text 17"/>
          <p:cNvSpPr/>
          <p:nvPr/>
        </p:nvSpPr>
        <p:spPr>
          <a:xfrm>
            <a:off x="548640" y="6510528"/>
            <a:ext cx="5486400" cy="274320"/>
          </a:xfrm>
          <a:prstGeom prst="rect">
            <a:avLst/>
          </a:prstGeom>
          <a:noFill/>
          <a:ln/>
        </p:spPr>
        <p:txBody>
          <a:bodyPr wrap="square" lIns="0" tIns="0" rIns="0" bIns="0" rtlCol="0" anchor="ctr"/>
          <a:lstStyle/>
          <a:p>
            <a:pPr algn="l" indent="0" marL="0">
              <a:buNone/>
            </a:pPr>
            <a:r>
              <a:rPr lang="en-US" sz="900" dirty="0">
                <a:solidFill>
                  <a:srgbClr val="BFD8C8"/>
                </a:solidFill>
                <a:latin typeface="Calibri" pitchFamily="34" charset="0"/>
                <a:ea typeface="Calibri" pitchFamily="34" charset="-122"/>
                <a:cs typeface="Calibri" pitchFamily="34" charset="-120"/>
              </a:rPr>
              <a:t>Digital Gram Panchayat  ·  v1.0.0</a:t>
            </a:r>
            <a:endParaRPr lang="en-US" sz="900" dirty="0"/>
          </a:p>
        </p:txBody>
      </p:sp>
      <p:sp>
        <p:nvSpPr>
          <p:cNvPr id="23" name="Text 18"/>
          <p:cNvSpPr/>
          <p:nvPr/>
        </p:nvSpPr>
        <p:spPr>
          <a:xfrm>
            <a:off x="11338560" y="6510528"/>
            <a:ext cx="365760" cy="274320"/>
          </a:xfrm>
          <a:prstGeom prst="rect">
            <a:avLst/>
          </a:prstGeom>
          <a:noFill/>
          <a:ln/>
        </p:spPr>
        <p:txBody>
          <a:bodyPr wrap="square" lIns="0" tIns="0" rIns="0" bIns="0" rtlCol="0" anchor="ctr"/>
          <a:lstStyle/>
          <a:p>
            <a:pPr algn="r" indent="0" marL="0">
              <a:buNone/>
            </a:pPr>
            <a:r>
              <a:rPr lang="en-US" sz="900" dirty="0">
                <a:solidFill>
                  <a:srgbClr val="BFD8C8"/>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23D22"/>
        </a:solidFill>
      </p:bgPr>
    </p:bg>
    <p:spTree>
      <p:nvGrpSpPr>
        <p:cNvPr id="1" name=""/>
        <p:cNvGrpSpPr/>
        <p:nvPr/>
      </p:nvGrpSpPr>
      <p:grpSpPr>
        <a:xfrm>
          <a:off x="0" y="0"/>
          <a:ext cx="0" cy="0"/>
          <a:chOff x="0" y="0"/>
          <a:chExt cx="0" cy="0"/>
        </a:xfrm>
      </p:grpSpPr>
      <p:sp>
        <p:nvSpPr>
          <p:cNvPr id="2" name="Shape 0"/>
          <p:cNvSpPr/>
          <p:nvPr/>
        </p:nvSpPr>
        <p:spPr>
          <a:xfrm>
            <a:off x="8595360" y="2377440"/>
            <a:ext cx="5943600" cy="5943600"/>
          </a:xfrm>
          <a:prstGeom prst="ellipse">
            <a:avLst/>
          </a:prstGeom>
          <a:solidFill>
            <a:srgbClr val="2E9E5B">
              <a:alpha val="18000"/>
            </a:srgbClr>
          </a:solidFill>
          <a:ln/>
        </p:spPr>
      </p:sp>
      <p:sp>
        <p:nvSpPr>
          <p:cNvPr id="3" name="Shape 1"/>
          <p:cNvSpPr/>
          <p:nvPr/>
        </p:nvSpPr>
        <p:spPr>
          <a:xfrm>
            <a:off x="-2011680" y="-2194560"/>
            <a:ext cx="5486400" cy="5486400"/>
          </a:xfrm>
          <a:prstGeom prst="ellipse">
            <a:avLst/>
          </a:prstGeom>
          <a:solidFill>
            <a:srgbClr val="1F7A3D">
              <a:alpha val="16000"/>
            </a:srgbClr>
          </a:solidFill>
          <a:ln/>
        </p:spPr>
      </p:sp>
      <p:sp>
        <p:nvSpPr>
          <p:cNvPr id="4" name="Shape 2"/>
          <p:cNvSpPr/>
          <p:nvPr/>
        </p:nvSpPr>
        <p:spPr>
          <a:xfrm>
            <a:off x="777240" y="2148840"/>
            <a:ext cx="960120" cy="960120"/>
          </a:xfrm>
          <a:prstGeom prst="ellipse">
            <a:avLst/>
          </a:prstGeom>
          <a:solidFill>
            <a:srgbClr val="2E9E5B"/>
          </a:solidFill>
          <a:ln/>
        </p:spPr>
      </p:sp>
      <p:pic>
        <p:nvPicPr>
          <p:cNvPr id="5" name="Image 0" descr="preencoded.png">    </p:cNvPr>
          <p:cNvPicPr>
            <a:picLocks noChangeAspect="1"/>
          </p:cNvPicPr>
          <p:nvPr/>
        </p:nvPicPr>
        <p:blipFill>
          <a:blip r:embed="rId1"/>
          <a:stretch>
            <a:fillRect/>
          </a:stretch>
        </p:blipFill>
        <p:spPr>
          <a:xfrm>
            <a:off x="1033272" y="2404872"/>
            <a:ext cx="448056" cy="448056"/>
          </a:xfrm>
          <a:prstGeom prst="rect">
            <a:avLst/>
          </a:prstGeom>
        </p:spPr>
      </p:pic>
      <p:sp>
        <p:nvSpPr>
          <p:cNvPr id="6" name="Text 3"/>
          <p:cNvSpPr/>
          <p:nvPr/>
        </p:nvSpPr>
        <p:spPr>
          <a:xfrm>
            <a:off x="777240" y="3383280"/>
            <a:ext cx="10058400" cy="914400"/>
          </a:xfrm>
          <a:prstGeom prst="rect">
            <a:avLst/>
          </a:prstGeom>
          <a:noFill/>
          <a:ln/>
        </p:spPr>
        <p:txBody>
          <a:bodyPr wrap="square" lIns="0" tIns="0" rIns="0" bIns="0"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Thank You</a:t>
            </a:r>
            <a:endParaRPr lang="en-US" sz="5200" dirty="0"/>
          </a:p>
        </p:txBody>
      </p:sp>
      <p:sp>
        <p:nvSpPr>
          <p:cNvPr id="7" name="Text 4"/>
          <p:cNvSpPr/>
          <p:nvPr/>
        </p:nvSpPr>
        <p:spPr>
          <a:xfrm>
            <a:off x="804672" y="4434840"/>
            <a:ext cx="9144000" cy="457200"/>
          </a:xfrm>
          <a:prstGeom prst="rect">
            <a:avLst/>
          </a:prstGeom>
          <a:noFill/>
          <a:ln/>
        </p:spPr>
        <p:txBody>
          <a:bodyPr wrap="square" lIns="0" tIns="0" rIns="0" bIns="0" rtlCol="0" anchor="ctr"/>
          <a:lstStyle/>
          <a:p>
            <a:pPr indent="0" marL="0">
              <a:buNone/>
            </a:pPr>
            <a:r>
              <a:rPr lang="en-US" sz="2000" i="1" dirty="0">
                <a:solidFill>
                  <a:srgbClr val="D9EEE1"/>
                </a:solidFill>
                <a:latin typeface="Calibri" pitchFamily="34" charset="0"/>
                <a:ea typeface="Calibri" pitchFamily="34" charset="-122"/>
                <a:cs typeface="Calibri" pitchFamily="34" charset="-120"/>
              </a:rPr>
              <a:t>Questions &amp; Discussion</a:t>
            </a:r>
            <a:endParaRPr lang="en-US" sz="2000" dirty="0"/>
          </a:p>
        </p:txBody>
      </p:sp>
      <p:sp>
        <p:nvSpPr>
          <p:cNvPr id="8" name="Text 5"/>
          <p:cNvSpPr/>
          <p:nvPr/>
        </p:nvSpPr>
        <p:spPr>
          <a:xfrm>
            <a:off x="804672" y="5212080"/>
            <a:ext cx="10515600" cy="365760"/>
          </a:xfrm>
          <a:prstGeom prst="rect">
            <a:avLst/>
          </a:prstGeom>
          <a:noFill/>
          <a:ln/>
        </p:spPr>
        <p:txBody>
          <a:bodyPr wrap="square" lIns="0" tIns="0" rIns="0" bIns="0" rtlCol="0" anchor="ctr"/>
          <a:lstStyle/>
          <a:p>
            <a:pPr indent="0" marL="0">
              <a:buNone/>
            </a:pPr>
            <a:r>
              <a:rPr lang="en-US" sz="1300" b="1" dirty="0">
                <a:solidFill>
                  <a:srgbClr val="CFE9DA"/>
                </a:solidFill>
                <a:latin typeface="Calibri" pitchFamily="34" charset="0"/>
                <a:ea typeface="Calibri" pitchFamily="34" charset="-122"/>
                <a:cs typeface="Calibri" pitchFamily="34" charset="-120"/>
              </a:rPr>
              <a:t>Digital Gram Panchayat  ·  v1.0.0  ·  A Smart Digital Platform for Village Administration</a:t>
            </a:r>
            <a:endParaRPr lang="en-US" sz="1300" dirty="0"/>
          </a:p>
        </p:txBody>
      </p:sp>
      <p:sp>
        <p:nvSpPr>
          <p:cNvPr id="9" name="Text 6"/>
          <p:cNvSpPr/>
          <p:nvPr/>
        </p:nvSpPr>
        <p:spPr>
          <a:xfrm>
            <a:off x="804672" y="5623560"/>
            <a:ext cx="10515600" cy="365760"/>
          </a:xfrm>
          <a:prstGeom prst="rect">
            <a:avLst/>
          </a:prstGeom>
          <a:noFill/>
          <a:ln/>
        </p:spPr>
        <p:txBody>
          <a:bodyPr wrap="square" lIns="0" tIns="0" rIns="0" bIns="0" rtlCol="0" anchor="ctr"/>
          <a:lstStyle/>
          <a:p>
            <a:pPr indent="0" marL="0">
              <a:buNone/>
            </a:pPr>
            <a:r>
              <a:rPr lang="en-US" sz="1200" dirty="0">
                <a:solidFill>
                  <a:srgbClr val="A9CFB9"/>
                </a:solidFill>
                <a:latin typeface="Calibri" pitchFamily="34" charset="0"/>
                <a:ea typeface="Calibri" pitchFamily="34" charset="-122"/>
                <a:cs typeface="Calibri" pitchFamily="34" charset="-120"/>
              </a:rPr>
              <a:t>Rajarambapu Institute of Technology, Rajaramnagar (Sakharale)  ·  Academic Year 2025–2026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Rajarambapu Institute of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Gram Panchayat — Capstone Presentation</dc:title>
  <dc:subject>PptxGenJS Presentation</dc:subject>
  <dc:creator>Digital Gram Panchayat Team</dc:creator>
  <cp:lastModifiedBy>Digital Gram Panchayat Team</cp:lastModifiedBy>
  <cp:revision>1</cp:revision>
  <dcterms:created xsi:type="dcterms:W3CDTF">2026-07-11T07:58:20Z</dcterms:created>
  <dcterms:modified xsi:type="dcterms:W3CDTF">2026-07-11T07:58:20Z</dcterms:modified>
</cp:coreProperties>
</file>